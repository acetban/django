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5" r:id="rId2"/>
    <p:sldId id="315" r:id="rId3"/>
    <p:sldId id="317" r:id="rId4"/>
    <p:sldId id="318" r:id="rId5"/>
    <p:sldId id="321" r:id="rId6"/>
    <p:sldId id="322" r:id="rId7"/>
    <p:sldId id="320" r:id="rId8"/>
    <p:sldId id="328" r:id="rId9"/>
    <p:sldId id="323" r:id="rId10"/>
    <p:sldId id="324" r:id="rId11"/>
    <p:sldId id="325" r:id="rId12"/>
    <p:sldId id="326" r:id="rId13"/>
    <p:sldId id="327" r:id="rId14"/>
    <p:sldId id="329" r:id="rId15"/>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xime PRZYBYLO" initials="MP" lastIdx="2" clrIdx="0">
    <p:extLst>
      <p:ext uri="{19B8F6BF-5375-455C-9EA6-DF929625EA0E}">
        <p15:presenceInfo xmlns:p15="http://schemas.microsoft.com/office/powerpoint/2012/main" userId="Maxime PRZYBYL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0909" autoAdjust="0"/>
  </p:normalViewPr>
  <p:slideViewPr>
    <p:cSldViewPr snapToGrid="0">
      <p:cViewPr varScale="1">
        <p:scale>
          <a:sx n="80" d="100"/>
          <a:sy n="80" d="100"/>
        </p:scale>
        <p:origin x="739"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13/03/2022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588287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3793040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76442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3780127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976906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2514214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3685113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401277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4065573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2658259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2150665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13/03/2022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13/03/2022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13/03/2022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13/03/2022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13/03/2022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13/03/2022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13/03/2022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18.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5.png"/><Relationship Id="rId10" Type="http://schemas.openxmlformats.org/officeDocument/2006/relationships/image" Target="../media/image8.png"/><Relationship Id="rId19" Type="http://schemas.openxmlformats.org/officeDocument/2006/relationships/image" Target="../media/image19.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2.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6"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1657669" y="3177436"/>
            <a:ext cx="8512348" cy="1323439"/>
          </a:xfrm>
          <a:prstGeom prst="rect">
            <a:avLst/>
          </a:prstGeom>
          <a:noFill/>
        </p:spPr>
        <p:txBody>
          <a:bodyPr wrap="square" rtlCol="0">
            <a:spAutoFit/>
          </a:bodyPr>
          <a:lstStyle/>
          <a:p>
            <a:pPr algn="ctr"/>
            <a:r>
              <a:rPr lang="fr-FR" sz="8000" b="1" u="sng" dirty="0" smtClean="0"/>
              <a:t>VUES GENERIQUES</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4" name="ZoneTexte 3"/>
          <p:cNvSpPr txBox="1"/>
          <p:nvPr/>
        </p:nvSpPr>
        <p:spPr>
          <a:xfrm>
            <a:off x="169660" y="1219613"/>
            <a:ext cx="11488366" cy="1200329"/>
          </a:xfrm>
          <a:prstGeom prst="rect">
            <a:avLst/>
          </a:prstGeom>
          <a:noFill/>
        </p:spPr>
        <p:txBody>
          <a:bodyPr wrap="square" rtlCol="0">
            <a:spAutoFit/>
          </a:bodyPr>
          <a:lstStyle/>
          <a:p>
            <a:r>
              <a:rPr lang="fr-FR" dirty="0" smtClean="0"/>
              <a:t>Nous avons mis en places différentes vues que nous avons configurés nous même, une vue d’index permettant d’afficher nos sondages, une vue de détails de nos question et une vue de formulaire pour voter à nos sondages.</a:t>
            </a:r>
          </a:p>
          <a:p>
            <a:r>
              <a:rPr lang="fr-FR" dirty="0" smtClean="0"/>
              <a:t>Django fournit une série de modèles de vues pour ces pages génériques. </a:t>
            </a:r>
            <a:r>
              <a:rPr lang="fr-FR" dirty="0"/>
              <a:t>Nous avons besoin d’importer </a:t>
            </a:r>
            <a:r>
              <a:rPr lang="fr-FR" i="1" dirty="0" err="1"/>
              <a:t>generic</a:t>
            </a:r>
            <a:r>
              <a:rPr lang="fr-FR" dirty="0"/>
              <a:t> de </a:t>
            </a:r>
            <a:r>
              <a:rPr lang="fr-FR" i="1" dirty="0" err="1"/>
              <a:t>django.views</a:t>
            </a:r>
            <a:r>
              <a:rPr lang="fr-FR" dirty="0"/>
              <a:t> pour pouvoir utiliser nos modèles de vues.</a:t>
            </a:r>
          </a:p>
        </p:txBody>
      </p:sp>
      <p:pic>
        <p:nvPicPr>
          <p:cNvPr id="3" name="Image 2"/>
          <p:cNvPicPr>
            <a:picLocks noChangeAspect="1"/>
          </p:cNvPicPr>
          <p:nvPr/>
        </p:nvPicPr>
        <p:blipFill>
          <a:blip r:embed="rId14"/>
          <a:stretch>
            <a:fillRect/>
          </a:stretch>
        </p:blipFill>
        <p:spPr>
          <a:xfrm>
            <a:off x="6794505" y="2714849"/>
            <a:ext cx="4972050" cy="1600200"/>
          </a:xfrm>
          <a:prstGeom prst="rect">
            <a:avLst/>
          </a:prstGeom>
        </p:spPr>
      </p:pic>
      <p:pic>
        <p:nvPicPr>
          <p:cNvPr id="5" name="Image 4"/>
          <p:cNvPicPr>
            <a:picLocks noChangeAspect="1"/>
          </p:cNvPicPr>
          <p:nvPr/>
        </p:nvPicPr>
        <p:blipFill>
          <a:blip r:embed="rId15"/>
          <a:stretch>
            <a:fillRect/>
          </a:stretch>
        </p:blipFill>
        <p:spPr>
          <a:xfrm>
            <a:off x="6794505" y="4556819"/>
            <a:ext cx="3562350" cy="809625"/>
          </a:xfrm>
          <a:prstGeom prst="rect">
            <a:avLst/>
          </a:prstGeom>
        </p:spPr>
      </p:pic>
      <p:pic>
        <p:nvPicPr>
          <p:cNvPr id="6" name="Image 5"/>
          <p:cNvPicPr>
            <a:picLocks noChangeAspect="1"/>
          </p:cNvPicPr>
          <p:nvPr/>
        </p:nvPicPr>
        <p:blipFill>
          <a:blip r:embed="rId16"/>
          <a:stretch>
            <a:fillRect/>
          </a:stretch>
        </p:blipFill>
        <p:spPr>
          <a:xfrm>
            <a:off x="6794505" y="5558835"/>
            <a:ext cx="3676650" cy="781050"/>
          </a:xfrm>
          <a:prstGeom prst="rect">
            <a:avLst/>
          </a:prstGeom>
        </p:spPr>
      </p:pic>
      <p:pic>
        <p:nvPicPr>
          <p:cNvPr id="7" name="Image 6"/>
          <p:cNvPicPr>
            <a:picLocks noChangeAspect="1"/>
          </p:cNvPicPr>
          <p:nvPr/>
        </p:nvPicPr>
        <p:blipFill>
          <a:blip r:embed="rId17"/>
          <a:stretch>
            <a:fillRect/>
          </a:stretch>
        </p:blipFill>
        <p:spPr>
          <a:xfrm>
            <a:off x="6794505" y="2272120"/>
            <a:ext cx="2828925" cy="295275"/>
          </a:xfrm>
          <a:prstGeom prst="rect">
            <a:avLst/>
          </a:prstGeom>
        </p:spPr>
      </p:pic>
      <p:pic>
        <p:nvPicPr>
          <p:cNvPr id="8" name="Image 7"/>
          <p:cNvPicPr>
            <a:picLocks noChangeAspect="1"/>
          </p:cNvPicPr>
          <p:nvPr/>
        </p:nvPicPr>
        <p:blipFill>
          <a:blip r:embed="rId18"/>
          <a:stretch>
            <a:fillRect/>
          </a:stretch>
        </p:blipFill>
        <p:spPr>
          <a:xfrm>
            <a:off x="169660" y="2728947"/>
            <a:ext cx="6019800" cy="1076325"/>
          </a:xfrm>
          <a:prstGeom prst="rect">
            <a:avLst/>
          </a:prstGeom>
        </p:spPr>
      </p:pic>
      <p:pic>
        <p:nvPicPr>
          <p:cNvPr id="9" name="Image 8"/>
          <p:cNvPicPr>
            <a:picLocks noChangeAspect="1"/>
          </p:cNvPicPr>
          <p:nvPr/>
        </p:nvPicPr>
        <p:blipFill>
          <a:blip r:embed="rId19"/>
          <a:stretch>
            <a:fillRect/>
          </a:stretch>
        </p:blipFill>
        <p:spPr>
          <a:xfrm>
            <a:off x="200365" y="4556201"/>
            <a:ext cx="6296025" cy="847725"/>
          </a:xfrm>
          <a:prstGeom prst="rect">
            <a:avLst/>
          </a:prstGeom>
        </p:spPr>
      </p:pic>
      <p:pic>
        <p:nvPicPr>
          <p:cNvPr id="10" name="Image 9"/>
          <p:cNvPicPr>
            <a:picLocks noChangeAspect="1"/>
          </p:cNvPicPr>
          <p:nvPr/>
        </p:nvPicPr>
        <p:blipFill>
          <a:blip r:embed="rId20"/>
          <a:stretch>
            <a:fillRect/>
          </a:stretch>
        </p:blipFill>
        <p:spPr>
          <a:xfrm>
            <a:off x="169660" y="5562979"/>
            <a:ext cx="6324600" cy="876300"/>
          </a:xfrm>
          <a:prstGeom prst="rect">
            <a:avLst/>
          </a:prstGeom>
        </p:spPr>
      </p:pic>
    </p:spTree>
    <p:extLst>
      <p:ext uri="{BB962C8B-B14F-4D97-AF65-F5344CB8AC3E}">
        <p14:creationId xmlns:p14="http://schemas.microsoft.com/office/powerpoint/2010/main" val="19815007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848601" y="3940730"/>
            <a:ext cx="10501583" cy="1477328"/>
          </a:xfrm>
          <a:prstGeom prst="rect">
            <a:avLst/>
          </a:prstGeom>
          <a:noFill/>
        </p:spPr>
        <p:txBody>
          <a:bodyPr wrap="square" rtlCol="0">
            <a:spAutoFit/>
          </a:bodyPr>
          <a:lstStyle/>
          <a:p>
            <a:r>
              <a:rPr lang="fr-FR" dirty="0" smtClean="0"/>
              <a:t>Nous utilisons ici la classe </a:t>
            </a:r>
            <a:r>
              <a:rPr lang="fr-FR" i="1" dirty="0" err="1" smtClean="0"/>
              <a:t>generic.ListView</a:t>
            </a:r>
            <a:r>
              <a:rPr lang="fr-FR" dirty="0" smtClean="0"/>
              <a:t> pour notre index afin de générer une vue affichant une liste d’objets. </a:t>
            </a:r>
          </a:p>
          <a:p>
            <a:r>
              <a:rPr lang="fr-FR" dirty="0" smtClean="0"/>
              <a:t>Nous redéfinissons pour celle-ci deux variables : </a:t>
            </a:r>
            <a:r>
              <a:rPr lang="fr-FR" i="1" dirty="0" err="1" smtClean="0"/>
              <a:t>template_name</a:t>
            </a:r>
            <a:r>
              <a:rPr lang="fr-FR" dirty="0" smtClean="0"/>
              <a:t> et </a:t>
            </a:r>
            <a:r>
              <a:rPr lang="fr-FR" i="1" dirty="0" err="1" smtClean="0"/>
              <a:t>context_object_name</a:t>
            </a:r>
            <a:r>
              <a:rPr lang="fr-FR" dirty="0" smtClean="0"/>
              <a:t> pour indiquer le nom du </a:t>
            </a:r>
            <a:r>
              <a:rPr lang="fr-FR" dirty="0" err="1" smtClean="0"/>
              <a:t>template</a:t>
            </a:r>
            <a:r>
              <a:rPr lang="fr-FR" dirty="0" smtClean="0"/>
              <a:t> de la page ainsi que le nom de variable utilisé dans notre page pour récupérer les objets. </a:t>
            </a:r>
          </a:p>
          <a:p>
            <a:r>
              <a:rPr lang="fr-FR" dirty="0" smtClean="0"/>
              <a:t>Nous redéfinissons également une méthode </a:t>
            </a:r>
            <a:r>
              <a:rPr lang="fr-FR" i="1" dirty="0" err="1" smtClean="0"/>
              <a:t>get_queryset</a:t>
            </a:r>
            <a:r>
              <a:rPr lang="fr-FR" i="1" dirty="0" smtClean="0"/>
              <a:t>() </a:t>
            </a:r>
            <a:r>
              <a:rPr lang="fr-FR" dirty="0" smtClean="0"/>
              <a:t>afin de récupérer nos éléments à afficher.</a:t>
            </a:r>
          </a:p>
        </p:txBody>
      </p:sp>
      <p:pic>
        <p:nvPicPr>
          <p:cNvPr id="19" name="Image 18"/>
          <p:cNvPicPr>
            <a:picLocks noChangeAspect="1"/>
          </p:cNvPicPr>
          <p:nvPr/>
        </p:nvPicPr>
        <p:blipFill>
          <a:blip r:embed="rId14"/>
          <a:stretch>
            <a:fillRect/>
          </a:stretch>
        </p:blipFill>
        <p:spPr>
          <a:xfrm>
            <a:off x="3613368" y="1956667"/>
            <a:ext cx="4972050" cy="1600200"/>
          </a:xfrm>
          <a:prstGeom prst="rect">
            <a:avLst/>
          </a:prstGeom>
        </p:spPr>
      </p:pic>
    </p:spTree>
    <p:extLst>
      <p:ext uri="{BB962C8B-B14F-4D97-AF65-F5344CB8AC3E}">
        <p14:creationId xmlns:p14="http://schemas.microsoft.com/office/powerpoint/2010/main" val="22915868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Rectangle 1"/>
          <p:cNvSpPr/>
          <p:nvPr/>
        </p:nvSpPr>
        <p:spPr>
          <a:xfrm>
            <a:off x="1322605" y="3493939"/>
            <a:ext cx="9553575" cy="1200329"/>
          </a:xfrm>
          <a:prstGeom prst="rect">
            <a:avLst/>
          </a:prstGeom>
        </p:spPr>
        <p:txBody>
          <a:bodyPr wrap="square">
            <a:spAutoFit/>
          </a:bodyPr>
          <a:lstStyle/>
          <a:p>
            <a:r>
              <a:rPr lang="fr-FR" dirty="0"/>
              <a:t>La classe </a:t>
            </a:r>
            <a:r>
              <a:rPr lang="fr-FR" i="1" dirty="0" err="1"/>
              <a:t>generic.DetailView</a:t>
            </a:r>
            <a:r>
              <a:rPr lang="fr-FR" dirty="0"/>
              <a:t> est une classe affichant une page détaillé d’un objet. </a:t>
            </a:r>
            <a:endParaRPr lang="fr-FR" dirty="0" smtClean="0"/>
          </a:p>
          <a:p>
            <a:r>
              <a:rPr lang="fr-FR" dirty="0" smtClean="0"/>
              <a:t>Elle </a:t>
            </a:r>
            <a:r>
              <a:rPr lang="fr-FR" dirty="0"/>
              <a:t>a besoin pour ca du nom de la classe de modèle, du nom du </a:t>
            </a:r>
            <a:r>
              <a:rPr lang="fr-FR" dirty="0" err="1"/>
              <a:t>template</a:t>
            </a:r>
            <a:r>
              <a:rPr lang="fr-FR" dirty="0"/>
              <a:t> ainsi que du contexte. </a:t>
            </a:r>
            <a:endParaRPr lang="fr-FR" dirty="0" smtClean="0"/>
          </a:p>
          <a:p>
            <a:r>
              <a:rPr lang="fr-FR" dirty="0" smtClean="0"/>
              <a:t>Par </a:t>
            </a:r>
            <a:r>
              <a:rPr lang="fr-FR" dirty="0"/>
              <a:t>défaut pour un modèle nommé </a:t>
            </a:r>
            <a:r>
              <a:rPr lang="fr-FR" i="1" dirty="0"/>
              <a:t>Question</a:t>
            </a:r>
            <a:r>
              <a:rPr lang="fr-FR" dirty="0"/>
              <a:t> </a:t>
            </a:r>
            <a:r>
              <a:rPr lang="fr-FR" dirty="0" err="1"/>
              <a:t>django</a:t>
            </a:r>
            <a:r>
              <a:rPr lang="fr-FR" dirty="0"/>
              <a:t> stock les données dans une variable nommé </a:t>
            </a:r>
            <a:r>
              <a:rPr lang="fr-FR" i="1" dirty="0"/>
              <a:t>question</a:t>
            </a:r>
            <a:r>
              <a:rPr lang="fr-FR" dirty="0"/>
              <a:t>, nous n’avons pas besoin de le modifier.</a:t>
            </a:r>
          </a:p>
        </p:txBody>
      </p:sp>
      <p:pic>
        <p:nvPicPr>
          <p:cNvPr id="19" name="Image 18"/>
          <p:cNvPicPr>
            <a:picLocks noChangeAspect="1"/>
          </p:cNvPicPr>
          <p:nvPr/>
        </p:nvPicPr>
        <p:blipFill>
          <a:blip r:embed="rId14"/>
          <a:stretch>
            <a:fillRect/>
          </a:stretch>
        </p:blipFill>
        <p:spPr>
          <a:xfrm>
            <a:off x="2026128" y="2315916"/>
            <a:ext cx="3562350" cy="809625"/>
          </a:xfrm>
          <a:prstGeom prst="rect">
            <a:avLst/>
          </a:prstGeom>
        </p:spPr>
      </p:pic>
      <p:pic>
        <p:nvPicPr>
          <p:cNvPr id="20" name="Image 19"/>
          <p:cNvPicPr>
            <a:picLocks noChangeAspect="1"/>
          </p:cNvPicPr>
          <p:nvPr/>
        </p:nvPicPr>
        <p:blipFill>
          <a:blip r:embed="rId15"/>
          <a:stretch>
            <a:fillRect/>
          </a:stretch>
        </p:blipFill>
        <p:spPr>
          <a:xfrm>
            <a:off x="6015052" y="2315916"/>
            <a:ext cx="3676650" cy="781050"/>
          </a:xfrm>
          <a:prstGeom prst="rect">
            <a:avLst/>
          </a:prstGeom>
        </p:spPr>
      </p:pic>
    </p:spTree>
    <p:extLst>
      <p:ext uri="{BB962C8B-B14F-4D97-AF65-F5344CB8AC3E}">
        <p14:creationId xmlns:p14="http://schemas.microsoft.com/office/powerpoint/2010/main" val="42087868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5" name="ZoneTexte 24"/>
          <p:cNvSpPr txBox="1"/>
          <p:nvPr/>
        </p:nvSpPr>
        <p:spPr>
          <a:xfrm>
            <a:off x="169660" y="1648238"/>
            <a:ext cx="11603240" cy="369332"/>
          </a:xfrm>
          <a:prstGeom prst="rect">
            <a:avLst/>
          </a:prstGeom>
          <a:noFill/>
        </p:spPr>
        <p:txBody>
          <a:bodyPr wrap="square" rtlCol="0">
            <a:spAutoFit/>
          </a:bodyPr>
          <a:lstStyle/>
          <a:p>
            <a:r>
              <a:rPr lang="fr-FR" dirty="0" smtClean="0"/>
              <a:t>Pour pouvoir utiliser nos classes modèles nous avons besoin de faire correspondre les informations dans notre fichier d’url.</a:t>
            </a:r>
            <a:endParaRPr lang="fr-FR" dirty="0"/>
          </a:p>
        </p:txBody>
      </p:sp>
      <p:pic>
        <p:nvPicPr>
          <p:cNvPr id="2" name="Image 1"/>
          <p:cNvPicPr>
            <a:picLocks noChangeAspect="1"/>
          </p:cNvPicPr>
          <p:nvPr/>
        </p:nvPicPr>
        <p:blipFill>
          <a:blip r:embed="rId14"/>
          <a:stretch>
            <a:fillRect/>
          </a:stretch>
        </p:blipFill>
        <p:spPr>
          <a:xfrm>
            <a:off x="5900967" y="2413711"/>
            <a:ext cx="6210300" cy="1057275"/>
          </a:xfrm>
          <a:prstGeom prst="rect">
            <a:avLst/>
          </a:prstGeom>
        </p:spPr>
      </p:pic>
      <p:sp>
        <p:nvSpPr>
          <p:cNvPr id="26" name="ZoneTexte 25"/>
          <p:cNvSpPr txBox="1"/>
          <p:nvPr/>
        </p:nvSpPr>
        <p:spPr>
          <a:xfrm>
            <a:off x="112223" y="4199350"/>
            <a:ext cx="11603240" cy="923330"/>
          </a:xfrm>
          <a:prstGeom prst="rect">
            <a:avLst/>
          </a:prstGeom>
          <a:noFill/>
        </p:spPr>
        <p:txBody>
          <a:bodyPr wrap="square" rtlCol="0">
            <a:spAutoFit/>
          </a:bodyPr>
          <a:lstStyle/>
          <a:p>
            <a:r>
              <a:rPr lang="fr-FR" dirty="0" smtClean="0"/>
              <a:t>Nous avons besoin de spécifier pour nos différentes vues basées sur des classes le nom de la vue en spécifiant la méthode </a:t>
            </a:r>
            <a:r>
              <a:rPr lang="fr-FR" i="1" dirty="0" err="1" smtClean="0"/>
              <a:t>as_view</a:t>
            </a:r>
            <a:r>
              <a:rPr lang="fr-FR" i="1" dirty="0" smtClean="0"/>
              <a:t>()</a:t>
            </a:r>
            <a:r>
              <a:rPr lang="fr-FR" dirty="0"/>
              <a:t> </a:t>
            </a:r>
            <a:r>
              <a:rPr lang="fr-FR" dirty="0" smtClean="0"/>
              <a:t>pour transformer la classe en fonction de vue. Également nos vues modèles attendent la variable nommé </a:t>
            </a:r>
            <a:r>
              <a:rPr lang="fr-FR" i="1" dirty="0" smtClean="0"/>
              <a:t>pk</a:t>
            </a:r>
            <a:r>
              <a:rPr lang="fr-FR" dirty="0" smtClean="0"/>
              <a:t> pour indiquer l’id de la question souhaité</a:t>
            </a:r>
            <a:endParaRPr lang="fr-FR" dirty="0"/>
          </a:p>
        </p:txBody>
      </p:sp>
      <p:pic>
        <p:nvPicPr>
          <p:cNvPr id="5" name="Image 4"/>
          <p:cNvPicPr>
            <a:picLocks noChangeAspect="1"/>
          </p:cNvPicPr>
          <p:nvPr/>
        </p:nvPicPr>
        <p:blipFill>
          <a:blip r:embed="rId15"/>
          <a:stretch>
            <a:fillRect/>
          </a:stretch>
        </p:blipFill>
        <p:spPr>
          <a:xfrm>
            <a:off x="70311" y="2416130"/>
            <a:ext cx="5753100" cy="1009650"/>
          </a:xfrm>
          <a:prstGeom prst="rect">
            <a:avLst/>
          </a:prstGeom>
        </p:spPr>
      </p:pic>
    </p:spTree>
    <p:extLst>
      <p:ext uri="{BB962C8B-B14F-4D97-AF65-F5344CB8AC3E}">
        <p14:creationId xmlns:p14="http://schemas.microsoft.com/office/powerpoint/2010/main" val="2627778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1424147" y="2420209"/>
            <a:ext cx="8979392" cy="2554545"/>
          </a:xfrm>
          <a:prstGeom prst="rect">
            <a:avLst/>
          </a:prstGeom>
          <a:noFill/>
        </p:spPr>
        <p:txBody>
          <a:bodyPr wrap="square" rtlCol="0">
            <a:spAutoFit/>
          </a:bodyPr>
          <a:lstStyle/>
          <a:p>
            <a:pPr algn="ctr"/>
            <a:r>
              <a:rPr lang="fr-FR" sz="8000" b="1" u="sng" dirty="0" smtClean="0"/>
              <a:t>FICHIERS </a:t>
            </a:r>
            <a:r>
              <a:rPr lang="fr-FR" sz="8000" b="1" u="sng" dirty="0" smtClean="0"/>
              <a:t>STATIQUES ET GABARITS</a:t>
            </a:r>
            <a:endParaRPr lang="fr-FR" sz="8000" b="1" u="sng" dirty="0"/>
          </a:p>
        </p:txBody>
      </p:sp>
    </p:spTree>
    <p:extLst>
      <p:ext uri="{BB962C8B-B14F-4D97-AF65-F5344CB8AC3E}">
        <p14:creationId xmlns:p14="http://schemas.microsoft.com/office/powerpoint/2010/main" val="947166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76188"/>
            <a:ext cx="11488366" cy="923330"/>
          </a:xfrm>
          <a:prstGeom prst="rect">
            <a:avLst/>
          </a:prstGeom>
          <a:noFill/>
        </p:spPr>
        <p:txBody>
          <a:bodyPr wrap="square" rtlCol="0">
            <a:spAutoFit/>
          </a:bodyPr>
          <a:lstStyle/>
          <a:p>
            <a:r>
              <a:rPr lang="fr-FR" dirty="0" smtClean="0"/>
              <a:t>Comme pour les </a:t>
            </a:r>
            <a:r>
              <a:rPr lang="fr-FR" dirty="0" err="1" smtClean="0"/>
              <a:t>templates</a:t>
            </a:r>
            <a:r>
              <a:rPr lang="fr-FR" dirty="0" smtClean="0"/>
              <a:t>, les fichiers statiques (feuilles de style, scripts et images) doivent être stockés à un endroit précis pour que </a:t>
            </a:r>
            <a:r>
              <a:rPr lang="fr-FR" dirty="0" err="1" smtClean="0"/>
              <a:t>django</a:t>
            </a:r>
            <a:r>
              <a:rPr lang="fr-FR" dirty="0" smtClean="0"/>
              <a:t> les retrouvent. Ils doivent se trouver dans </a:t>
            </a:r>
            <a:r>
              <a:rPr lang="fr-FR" i="1" dirty="0" smtClean="0"/>
              <a:t>sondage/</a:t>
            </a:r>
            <a:r>
              <a:rPr lang="fr-FR" i="1" dirty="0" err="1" smtClean="0"/>
              <a:t>static</a:t>
            </a:r>
            <a:r>
              <a:rPr lang="fr-FR" i="1" dirty="0" smtClean="0"/>
              <a:t>/sondage.</a:t>
            </a:r>
            <a:r>
              <a:rPr lang="fr-FR" dirty="0" smtClean="0"/>
              <a:t> Créez cette arborescence et placez y un fichier </a:t>
            </a:r>
            <a:r>
              <a:rPr lang="fr-FR" i="1" dirty="0" smtClean="0"/>
              <a:t>style.css</a:t>
            </a:r>
            <a:r>
              <a:rPr lang="fr-FR" dirty="0" smtClean="0"/>
              <a:t> dans </a:t>
            </a:r>
            <a:r>
              <a:rPr lang="fr-FR" dirty="0" err="1" smtClean="0"/>
              <a:t>lequels</a:t>
            </a:r>
            <a:r>
              <a:rPr lang="fr-FR" dirty="0" smtClean="0"/>
              <a:t> vous mettez un </a:t>
            </a:r>
            <a:r>
              <a:rPr lang="fr-FR" dirty="0" err="1" smtClean="0"/>
              <a:t>css</a:t>
            </a:r>
            <a:r>
              <a:rPr lang="fr-FR" dirty="0" smtClean="0"/>
              <a:t> de base.</a:t>
            </a:r>
            <a:endParaRPr lang="fr-FR" dirty="0"/>
          </a:p>
        </p:txBody>
      </p:sp>
      <p:pic>
        <p:nvPicPr>
          <p:cNvPr id="4" name="Image 3"/>
          <p:cNvPicPr>
            <a:picLocks noChangeAspect="1"/>
          </p:cNvPicPr>
          <p:nvPr/>
        </p:nvPicPr>
        <p:blipFill>
          <a:blip r:embed="rId14"/>
          <a:stretch>
            <a:fillRect/>
          </a:stretch>
        </p:blipFill>
        <p:spPr>
          <a:xfrm>
            <a:off x="3885018" y="2588296"/>
            <a:ext cx="4057650" cy="3276600"/>
          </a:xfrm>
          <a:prstGeom prst="rect">
            <a:avLst/>
          </a:prstGeom>
        </p:spPr>
      </p:pic>
    </p:spTree>
    <p:extLst>
      <p:ext uri="{BB962C8B-B14F-4D97-AF65-F5344CB8AC3E}">
        <p14:creationId xmlns:p14="http://schemas.microsoft.com/office/powerpoint/2010/main" val="5480295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76188"/>
            <a:ext cx="11488366" cy="646331"/>
          </a:xfrm>
          <a:prstGeom prst="rect">
            <a:avLst/>
          </a:prstGeom>
          <a:noFill/>
        </p:spPr>
        <p:txBody>
          <a:bodyPr wrap="square" rtlCol="0">
            <a:spAutoFit/>
          </a:bodyPr>
          <a:lstStyle/>
          <a:p>
            <a:r>
              <a:rPr lang="fr-FR" dirty="0" smtClean="0"/>
              <a:t>Pour l’intégrer à notre page html il faut tout d’abord le charger, via une balise de gabarit </a:t>
            </a:r>
            <a:r>
              <a:rPr lang="fr-FR" i="1" dirty="0" err="1" smtClean="0"/>
              <a:t>load</a:t>
            </a:r>
            <a:r>
              <a:rPr lang="fr-FR" dirty="0" smtClean="0"/>
              <a:t> puis l’indiquer comme n’importe quel fichier </a:t>
            </a:r>
            <a:r>
              <a:rPr lang="fr-FR" dirty="0" err="1" smtClean="0"/>
              <a:t>css</a:t>
            </a:r>
            <a:r>
              <a:rPr lang="fr-FR" dirty="0"/>
              <a:t> </a:t>
            </a:r>
            <a:r>
              <a:rPr lang="fr-FR" dirty="0" smtClean="0"/>
              <a:t>mais en utilisant une syntaxe de gabarit pour le liens :</a:t>
            </a:r>
            <a:endParaRPr lang="fr-FR" dirty="0"/>
          </a:p>
        </p:txBody>
      </p:sp>
      <p:pic>
        <p:nvPicPr>
          <p:cNvPr id="2" name="Image 1"/>
          <p:cNvPicPr>
            <a:picLocks noChangeAspect="1"/>
          </p:cNvPicPr>
          <p:nvPr/>
        </p:nvPicPr>
        <p:blipFill>
          <a:blip r:embed="rId14"/>
          <a:stretch>
            <a:fillRect/>
          </a:stretch>
        </p:blipFill>
        <p:spPr>
          <a:xfrm>
            <a:off x="2022880" y="2385026"/>
            <a:ext cx="7781925" cy="2047875"/>
          </a:xfrm>
          <a:prstGeom prst="rect">
            <a:avLst/>
          </a:prstGeom>
        </p:spPr>
      </p:pic>
      <p:sp>
        <p:nvSpPr>
          <p:cNvPr id="20" name="ZoneTexte 19"/>
          <p:cNvSpPr txBox="1"/>
          <p:nvPr/>
        </p:nvSpPr>
        <p:spPr>
          <a:xfrm>
            <a:off x="169659" y="4643263"/>
            <a:ext cx="11488366" cy="646331"/>
          </a:xfrm>
          <a:prstGeom prst="rect">
            <a:avLst/>
          </a:prstGeom>
          <a:noFill/>
        </p:spPr>
        <p:txBody>
          <a:bodyPr wrap="square" rtlCol="0">
            <a:spAutoFit/>
          </a:bodyPr>
          <a:lstStyle/>
          <a:p>
            <a:r>
              <a:rPr lang="fr-FR" i="1" dirty="0" smtClean="0"/>
              <a:t>{% </a:t>
            </a:r>
            <a:r>
              <a:rPr lang="fr-FR" i="1" dirty="0" err="1" smtClean="0"/>
              <a:t>load</a:t>
            </a:r>
            <a:r>
              <a:rPr lang="fr-FR" i="1" dirty="0" smtClean="0"/>
              <a:t> </a:t>
            </a:r>
            <a:r>
              <a:rPr lang="fr-FR" i="1" dirty="0" err="1" smtClean="0"/>
              <a:t>static</a:t>
            </a:r>
            <a:r>
              <a:rPr lang="fr-FR" i="1" dirty="0" smtClean="0"/>
              <a:t> %} </a:t>
            </a:r>
            <a:r>
              <a:rPr lang="fr-FR" dirty="0" smtClean="0"/>
              <a:t>permet donc de charger le répertoire de fichiers statiques et </a:t>
            </a:r>
            <a:r>
              <a:rPr lang="fr-FR" i="1" dirty="0" smtClean="0"/>
              <a:t>{% </a:t>
            </a:r>
            <a:r>
              <a:rPr lang="fr-FR" i="1" dirty="0" err="1" smtClean="0"/>
              <a:t>static</a:t>
            </a:r>
            <a:r>
              <a:rPr lang="fr-FR" i="1" dirty="0" smtClean="0"/>
              <a:t> ‘sondage/style.css’ %}</a:t>
            </a:r>
            <a:r>
              <a:rPr lang="fr-FR" dirty="0" smtClean="0"/>
              <a:t> permet d’indiquer que le fichier à charger est </a:t>
            </a:r>
            <a:r>
              <a:rPr lang="fr-FR" i="1" dirty="0" smtClean="0"/>
              <a:t>sondage/</a:t>
            </a:r>
            <a:r>
              <a:rPr lang="fr-FR" i="1" dirty="0" err="1" smtClean="0"/>
              <a:t>static</a:t>
            </a:r>
            <a:r>
              <a:rPr lang="fr-FR" i="1" dirty="0" smtClean="0"/>
              <a:t>/sondage/style.css</a:t>
            </a:r>
            <a:endParaRPr lang="fr-FR" i="1" dirty="0"/>
          </a:p>
        </p:txBody>
      </p:sp>
    </p:spTree>
    <p:extLst>
      <p:ext uri="{BB962C8B-B14F-4D97-AF65-F5344CB8AC3E}">
        <p14:creationId xmlns:p14="http://schemas.microsoft.com/office/powerpoint/2010/main" val="3438227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69660" y="1376188"/>
            <a:ext cx="4583315" cy="369332"/>
          </a:xfrm>
          <a:prstGeom prst="rect">
            <a:avLst/>
          </a:prstGeom>
          <a:noFill/>
        </p:spPr>
        <p:txBody>
          <a:bodyPr wrap="square" rtlCol="0">
            <a:spAutoFit/>
          </a:bodyPr>
          <a:lstStyle/>
          <a:p>
            <a:r>
              <a:rPr lang="fr-FR" dirty="0" smtClean="0"/>
              <a:t>Voici le résultat :</a:t>
            </a:r>
            <a:endParaRPr lang="fr-FR" dirty="0"/>
          </a:p>
        </p:txBody>
      </p:sp>
      <p:pic>
        <p:nvPicPr>
          <p:cNvPr id="2" name="Image 1"/>
          <p:cNvPicPr>
            <a:picLocks noChangeAspect="1"/>
          </p:cNvPicPr>
          <p:nvPr/>
        </p:nvPicPr>
        <p:blipFill rotWithShape="1">
          <a:blip r:embed="rId14"/>
          <a:srcRect b="6966"/>
          <a:stretch/>
        </p:blipFill>
        <p:spPr>
          <a:xfrm>
            <a:off x="169660" y="1979994"/>
            <a:ext cx="4667250" cy="1728000"/>
          </a:xfrm>
          <a:prstGeom prst="rect">
            <a:avLst/>
          </a:prstGeom>
        </p:spPr>
      </p:pic>
      <p:sp>
        <p:nvSpPr>
          <p:cNvPr id="20" name="ZoneTexte 19"/>
          <p:cNvSpPr txBox="1"/>
          <p:nvPr/>
        </p:nvSpPr>
        <p:spPr>
          <a:xfrm>
            <a:off x="5002202" y="1394731"/>
            <a:ext cx="5126153" cy="369332"/>
          </a:xfrm>
          <a:prstGeom prst="rect">
            <a:avLst/>
          </a:prstGeom>
          <a:noFill/>
        </p:spPr>
        <p:txBody>
          <a:bodyPr wrap="square" rtlCol="0">
            <a:spAutoFit/>
          </a:bodyPr>
          <a:lstStyle/>
          <a:p>
            <a:r>
              <a:rPr lang="fr-FR" dirty="0" smtClean="0"/>
              <a:t>Cela fonctionne de la même manière pour les images</a:t>
            </a:r>
            <a:endParaRPr lang="fr-FR" dirty="0"/>
          </a:p>
        </p:txBody>
      </p:sp>
      <p:pic>
        <p:nvPicPr>
          <p:cNvPr id="3" name="Image 2"/>
          <p:cNvPicPr>
            <a:picLocks noChangeAspect="1"/>
          </p:cNvPicPr>
          <p:nvPr/>
        </p:nvPicPr>
        <p:blipFill>
          <a:blip r:embed="rId15"/>
          <a:stretch>
            <a:fillRect/>
          </a:stretch>
        </p:blipFill>
        <p:spPr>
          <a:xfrm>
            <a:off x="5002202" y="1979994"/>
            <a:ext cx="7038975" cy="1733550"/>
          </a:xfrm>
          <a:prstGeom prst="rect">
            <a:avLst/>
          </a:prstGeom>
        </p:spPr>
      </p:pic>
      <p:pic>
        <p:nvPicPr>
          <p:cNvPr id="4" name="Image 3"/>
          <p:cNvPicPr>
            <a:picLocks noChangeAspect="1"/>
          </p:cNvPicPr>
          <p:nvPr/>
        </p:nvPicPr>
        <p:blipFill rotWithShape="1">
          <a:blip r:embed="rId16"/>
          <a:srcRect r="5328"/>
          <a:stretch/>
        </p:blipFill>
        <p:spPr>
          <a:xfrm>
            <a:off x="169660" y="3893397"/>
            <a:ext cx="4680000" cy="2447925"/>
          </a:xfrm>
          <a:prstGeom prst="rect">
            <a:avLst/>
          </a:prstGeom>
        </p:spPr>
      </p:pic>
      <p:sp>
        <p:nvSpPr>
          <p:cNvPr id="24" name="ZoneTexte 23"/>
          <p:cNvSpPr txBox="1"/>
          <p:nvPr/>
        </p:nvSpPr>
        <p:spPr>
          <a:xfrm>
            <a:off x="5002201" y="3981761"/>
            <a:ext cx="7038976" cy="646331"/>
          </a:xfrm>
          <a:prstGeom prst="rect">
            <a:avLst/>
          </a:prstGeom>
          <a:noFill/>
        </p:spPr>
        <p:txBody>
          <a:bodyPr wrap="square" rtlCol="0">
            <a:spAutoFit/>
          </a:bodyPr>
          <a:lstStyle/>
          <a:p>
            <a:r>
              <a:rPr lang="fr-FR" dirty="0" smtClean="0"/>
              <a:t>/!\ Vous ne pouvez pas utiliser la balise de gabarits </a:t>
            </a:r>
            <a:r>
              <a:rPr lang="fr-FR" i="1" dirty="0" smtClean="0"/>
              <a:t>{% </a:t>
            </a:r>
            <a:r>
              <a:rPr lang="fr-FR" i="1" dirty="0" err="1" smtClean="0"/>
              <a:t>load</a:t>
            </a:r>
            <a:r>
              <a:rPr lang="fr-FR" i="1" dirty="0" smtClean="0"/>
              <a:t> </a:t>
            </a:r>
            <a:r>
              <a:rPr lang="fr-FR" i="1" dirty="0" err="1" smtClean="0"/>
              <a:t>static</a:t>
            </a:r>
            <a:r>
              <a:rPr lang="fr-FR" i="1" dirty="0" smtClean="0"/>
              <a:t> %}</a:t>
            </a:r>
            <a:r>
              <a:rPr lang="fr-FR" dirty="0" smtClean="0"/>
              <a:t> dans un fichier de style. Vous devez utiliser un chemin relatif</a:t>
            </a:r>
            <a:endParaRPr lang="fr-FR" dirty="0"/>
          </a:p>
        </p:txBody>
      </p:sp>
    </p:spTree>
    <p:extLst>
      <p:ext uri="{BB962C8B-B14F-4D97-AF65-F5344CB8AC3E}">
        <p14:creationId xmlns:p14="http://schemas.microsoft.com/office/powerpoint/2010/main" val="19421506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9" name="ZoneTexte 18"/>
          <p:cNvSpPr txBox="1"/>
          <p:nvPr/>
        </p:nvSpPr>
        <p:spPr>
          <a:xfrm>
            <a:off x="169660" y="1376188"/>
            <a:ext cx="11765165" cy="646331"/>
          </a:xfrm>
          <a:prstGeom prst="rect">
            <a:avLst/>
          </a:prstGeom>
          <a:noFill/>
        </p:spPr>
        <p:txBody>
          <a:bodyPr wrap="square" rtlCol="0">
            <a:spAutoFit/>
          </a:bodyPr>
          <a:lstStyle/>
          <a:p>
            <a:r>
              <a:rPr lang="fr-FR" dirty="0" smtClean="0"/>
              <a:t>Vous pouvez inclure une page HTML dans une autre afin de ne pas avoir à réécrire le code qui est similaire d’une page à une autre. Il faudra définir des blocks dans votre page modèle que vous pourrez surcharger dans vos autres pages.</a:t>
            </a:r>
            <a:endParaRPr lang="fr-FR" dirty="0"/>
          </a:p>
        </p:txBody>
      </p:sp>
      <p:pic>
        <p:nvPicPr>
          <p:cNvPr id="2" name="Image 1"/>
          <p:cNvPicPr>
            <a:picLocks noChangeAspect="1"/>
          </p:cNvPicPr>
          <p:nvPr/>
        </p:nvPicPr>
        <p:blipFill>
          <a:blip r:embed="rId14"/>
          <a:stretch>
            <a:fillRect/>
          </a:stretch>
        </p:blipFill>
        <p:spPr>
          <a:xfrm>
            <a:off x="169660" y="2008448"/>
            <a:ext cx="6392312" cy="4554000"/>
          </a:xfrm>
          <a:prstGeom prst="rect">
            <a:avLst/>
          </a:prstGeom>
        </p:spPr>
      </p:pic>
      <p:sp>
        <p:nvSpPr>
          <p:cNvPr id="24" name="ZoneTexte 23"/>
          <p:cNvSpPr txBox="1"/>
          <p:nvPr/>
        </p:nvSpPr>
        <p:spPr>
          <a:xfrm>
            <a:off x="6924675" y="2459321"/>
            <a:ext cx="4352925" cy="1200329"/>
          </a:xfrm>
          <a:prstGeom prst="rect">
            <a:avLst/>
          </a:prstGeom>
          <a:noFill/>
        </p:spPr>
        <p:txBody>
          <a:bodyPr wrap="square" rtlCol="0">
            <a:spAutoFit/>
          </a:bodyPr>
          <a:lstStyle/>
          <a:p>
            <a:r>
              <a:rPr lang="fr-FR" dirty="0" smtClean="0"/>
              <a:t>Lorsqu’on </a:t>
            </a:r>
            <a:r>
              <a:rPr lang="fr-FR" dirty="0" err="1" smtClean="0"/>
              <a:t>incluera</a:t>
            </a:r>
            <a:r>
              <a:rPr lang="fr-FR" dirty="0" smtClean="0"/>
              <a:t> notre page index.html a notre page détail nous n’aurons qu’a spécifier ou démarre le </a:t>
            </a:r>
            <a:r>
              <a:rPr lang="fr-FR" dirty="0" err="1" smtClean="0"/>
              <a:t>blocke</a:t>
            </a:r>
            <a:r>
              <a:rPr lang="fr-FR" dirty="0" smtClean="0"/>
              <a:t> </a:t>
            </a:r>
            <a:r>
              <a:rPr lang="fr-FR" i="1" dirty="0" smtClean="0"/>
              <a:t>contenue</a:t>
            </a:r>
            <a:r>
              <a:rPr lang="fr-FR" dirty="0" smtClean="0"/>
              <a:t> et y indiquer dedans ce que nous voulons</a:t>
            </a:r>
            <a:endParaRPr lang="fr-FR" dirty="0"/>
          </a:p>
        </p:txBody>
      </p:sp>
      <p:sp>
        <p:nvSpPr>
          <p:cNvPr id="4" name="Rectangle 3"/>
          <p:cNvSpPr/>
          <p:nvPr/>
        </p:nvSpPr>
        <p:spPr>
          <a:xfrm>
            <a:off x="286441" y="3790950"/>
            <a:ext cx="1466159" cy="238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p:cNvSpPr/>
          <p:nvPr/>
        </p:nvSpPr>
        <p:spPr>
          <a:xfrm>
            <a:off x="286440" y="5972175"/>
            <a:ext cx="1466159" cy="2381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808801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18" name="Image 17"/>
          <p:cNvPicPr>
            <a:picLocks noChangeAspect="1"/>
          </p:cNvPicPr>
          <p:nvPr/>
        </p:nvPicPr>
        <p:blipFill>
          <a:blip r:embed="rId14"/>
          <a:stretch>
            <a:fillRect/>
          </a:stretch>
        </p:blipFill>
        <p:spPr>
          <a:xfrm>
            <a:off x="1238250" y="2281237"/>
            <a:ext cx="8629650" cy="3990975"/>
          </a:xfrm>
          <a:prstGeom prst="rect">
            <a:avLst/>
          </a:prstGeom>
        </p:spPr>
      </p:pic>
      <p:sp>
        <p:nvSpPr>
          <p:cNvPr id="19" name="ZoneTexte 18"/>
          <p:cNvSpPr txBox="1"/>
          <p:nvPr/>
        </p:nvSpPr>
        <p:spPr>
          <a:xfrm>
            <a:off x="169660" y="1376188"/>
            <a:ext cx="11765165" cy="923330"/>
          </a:xfrm>
          <a:prstGeom prst="rect">
            <a:avLst/>
          </a:prstGeom>
          <a:noFill/>
        </p:spPr>
        <p:txBody>
          <a:bodyPr wrap="square" rtlCol="0">
            <a:spAutoFit/>
          </a:bodyPr>
          <a:lstStyle/>
          <a:p>
            <a:r>
              <a:rPr lang="fr-FR" dirty="0" smtClean="0"/>
              <a:t>Il suffira dans notre page détail d’indiquer quelle page il faut inclure, et ce qu’il faut mettre dans les blocks que l’on veut remplacer. Tout bloc qui n’est pas ré écris dans notre nouvelle page ne sera pas modifié. Il faudra toutefois faire les appels de chargement externe ( </a:t>
            </a:r>
            <a:r>
              <a:rPr lang="fr-FR" i="1" dirty="0" smtClean="0"/>
              <a:t>{% </a:t>
            </a:r>
            <a:r>
              <a:rPr lang="fr-FR" i="1" dirty="0" err="1" smtClean="0"/>
              <a:t>load</a:t>
            </a:r>
            <a:r>
              <a:rPr lang="fr-FR" i="1" dirty="0" smtClean="0"/>
              <a:t> </a:t>
            </a:r>
            <a:r>
              <a:rPr lang="fr-FR" i="1" dirty="0" err="1" smtClean="0"/>
              <a:t>xxxx</a:t>
            </a:r>
            <a:r>
              <a:rPr lang="fr-FR" i="1" dirty="0" smtClean="0"/>
              <a:t> %}</a:t>
            </a:r>
            <a:r>
              <a:rPr lang="fr-FR" dirty="0" smtClean="0"/>
              <a:t> ) dans chaque page</a:t>
            </a:r>
            <a:endParaRPr lang="fr-FR" dirty="0"/>
          </a:p>
        </p:txBody>
      </p:sp>
      <p:sp>
        <p:nvSpPr>
          <p:cNvPr id="20" name="Rectangle 19"/>
          <p:cNvSpPr/>
          <p:nvPr/>
        </p:nvSpPr>
        <p:spPr>
          <a:xfrm>
            <a:off x="1254140" y="2783244"/>
            <a:ext cx="1765285" cy="2457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p:cNvSpPr/>
          <p:nvPr/>
        </p:nvSpPr>
        <p:spPr>
          <a:xfrm>
            <a:off x="1254140" y="6002694"/>
            <a:ext cx="1765285" cy="2457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120316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9" name="ZoneTexte 18"/>
          <p:cNvSpPr txBox="1"/>
          <p:nvPr/>
        </p:nvSpPr>
        <p:spPr>
          <a:xfrm>
            <a:off x="1126448" y="1546874"/>
            <a:ext cx="9945890" cy="646331"/>
          </a:xfrm>
          <a:prstGeom prst="rect">
            <a:avLst/>
          </a:prstGeom>
          <a:noFill/>
        </p:spPr>
        <p:txBody>
          <a:bodyPr wrap="square" rtlCol="0">
            <a:spAutoFit/>
          </a:bodyPr>
          <a:lstStyle/>
          <a:p>
            <a:r>
              <a:rPr lang="fr-FR" dirty="0" smtClean="0"/>
              <a:t>Voici à quoi ressemble notre page </a:t>
            </a:r>
            <a:r>
              <a:rPr lang="fr-FR" i="1" dirty="0" smtClean="0"/>
              <a:t>detail.html</a:t>
            </a:r>
            <a:r>
              <a:rPr lang="fr-FR" dirty="0" smtClean="0"/>
              <a:t> en ayant chargé l’entête de notre page </a:t>
            </a:r>
            <a:r>
              <a:rPr lang="fr-FR" i="1" dirty="0" smtClean="0"/>
              <a:t>index.html</a:t>
            </a:r>
            <a:r>
              <a:rPr lang="fr-FR" dirty="0" smtClean="0"/>
              <a:t>. </a:t>
            </a:r>
            <a:endParaRPr lang="fr-FR" dirty="0"/>
          </a:p>
          <a:p>
            <a:r>
              <a:rPr lang="fr-FR" dirty="0" smtClean="0"/>
              <a:t>N.B: nous aurions très pu charger des éléments tels que un menu de navigation, un </a:t>
            </a:r>
            <a:r>
              <a:rPr lang="fr-FR" dirty="0" err="1" smtClean="0"/>
              <a:t>footer</a:t>
            </a:r>
            <a:r>
              <a:rPr lang="fr-FR" dirty="0" smtClean="0"/>
              <a:t> ou un header.</a:t>
            </a:r>
            <a:endParaRPr lang="fr-FR" dirty="0"/>
          </a:p>
        </p:txBody>
      </p:sp>
      <p:pic>
        <p:nvPicPr>
          <p:cNvPr id="2" name="Image 1"/>
          <p:cNvPicPr>
            <a:picLocks noChangeAspect="1"/>
          </p:cNvPicPr>
          <p:nvPr/>
        </p:nvPicPr>
        <p:blipFill>
          <a:blip r:embed="rId14"/>
          <a:stretch>
            <a:fillRect/>
          </a:stretch>
        </p:blipFill>
        <p:spPr>
          <a:xfrm>
            <a:off x="1384705" y="2585994"/>
            <a:ext cx="9058275" cy="1800225"/>
          </a:xfrm>
          <a:prstGeom prst="rect">
            <a:avLst/>
          </a:prstGeom>
        </p:spPr>
      </p:pic>
    </p:spTree>
    <p:extLst>
      <p:ext uri="{BB962C8B-B14F-4D97-AF65-F5344CB8AC3E}">
        <p14:creationId xmlns:p14="http://schemas.microsoft.com/office/powerpoint/2010/main" val="235349558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4962</TotalTime>
  <Words>811</Words>
  <Application>Microsoft Office PowerPoint</Application>
  <PresentationFormat>Grand écran</PresentationFormat>
  <Paragraphs>66</Paragraphs>
  <Slides>14</Slides>
  <Notes>14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345</cp:revision>
  <dcterms:created xsi:type="dcterms:W3CDTF">2016-05-20T16:12:03Z</dcterms:created>
  <dcterms:modified xsi:type="dcterms:W3CDTF">2022-03-13T19:25:13Z</dcterms:modified>
</cp:coreProperties>
</file>