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5" r:id="rId2"/>
    <p:sldId id="315" r:id="rId3"/>
    <p:sldId id="317" r:id="rId4"/>
    <p:sldId id="318" r:id="rId5"/>
    <p:sldId id="319" r:id="rId6"/>
    <p:sldId id="320" r:id="rId7"/>
    <p:sldId id="325" r:id="rId8"/>
    <p:sldId id="322" r:id="rId9"/>
    <p:sldId id="323" r:id="rId10"/>
    <p:sldId id="324" r:id="rId11"/>
    <p:sldId id="326" r:id="rId12"/>
    <p:sldId id="332" r:id="rId13"/>
    <p:sldId id="327" r:id="rId14"/>
    <p:sldId id="328" r:id="rId15"/>
    <p:sldId id="329" r:id="rId16"/>
    <p:sldId id="330" r:id="rId17"/>
    <p:sldId id="331" r:id="rId18"/>
  </p:sldIdLst>
  <p:sldSz cx="12192000" cy="6858000"/>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F1"/>
    <a:srgbClr val="D5D5D5"/>
    <a:srgbClr val="A162D0"/>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89803" autoAdjust="0"/>
  </p:normalViewPr>
  <p:slideViewPr>
    <p:cSldViewPr snapToGrid="0">
      <p:cViewPr varScale="1">
        <p:scale>
          <a:sx n="79" d="100"/>
          <a:sy n="79" d="100"/>
        </p:scale>
        <p:origin x="802" y="6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50475" cy="49704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6737" y="0"/>
            <a:ext cx="2950475" cy="497046"/>
          </a:xfrm>
          <a:prstGeom prst="rect">
            <a:avLst/>
          </a:prstGeom>
        </p:spPr>
        <p:txBody>
          <a:bodyPr vert="horz" lIns="91440" tIns="45720" rIns="91440" bIns="45720" rtlCol="0"/>
          <a:lstStyle>
            <a:lvl1pPr algn="r">
              <a:defRPr sz="1200"/>
            </a:lvl1pPr>
          </a:lstStyle>
          <a:p>
            <a:fld id="{1C17683B-26D8-724E-89B0-02249384450D}" type="datetimeFigureOut">
              <a:rPr lang="fr-FR" smtClean="0"/>
              <a:t>10/03/2022</a:t>
            </a:fld>
            <a:endParaRPr lang="fr-FR"/>
          </a:p>
        </p:txBody>
      </p:sp>
      <p:sp>
        <p:nvSpPr>
          <p:cNvPr id="4" name="Espace réservé de l'image des diapositives 3"/>
          <p:cNvSpPr>
            <a:spLocks noGrp="1" noRot="1" noChangeAspect="1"/>
          </p:cNvSpPr>
          <p:nvPr>
            <p:ph type="sldImg" idx="2"/>
          </p:nvPr>
        </p:nvSpPr>
        <p:spPr>
          <a:xfrm>
            <a:off x="92075" y="746125"/>
            <a:ext cx="6624638" cy="37274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0879" y="4721940"/>
            <a:ext cx="5447030" cy="4473416"/>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2154"/>
            <a:ext cx="2950475" cy="49704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6737" y="9442154"/>
            <a:ext cx="2950475" cy="497046"/>
          </a:xfrm>
          <a:prstGeom prst="rect">
            <a:avLst/>
          </a:prstGeom>
        </p:spPr>
        <p:txBody>
          <a:bodyPr vert="horz" lIns="91440" tIns="45720" rIns="91440" bIns="45720" rtlCol="0" anchor="b"/>
          <a:lstStyle>
            <a:lvl1pPr algn="r">
              <a:defRPr sz="1200"/>
            </a:lvl1pPr>
          </a:lstStyle>
          <a:p>
            <a:fld id="{80B64375-EE74-1B43-ADD9-C3016E9127A8}" type="slidenum">
              <a:rPr lang="fr-FR" smtClean="0"/>
              <a:t>‹N°›</a:t>
            </a:fld>
            <a:endParaRPr lang="fr-FR"/>
          </a:p>
        </p:txBody>
      </p:sp>
    </p:spTree>
    <p:extLst>
      <p:ext uri="{BB962C8B-B14F-4D97-AF65-F5344CB8AC3E}">
        <p14:creationId xmlns:p14="http://schemas.microsoft.com/office/powerpoint/2010/main" val="28813035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a:t>
            </a:fld>
            <a:endParaRPr lang="fr-FR"/>
          </a:p>
        </p:txBody>
      </p:sp>
    </p:spTree>
    <p:extLst>
      <p:ext uri="{BB962C8B-B14F-4D97-AF65-F5344CB8AC3E}">
        <p14:creationId xmlns:p14="http://schemas.microsoft.com/office/powerpoint/2010/main" val="212171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Django est un </a:t>
            </a:r>
            <a:r>
              <a:rPr lang="fr-FR" dirty="0" err="1" smtClean="0"/>
              <a:t>framework</a:t>
            </a:r>
            <a:r>
              <a:rPr lang="fr-FR" dirty="0" smtClean="0"/>
              <a:t> web gratuit et open source écrit</a:t>
            </a:r>
            <a:r>
              <a:rPr lang="fr-FR" baseline="0" dirty="0" smtClean="0"/>
              <a:t> en python. </a:t>
            </a:r>
            <a:r>
              <a:rPr lang="fr-FR" sz="1200" b="0" i="0" kern="1200" dirty="0" smtClean="0">
                <a:solidFill>
                  <a:schemeClr val="tx1"/>
                </a:solidFill>
                <a:effectLst/>
                <a:latin typeface="+mn-lt"/>
                <a:ea typeface="+mn-ea"/>
                <a:cs typeface="+mn-cs"/>
              </a:rPr>
              <a:t>Un </a:t>
            </a:r>
            <a:r>
              <a:rPr lang="fr-FR" sz="1200" b="0" i="0" kern="1200" dirty="0" err="1" smtClean="0">
                <a:solidFill>
                  <a:schemeClr val="tx1"/>
                </a:solidFill>
                <a:effectLst/>
                <a:latin typeface="+mn-lt"/>
                <a:ea typeface="+mn-ea"/>
                <a:cs typeface="+mn-cs"/>
              </a:rPr>
              <a:t>framework</a:t>
            </a:r>
            <a:r>
              <a:rPr lang="fr-FR" sz="1200" b="0" i="0" kern="1200" dirty="0" smtClean="0">
                <a:solidFill>
                  <a:schemeClr val="tx1"/>
                </a:solidFill>
                <a:effectLst/>
                <a:latin typeface="+mn-lt"/>
                <a:ea typeface="+mn-ea"/>
                <a:cs typeface="+mn-cs"/>
              </a:rPr>
              <a:t> web est un ensemble de composants qui vous aide à développer des sites web plus rapidement et plus facilement. Cela permet de ne</a:t>
            </a:r>
            <a:r>
              <a:rPr lang="fr-FR" sz="1200" b="0" i="0" kern="1200" baseline="0" dirty="0" smtClean="0">
                <a:solidFill>
                  <a:schemeClr val="tx1"/>
                </a:solidFill>
                <a:effectLst/>
                <a:latin typeface="+mn-lt"/>
                <a:ea typeface="+mn-ea"/>
                <a:cs typeface="+mn-cs"/>
              </a:rPr>
              <a:t> pas avoir à </a:t>
            </a:r>
            <a:r>
              <a:rPr lang="fr-FR" sz="1200" b="0" i="0" kern="1200" baseline="0" dirty="0" err="1" smtClean="0">
                <a:solidFill>
                  <a:schemeClr val="tx1"/>
                </a:solidFill>
                <a:effectLst/>
                <a:latin typeface="+mn-lt"/>
                <a:ea typeface="+mn-ea"/>
                <a:cs typeface="+mn-cs"/>
              </a:rPr>
              <a:t>re</a:t>
            </a:r>
            <a:r>
              <a:rPr lang="fr-FR" sz="1200" b="0" i="0" kern="1200" baseline="0" dirty="0" smtClean="0">
                <a:solidFill>
                  <a:schemeClr val="tx1"/>
                </a:solidFill>
                <a:effectLst/>
                <a:latin typeface="+mn-lt"/>
                <a:ea typeface="+mn-ea"/>
                <a:cs typeface="+mn-cs"/>
              </a:rPr>
              <a:t> coder la roue, mais d’utiliser les outils du </a:t>
            </a:r>
            <a:r>
              <a:rPr lang="fr-FR" sz="1200" b="0" i="0" kern="1200" baseline="0" dirty="0" err="1" smtClean="0">
                <a:solidFill>
                  <a:schemeClr val="tx1"/>
                </a:solidFill>
                <a:effectLst/>
                <a:latin typeface="+mn-lt"/>
                <a:ea typeface="+mn-ea"/>
                <a:cs typeface="+mn-cs"/>
              </a:rPr>
              <a:t>framework</a:t>
            </a:r>
            <a:r>
              <a:rPr lang="fr-FR" sz="1200" b="0" i="0" kern="1200" baseline="0" dirty="0" smtClean="0">
                <a:solidFill>
                  <a:schemeClr val="tx1"/>
                </a:solidFill>
                <a:effectLst/>
                <a:latin typeface="+mn-lt"/>
                <a:ea typeface="+mn-ea"/>
                <a:cs typeface="+mn-cs"/>
              </a:rPr>
              <a:t> pour le faire.</a:t>
            </a:r>
            <a:endParaRPr lang="fr-FR" dirty="0" smtClean="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2</a:t>
            </a:fld>
            <a:endParaRPr lang="fr-FR"/>
          </a:p>
        </p:txBody>
      </p:sp>
    </p:spTree>
    <p:extLst>
      <p:ext uri="{BB962C8B-B14F-4D97-AF65-F5344CB8AC3E}">
        <p14:creationId xmlns:p14="http://schemas.microsoft.com/office/powerpoint/2010/main" val="365496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3</a:t>
            </a:fld>
            <a:endParaRPr lang="fr-FR"/>
          </a:p>
        </p:txBody>
      </p:sp>
    </p:spTree>
    <p:extLst>
      <p:ext uri="{BB962C8B-B14F-4D97-AF65-F5344CB8AC3E}">
        <p14:creationId xmlns:p14="http://schemas.microsoft.com/office/powerpoint/2010/main" val="1822077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4</a:t>
            </a:fld>
            <a:endParaRPr lang="fr-FR"/>
          </a:p>
        </p:txBody>
      </p:sp>
    </p:spTree>
    <p:extLst>
      <p:ext uri="{BB962C8B-B14F-4D97-AF65-F5344CB8AC3E}">
        <p14:creationId xmlns:p14="http://schemas.microsoft.com/office/powerpoint/2010/main" val="1146582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5</a:t>
            </a:fld>
            <a:endParaRPr lang="fr-FR"/>
          </a:p>
        </p:txBody>
      </p:sp>
    </p:spTree>
    <p:extLst>
      <p:ext uri="{BB962C8B-B14F-4D97-AF65-F5344CB8AC3E}">
        <p14:creationId xmlns:p14="http://schemas.microsoft.com/office/powerpoint/2010/main" val="1854231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6</a:t>
            </a:fld>
            <a:endParaRPr lang="fr-FR"/>
          </a:p>
        </p:txBody>
      </p:sp>
    </p:spTree>
    <p:extLst>
      <p:ext uri="{BB962C8B-B14F-4D97-AF65-F5344CB8AC3E}">
        <p14:creationId xmlns:p14="http://schemas.microsoft.com/office/powerpoint/2010/main" val="2626448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7</a:t>
            </a:fld>
            <a:endParaRPr lang="fr-FR"/>
          </a:p>
        </p:txBody>
      </p:sp>
    </p:spTree>
    <p:extLst>
      <p:ext uri="{BB962C8B-B14F-4D97-AF65-F5344CB8AC3E}">
        <p14:creationId xmlns:p14="http://schemas.microsoft.com/office/powerpoint/2010/main" val="3534150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8</a:t>
            </a:fld>
            <a:endParaRPr lang="fr-FR"/>
          </a:p>
        </p:txBody>
      </p:sp>
    </p:spTree>
    <p:extLst>
      <p:ext uri="{BB962C8B-B14F-4D97-AF65-F5344CB8AC3E}">
        <p14:creationId xmlns:p14="http://schemas.microsoft.com/office/powerpoint/2010/main" val="3817660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9</a:t>
            </a:fld>
            <a:endParaRPr lang="fr-FR"/>
          </a:p>
        </p:txBody>
      </p:sp>
    </p:spTree>
    <p:extLst>
      <p:ext uri="{BB962C8B-B14F-4D97-AF65-F5344CB8AC3E}">
        <p14:creationId xmlns:p14="http://schemas.microsoft.com/office/powerpoint/2010/main" val="282805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10</a:t>
            </a:fld>
            <a:endParaRPr lang="fr-FR"/>
          </a:p>
        </p:txBody>
      </p:sp>
    </p:spTree>
    <p:extLst>
      <p:ext uri="{BB962C8B-B14F-4D97-AF65-F5344CB8AC3E}">
        <p14:creationId xmlns:p14="http://schemas.microsoft.com/office/powerpoint/2010/main" val="445127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11</a:t>
            </a:fld>
            <a:endParaRPr lang="fr-FR"/>
          </a:p>
        </p:txBody>
      </p:sp>
    </p:spTree>
    <p:extLst>
      <p:ext uri="{BB962C8B-B14F-4D97-AF65-F5344CB8AC3E}">
        <p14:creationId xmlns:p14="http://schemas.microsoft.com/office/powerpoint/2010/main" val="217865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12</a:t>
            </a:fld>
            <a:endParaRPr lang="fr-FR"/>
          </a:p>
        </p:txBody>
      </p:sp>
    </p:spTree>
    <p:extLst>
      <p:ext uri="{BB962C8B-B14F-4D97-AF65-F5344CB8AC3E}">
        <p14:creationId xmlns:p14="http://schemas.microsoft.com/office/powerpoint/2010/main" val="228373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13</a:t>
            </a:fld>
            <a:endParaRPr lang="fr-FR"/>
          </a:p>
        </p:txBody>
      </p:sp>
    </p:spTree>
    <p:extLst>
      <p:ext uri="{BB962C8B-B14F-4D97-AF65-F5344CB8AC3E}">
        <p14:creationId xmlns:p14="http://schemas.microsoft.com/office/powerpoint/2010/main" val="1776668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14</a:t>
            </a:fld>
            <a:endParaRPr lang="fr-FR"/>
          </a:p>
        </p:txBody>
      </p:sp>
    </p:spTree>
    <p:extLst>
      <p:ext uri="{BB962C8B-B14F-4D97-AF65-F5344CB8AC3E}">
        <p14:creationId xmlns:p14="http://schemas.microsoft.com/office/powerpoint/2010/main" val="3193670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15</a:t>
            </a:fld>
            <a:endParaRPr lang="fr-FR"/>
          </a:p>
        </p:txBody>
      </p:sp>
    </p:spTree>
    <p:extLst>
      <p:ext uri="{BB962C8B-B14F-4D97-AF65-F5344CB8AC3E}">
        <p14:creationId xmlns:p14="http://schemas.microsoft.com/office/powerpoint/2010/main" val="1139254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16</a:t>
            </a:fld>
            <a:endParaRPr lang="fr-FR"/>
          </a:p>
        </p:txBody>
      </p:sp>
    </p:spTree>
    <p:extLst>
      <p:ext uri="{BB962C8B-B14F-4D97-AF65-F5344CB8AC3E}">
        <p14:creationId xmlns:p14="http://schemas.microsoft.com/office/powerpoint/2010/main" val="5529740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17</a:t>
            </a:fld>
            <a:endParaRPr lang="fr-FR"/>
          </a:p>
        </p:txBody>
      </p:sp>
    </p:spTree>
    <p:extLst>
      <p:ext uri="{BB962C8B-B14F-4D97-AF65-F5344CB8AC3E}">
        <p14:creationId xmlns:p14="http://schemas.microsoft.com/office/powerpoint/2010/main" val="1886928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10/03/2022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79645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10/03/2022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4232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10/03/2022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377981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10/03/2022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577741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9C091AA-3F0C-4182-9D7B-1EB634D8256B}" type="datetimeFigureOut">
              <a:rPr lang="fr-FR" smtClean="0"/>
              <a:t>10/03/2022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45969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9C091AA-3F0C-4182-9D7B-1EB634D8256B}" type="datetimeFigureOut">
              <a:rPr lang="fr-FR" smtClean="0"/>
              <a:t>10/03/2022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00249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9C091AA-3F0C-4182-9D7B-1EB634D8256B}" type="datetimeFigureOut">
              <a:rPr lang="fr-FR" smtClean="0"/>
              <a:t>10/03/2022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0102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10/03/2022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968089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10/03/2022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841683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10/03/2022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03115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10/03/2022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290548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tx1">
                <a:lumMod val="65000"/>
                <a:lumOff val="35000"/>
              </a:schemeClr>
            </a:gs>
          </a:gsLst>
          <a:lin ang="2700000" scaled="1"/>
          <a:tileRect/>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091AA-3F0C-4182-9D7B-1EB634D8256B}" type="datetimeFigureOut">
              <a:rPr lang="fr-FR" smtClean="0"/>
              <a:t>10/03/2022</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5B0E8-7D99-4688-B6D3-8DC5133195E9}" type="slidenum">
              <a:rPr lang="fr-FR" smtClean="0"/>
              <a:t>‹N°›</a:t>
            </a:fld>
            <a:endParaRPr lang="fr-FR"/>
          </a:p>
        </p:txBody>
      </p:sp>
    </p:spTree>
    <p:extLst>
      <p:ext uri="{BB962C8B-B14F-4D97-AF65-F5344CB8AC3E}">
        <p14:creationId xmlns:p14="http://schemas.microsoft.com/office/powerpoint/2010/main" val="1355722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hyperlink" Target="https://www.python.org/downloads/" TargetMode="External"/><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7.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9.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4.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6.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8.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7.png"/></Relationships>
</file>

<file path=ppt/slides/_rels/slide1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0.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t="17344"/>
          <a:stretch/>
        </p:blipFill>
        <p:spPr>
          <a:xfrm>
            <a:off x="-1" y="1161751"/>
            <a:ext cx="12247963" cy="5696249"/>
          </a:xfrm>
          <a:prstGeom prst="rect">
            <a:avLst/>
          </a:prstGeom>
        </p:spPr>
      </p:pic>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0" y="696885"/>
            <a:ext cx="12198786" cy="369332"/>
          </a:xfrm>
          <a:prstGeom prst="rect">
            <a:avLst/>
          </a:prstGeom>
          <a:noFill/>
        </p:spPr>
        <p:txBody>
          <a:bodyPr wrap="square" rtlCol="0">
            <a:spAutoFit/>
          </a:bodyPr>
          <a:lstStyle/>
          <a:p>
            <a:pPr algn="ctr"/>
            <a:r>
              <a:rPr lang="fr-FR" dirty="0" smtClean="0">
                <a:solidFill>
                  <a:schemeClr val="bg1"/>
                </a:solidFill>
              </a:rPr>
              <a:t>Présentation ADRAR Pôle Numérique</a:t>
            </a:r>
            <a:endParaRPr lang="fr-FR" dirty="0">
              <a:solidFill>
                <a:schemeClr val="bg1"/>
              </a:solidFill>
            </a:endParaRPr>
          </a:p>
        </p:txBody>
      </p:sp>
      <p:sp>
        <p:nvSpPr>
          <p:cNvPr id="40" name="ZoneTexte 39"/>
          <p:cNvSpPr txBox="1"/>
          <p:nvPr/>
        </p:nvSpPr>
        <p:spPr>
          <a:xfrm>
            <a:off x="6456211" y="1313092"/>
            <a:ext cx="4151883" cy="246221"/>
          </a:xfrm>
          <a:prstGeom prst="rect">
            <a:avLst/>
          </a:prstGeom>
          <a:noFill/>
        </p:spPr>
        <p:txBody>
          <a:bodyPr wrap="square" rtlCol="0">
            <a:spAutoFit/>
          </a:bodyPr>
          <a:lstStyle/>
          <a:p>
            <a:pPr algn="ctr"/>
            <a:r>
              <a:rPr lang="fr-FR" sz="1000" dirty="0">
                <a:solidFill>
                  <a:schemeClr val="bg1"/>
                </a:solidFill>
              </a:rPr>
              <a:t>Suivez-nous… </a:t>
            </a:r>
            <a:r>
              <a:rPr lang="fr-FR" sz="1000" dirty="0" smtClean="0">
                <a:solidFill>
                  <a:schemeClr val="bg1"/>
                </a:solidFill>
              </a:rPr>
              <a:t>LinkedIn            et Twitter           </a:t>
            </a:r>
            <a:r>
              <a:rPr lang="fr-FR" sz="1000" b="1" dirty="0" smtClean="0">
                <a:solidFill>
                  <a:schemeClr val="bg1">
                    <a:lumMod val="95000"/>
                  </a:schemeClr>
                </a:solidFill>
              </a:rPr>
              <a:t>@</a:t>
            </a:r>
            <a:r>
              <a:rPr lang="fr-FR" sz="1000" b="1" dirty="0" err="1">
                <a:solidFill>
                  <a:schemeClr val="bg1">
                    <a:lumMod val="95000"/>
                  </a:schemeClr>
                </a:solidFill>
              </a:rPr>
              <a:t>Adrar_Numerique</a:t>
            </a:r>
            <a:endParaRPr lang="fr-FR" sz="1000" b="1" dirty="0">
              <a:solidFill>
                <a:schemeClr val="bg1">
                  <a:lumMod val="95000"/>
                </a:schemeClr>
              </a:solidFill>
            </a:endParaRPr>
          </a:p>
        </p:txBody>
      </p:sp>
      <p:pic>
        <p:nvPicPr>
          <p:cNvPr id="41" name="Imag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541" y="1320857"/>
            <a:ext cx="228243" cy="217374"/>
          </a:xfrm>
          <a:prstGeom prst="rect">
            <a:avLst/>
          </a:prstGeom>
        </p:spPr>
      </p:pic>
      <p:pic>
        <p:nvPicPr>
          <p:cNvPr id="42" name="Image 41"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7911" y="1344858"/>
            <a:ext cx="169371" cy="169371"/>
          </a:xfrm>
          <a:prstGeom prst="rect">
            <a:avLst/>
          </a:prstGeom>
        </p:spPr>
      </p:pic>
      <p:grpSp>
        <p:nvGrpSpPr>
          <p:cNvPr id="5" name="Groupe 4"/>
          <p:cNvGrpSpPr/>
          <p:nvPr/>
        </p:nvGrpSpPr>
        <p:grpSpPr>
          <a:xfrm>
            <a:off x="70311" y="-41891"/>
            <a:ext cx="12056372" cy="746449"/>
            <a:chOff x="70311" y="-41891"/>
            <a:chExt cx="12056372" cy="746449"/>
          </a:xfrm>
        </p:grpSpPr>
        <p:grpSp>
          <p:nvGrpSpPr>
            <p:cNvPr id="16" name="Groupe 15"/>
            <p:cNvGrpSpPr/>
            <p:nvPr/>
          </p:nvGrpSpPr>
          <p:grpSpPr>
            <a:xfrm>
              <a:off x="70311" y="-41891"/>
              <a:ext cx="12056372" cy="746449"/>
              <a:chOff x="51808" y="-49564"/>
              <a:chExt cx="12056372" cy="746449"/>
            </a:xfrm>
          </p:grpSpPr>
          <p:pic>
            <p:nvPicPr>
              <p:cNvPr id="19" name="Image 18"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20" name="Image 19"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21" name="Image 20"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22" name="Image 21"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24" name="Image 23"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25" name="Image 24"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26" name="Image 25"/>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4" name="Image 3"/>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Tree>
    <p:extLst>
      <p:ext uri="{BB962C8B-B14F-4D97-AF65-F5344CB8AC3E}">
        <p14:creationId xmlns:p14="http://schemas.microsoft.com/office/powerpoint/2010/main" val="3823444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3" name="Image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11697" y="1809724"/>
            <a:ext cx="7004292" cy="3922403"/>
          </a:xfrm>
          <a:prstGeom prst="rect">
            <a:avLst/>
          </a:prstGeom>
        </p:spPr>
      </p:pic>
    </p:spTree>
    <p:extLst>
      <p:ext uri="{BB962C8B-B14F-4D97-AF65-F5344CB8AC3E}">
        <p14:creationId xmlns:p14="http://schemas.microsoft.com/office/powerpoint/2010/main" val="5266954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3124322" y="2616016"/>
            <a:ext cx="6848273" cy="1323439"/>
          </a:xfrm>
          <a:prstGeom prst="rect">
            <a:avLst/>
          </a:prstGeom>
          <a:noFill/>
        </p:spPr>
        <p:txBody>
          <a:bodyPr wrap="square" rtlCol="0">
            <a:spAutoFit/>
          </a:bodyPr>
          <a:lstStyle/>
          <a:p>
            <a:r>
              <a:rPr lang="fr-FR" sz="8000" b="1" u="sng" dirty="0" smtClean="0"/>
              <a:t>INSTALLATION</a:t>
            </a:r>
            <a:endParaRPr lang="fr-FR" sz="8000" b="1" u="sng" dirty="0"/>
          </a:p>
        </p:txBody>
      </p:sp>
    </p:spTree>
    <p:extLst>
      <p:ext uri="{BB962C8B-B14F-4D97-AF65-F5344CB8AC3E}">
        <p14:creationId xmlns:p14="http://schemas.microsoft.com/office/powerpoint/2010/main" val="798114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787940" y="1731523"/>
            <a:ext cx="9707033" cy="646331"/>
          </a:xfrm>
          <a:prstGeom prst="rect">
            <a:avLst/>
          </a:prstGeom>
          <a:noFill/>
        </p:spPr>
        <p:txBody>
          <a:bodyPr wrap="square" rtlCol="0">
            <a:spAutoFit/>
          </a:bodyPr>
          <a:lstStyle/>
          <a:p>
            <a:r>
              <a:rPr lang="fr-FR" dirty="0" smtClean="0"/>
              <a:t>Pour pouvoir installer </a:t>
            </a:r>
            <a:r>
              <a:rPr lang="fr-FR" dirty="0" err="1" smtClean="0"/>
              <a:t>django</a:t>
            </a:r>
            <a:r>
              <a:rPr lang="fr-FR" dirty="0" smtClean="0"/>
              <a:t> votre machine doit disposer de python. Commencez par vérifier que celui-ci est installé en </a:t>
            </a:r>
            <a:r>
              <a:rPr lang="fr-FR" dirty="0" err="1" smtClean="0"/>
              <a:t>tappant</a:t>
            </a:r>
            <a:r>
              <a:rPr lang="fr-FR" dirty="0" smtClean="0"/>
              <a:t> dans votre cmd l’une des deux commandes suivantes :</a:t>
            </a:r>
            <a:endParaRPr lang="fr-FR" dirty="0"/>
          </a:p>
        </p:txBody>
      </p:sp>
      <p:pic>
        <p:nvPicPr>
          <p:cNvPr id="3" name="Image 2"/>
          <p:cNvPicPr>
            <a:picLocks noChangeAspect="1"/>
          </p:cNvPicPr>
          <p:nvPr/>
        </p:nvPicPr>
        <p:blipFill>
          <a:blip r:embed="rId14"/>
          <a:stretch>
            <a:fillRect/>
          </a:stretch>
        </p:blipFill>
        <p:spPr>
          <a:xfrm>
            <a:off x="901835" y="2564802"/>
            <a:ext cx="3695700" cy="1057275"/>
          </a:xfrm>
          <a:prstGeom prst="rect">
            <a:avLst/>
          </a:prstGeom>
        </p:spPr>
      </p:pic>
      <p:sp>
        <p:nvSpPr>
          <p:cNvPr id="20" name="ZoneTexte 19"/>
          <p:cNvSpPr txBox="1"/>
          <p:nvPr/>
        </p:nvSpPr>
        <p:spPr>
          <a:xfrm>
            <a:off x="787939" y="3936459"/>
            <a:ext cx="9707033" cy="1200329"/>
          </a:xfrm>
          <a:prstGeom prst="rect">
            <a:avLst/>
          </a:prstGeom>
          <a:noFill/>
        </p:spPr>
        <p:txBody>
          <a:bodyPr wrap="square" rtlCol="0">
            <a:spAutoFit/>
          </a:bodyPr>
          <a:lstStyle/>
          <a:p>
            <a:r>
              <a:rPr lang="fr-FR" dirty="0" smtClean="0"/>
              <a:t>Si, comme sur le </a:t>
            </a:r>
            <a:r>
              <a:rPr lang="fr-FR" dirty="0" err="1" smtClean="0"/>
              <a:t>screenshot</a:t>
            </a:r>
            <a:r>
              <a:rPr lang="fr-FR" dirty="0" smtClean="0"/>
              <a:t>, le cmd vous retourne la version de python tout vas bien. Sinon il faudra que vous installiez Python :</a:t>
            </a:r>
          </a:p>
          <a:p>
            <a:endParaRPr lang="fr-FR" dirty="0"/>
          </a:p>
          <a:p>
            <a:r>
              <a:rPr lang="fr-FR" dirty="0">
                <a:hlinkClick r:id="rId15"/>
              </a:rPr>
              <a:t>https://www.python.org/downloads</a:t>
            </a:r>
            <a:r>
              <a:rPr lang="fr-FR" dirty="0" smtClean="0">
                <a:hlinkClick r:id="rId15"/>
              </a:rPr>
              <a:t>/</a:t>
            </a:r>
            <a:r>
              <a:rPr lang="fr-FR" dirty="0" smtClean="0"/>
              <a:t> </a:t>
            </a:r>
            <a:endParaRPr lang="fr-FR" dirty="0"/>
          </a:p>
        </p:txBody>
      </p:sp>
    </p:spTree>
    <p:extLst>
      <p:ext uri="{BB962C8B-B14F-4D97-AF65-F5344CB8AC3E}">
        <p14:creationId xmlns:p14="http://schemas.microsoft.com/office/powerpoint/2010/main" val="31444637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603115" y="1536970"/>
            <a:ext cx="10301591" cy="923330"/>
          </a:xfrm>
          <a:prstGeom prst="rect">
            <a:avLst/>
          </a:prstGeom>
          <a:noFill/>
        </p:spPr>
        <p:txBody>
          <a:bodyPr wrap="square" rtlCol="0">
            <a:spAutoFit/>
          </a:bodyPr>
          <a:lstStyle/>
          <a:p>
            <a:r>
              <a:rPr lang="fr-FR" dirty="0" smtClean="0"/>
              <a:t>Une fois que python est installé sur votre machine nous pouvons nous ne servir pour installer Django. Pour cela nous allons utiliser l’installateur de dépendances inclus avec python : </a:t>
            </a:r>
            <a:r>
              <a:rPr lang="fr-FR" dirty="0" err="1" smtClean="0"/>
              <a:t>pip</a:t>
            </a:r>
            <a:endParaRPr lang="fr-FR" dirty="0" smtClean="0"/>
          </a:p>
          <a:p>
            <a:r>
              <a:rPr lang="fr-FR" dirty="0" smtClean="0"/>
              <a:t>Il suffit donc de </a:t>
            </a:r>
            <a:r>
              <a:rPr lang="fr-FR" dirty="0" err="1" smtClean="0"/>
              <a:t>tapper</a:t>
            </a:r>
            <a:r>
              <a:rPr lang="fr-FR" dirty="0" smtClean="0"/>
              <a:t> la commande </a:t>
            </a:r>
            <a:r>
              <a:rPr lang="fr-FR" i="1" dirty="0" smtClean="0"/>
              <a:t>python -m </a:t>
            </a:r>
            <a:r>
              <a:rPr lang="fr-FR" i="1" dirty="0" err="1" smtClean="0"/>
              <a:t>pip</a:t>
            </a:r>
            <a:r>
              <a:rPr lang="fr-FR" i="1" dirty="0" smtClean="0"/>
              <a:t> </a:t>
            </a:r>
            <a:r>
              <a:rPr lang="fr-FR" i="1" dirty="0" err="1" smtClean="0"/>
              <a:t>install</a:t>
            </a:r>
            <a:r>
              <a:rPr lang="fr-FR" i="1" dirty="0" smtClean="0"/>
              <a:t> </a:t>
            </a:r>
            <a:r>
              <a:rPr lang="fr-FR" i="1" dirty="0" err="1" smtClean="0"/>
              <a:t>django</a:t>
            </a:r>
            <a:endParaRPr lang="fr-FR" dirty="0"/>
          </a:p>
        </p:txBody>
      </p:sp>
      <p:pic>
        <p:nvPicPr>
          <p:cNvPr id="19" name="Image 18"/>
          <p:cNvPicPr>
            <a:picLocks noChangeAspect="1"/>
          </p:cNvPicPr>
          <p:nvPr/>
        </p:nvPicPr>
        <p:blipFill>
          <a:blip r:embed="rId14"/>
          <a:stretch>
            <a:fillRect/>
          </a:stretch>
        </p:blipFill>
        <p:spPr>
          <a:xfrm>
            <a:off x="1987656" y="2564493"/>
            <a:ext cx="8362991" cy="3629663"/>
          </a:xfrm>
          <a:prstGeom prst="rect">
            <a:avLst/>
          </a:prstGeom>
        </p:spPr>
      </p:pic>
    </p:spTree>
    <p:extLst>
      <p:ext uri="{BB962C8B-B14F-4D97-AF65-F5344CB8AC3E}">
        <p14:creationId xmlns:p14="http://schemas.microsoft.com/office/powerpoint/2010/main" val="42174912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914400" y="1459149"/>
            <a:ext cx="9980579" cy="1200329"/>
          </a:xfrm>
          <a:prstGeom prst="rect">
            <a:avLst/>
          </a:prstGeom>
          <a:noFill/>
        </p:spPr>
        <p:txBody>
          <a:bodyPr wrap="square" rtlCol="0">
            <a:spAutoFit/>
          </a:bodyPr>
          <a:lstStyle/>
          <a:p>
            <a:r>
              <a:rPr lang="fr-FR" dirty="0" smtClean="0"/>
              <a:t>Pour vous assurer que tout s’est bien passé vous pouvez, dans la console python, utiliser une des fonctions de </a:t>
            </a:r>
            <a:r>
              <a:rPr lang="fr-FR" dirty="0" err="1" smtClean="0"/>
              <a:t>django</a:t>
            </a:r>
            <a:r>
              <a:rPr lang="fr-FR" dirty="0" smtClean="0"/>
              <a:t> pour afficher sa version. Il faudra pour cela importer </a:t>
            </a:r>
            <a:r>
              <a:rPr lang="fr-FR" dirty="0" err="1" smtClean="0"/>
              <a:t>django</a:t>
            </a:r>
            <a:r>
              <a:rPr lang="fr-FR" dirty="0" smtClean="0"/>
              <a:t>. Vous pourriez également utiliser une commande du module python Django (de la même manière que vous avez utilisé une commande du module </a:t>
            </a:r>
            <a:r>
              <a:rPr lang="fr-FR" dirty="0" err="1" smtClean="0"/>
              <a:t>pip</a:t>
            </a:r>
            <a:r>
              <a:rPr lang="fr-FR" dirty="0" smtClean="0"/>
              <a:t>).</a:t>
            </a:r>
            <a:endParaRPr lang="fr-FR" dirty="0"/>
          </a:p>
        </p:txBody>
      </p:sp>
      <p:pic>
        <p:nvPicPr>
          <p:cNvPr id="3" name="Image 2"/>
          <p:cNvPicPr>
            <a:picLocks noChangeAspect="1"/>
          </p:cNvPicPr>
          <p:nvPr/>
        </p:nvPicPr>
        <p:blipFill>
          <a:blip r:embed="rId14"/>
          <a:stretch>
            <a:fillRect/>
          </a:stretch>
        </p:blipFill>
        <p:spPr>
          <a:xfrm>
            <a:off x="1028645" y="2667528"/>
            <a:ext cx="8803569" cy="1527150"/>
          </a:xfrm>
          <a:prstGeom prst="rect">
            <a:avLst/>
          </a:prstGeom>
        </p:spPr>
      </p:pic>
      <p:sp>
        <p:nvSpPr>
          <p:cNvPr id="20" name="ZoneTexte 19"/>
          <p:cNvSpPr txBox="1"/>
          <p:nvPr/>
        </p:nvSpPr>
        <p:spPr>
          <a:xfrm>
            <a:off x="914399" y="5133268"/>
            <a:ext cx="9980579" cy="646331"/>
          </a:xfrm>
          <a:prstGeom prst="rect">
            <a:avLst/>
          </a:prstGeom>
          <a:noFill/>
        </p:spPr>
        <p:txBody>
          <a:bodyPr wrap="square" rtlCol="0">
            <a:spAutoFit/>
          </a:bodyPr>
          <a:lstStyle/>
          <a:p>
            <a:r>
              <a:rPr lang="fr-FR" dirty="0" smtClean="0"/>
              <a:t>Encore une fois, si la commande vous retourne un numéro de version c’est que l’installation s’est bien passé.</a:t>
            </a:r>
            <a:endParaRPr lang="fr-FR" dirty="0"/>
          </a:p>
        </p:txBody>
      </p:sp>
      <p:pic>
        <p:nvPicPr>
          <p:cNvPr id="4" name="Image 3"/>
          <p:cNvPicPr>
            <a:picLocks noChangeAspect="1"/>
          </p:cNvPicPr>
          <p:nvPr/>
        </p:nvPicPr>
        <p:blipFill>
          <a:blip r:embed="rId15"/>
          <a:stretch>
            <a:fillRect/>
          </a:stretch>
        </p:blipFill>
        <p:spPr>
          <a:xfrm>
            <a:off x="1028645" y="4406219"/>
            <a:ext cx="4991100" cy="561975"/>
          </a:xfrm>
          <a:prstGeom prst="rect">
            <a:avLst/>
          </a:prstGeom>
        </p:spPr>
      </p:pic>
    </p:spTree>
    <p:extLst>
      <p:ext uri="{BB962C8B-B14F-4D97-AF65-F5344CB8AC3E}">
        <p14:creationId xmlns:p14="http://schemas.microsoft.com/office/powerpoint/2010/main" val="37705554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489706" y="2440919"/>
            <a:ext cx="6848273" cy="2554545"/>
          </a:xfrm>
          <a:prstGeom prst="rect">
            <a:avLst/>
          </a:prstGeom>
          <a:noFill/>
        </p:spPr>
        <p:txBody>
          <a:bodyPr wrap="square" rtlCol="0">
            <a:spAutoFit/>
          </a:bodyPr>
          <a:lstStyle/>
          <a:p>
            <a:pPr algn="ctr"/>
            <a:r>
              <a:rPr lang="fr-FR" sz="8000" b="1" u="sng" dirty="0" smtClean="0"/>
              <a:t>MISE EN PLACE D’UN PROJET</a:t>
            </a:r>
            <a:endParaRPr lang="fr-FR" sz="8000" b="1" u="sng" dirty="0"/>
          </a:p>
        </p:txBody>
      </p:sp>
    </p:spTree>
    <p:extLst>
      <p:ext uri="{BB962C8B-B14F-4D97-AF65-F5344CB8AC3E}">
        <p14:creationId xmlns:p14="http://schemas.microsoft.com/office/powerpoint/2010/main" val="24758200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680899" y="1517515"/>
            <a:ext cx="10359995" cy="2308324"/>
          </a:xfrm>
          <a:prstGeom prst="rect">
            <a:avLst/>
          </a:prstGeom>
          <a:noFill/>
        </p:spPr>
        <p:txBody>
          <a:bodyPr wrap="square" rtlCol="0">
            <a:spAutoFit/>
          </a:bodyPr>
          <a:lstStyle/>
          <a:p>
            <a:r>
              <a:rPr lang="fr-FR" dirty="0" smtClean="0"/>
              <a:t>Django étant un </a:t>
            </a:r>
            <a:r>
              <a:rPr lang="fr-FR" dirty="0" err="1" smtClean="0"/>
              <a:t>framework</a:t>
            </a:r>
            <a:r>
              <a:rPr lang="fr-FR" dirty="0" smtClean="0"/>
              <a:t> web permettant à la fois de faire du </a:t>
            </a:r>
            <a:r>
              <a:rPr lang="fr-FR" dirty="0" err="1" smtClean="0"/>
              <a:t>frontend</a:t>
            </a:r>
            <a:r>
              <a:rPr lang="fr-FR" dirty="0" smtClean="0"/>
              <a:t> et du </a:t>
            </a:r>
            <a:r>
              <a:rPr lang="fr-FR" dirty="0" err="1" smtClean="0"/>
              <a:t>backend</a:t>
            </a:r>
            <a:r>
              <a:rPr lang="fr-FR" dirty="0" smtClean="0"/>
              <a:t> il regroupe pour un projet plusieurs fichiers de configurations. Pour vous faciliter la tâche dans la mise en place de toutes les ressources nécessaires au démarrage de votre projet vous disposez de plusieurs commande pour administrer votre projet. Vous disposez notamment de la commande </a:t>
            </a:r>
            <a:r>
              <a:rPr lang="fr-FR" i="1" dirty="0" err="1" smtClean="0"/>
              <a:t>django</a:t>
            </a:r>
            <a:r>
              <a:rPr lang="fr-FR" i="1" dirty="0" smtClean="0"/>
              <a:t>-admin </a:t>
            </a:r>
            <a:r>
              <a:rPr lang="fr-FR" i="1" dirty="0" err="1" smtClean="0"/>
              <a:t>startproject</a:t>
            </a:r>
            <a:r>
              <a:rPr lang="fr-FR" i="1" dirty="0" smtClean="0"/>
              <a:t> </a:t>
            </a:r>
            <a:r>
              <a:rPr lang="fr-FR" i="1" dirty="0" err="1" smtClean="0"/>
              <a:t>monsite</a:t>
            </a:r>
            <a:r>
              <a:rPr lang="fr-FR" dirty="0" smtClean="0"/>
              <a:t> permettant de créer un </a:t>
            </a:r>
            <a:r>
              <a:rPr lang="fr-FR" dirty="0" err="1" smtClean="0"/>
              <a:t>repertoire</a:t>
            </a:r>
            <a:r>
              <a:rPr lang="fr-FR" dirty="0" smtClean="0"/>
              <a:t> contenant tous les fichiers de base pour votre projet nommé </a:t>
            </a:r>
            <a:r>
              <a:rPr lang="fr-FR" dirty="0" err="1" smtClean="0"/>
              <a:t>monsite</a:t>
            </a:r>
            <a:r>
              <a:rPr lang="fr-FR" dirty="0" smtClean="0"/>
              <a:t>.</a:t>
            </a:r>
          </a:p>
          <a:p>
            <a:endParaRPr lang="fr-FR" dirty="0"/>
          </a:p>
          <a:p>
            <a:r>
              <a:rPr lang="fr-FR" dirty="0" smtClean="0"/>
              <a:t>Dans un cmd commencez par vous déplacer dans le dossier dans lequel vous voulez démarrer votre projet </a:t>
            </a:r>
            <a:r>
              <a:rPr lang="fr-FR" dirty="0" err="1" smtClean="0"/>
              <a:t>grace</a:t>
            </a:r>
            <a:r>
              <a:rPr lang="fr-FR" dirty="0" smtClean="0"/>
              <a:t> à la commande cd :</a:t>
            </a:r>
            <a:endParaRPr lang="fr-FR" dirty="0"/>
          </a:p>
        </p:txBody>
      </p:sp>
      <p:pic>
        <p:nvPicPr>
          <p:cNvPr id="3" name="Image 2"/>
          <p:cNvPicPr>
            <a:picLocks noChangeAspect="1"/>
          </p:cNvPicPr>
          <p:nvPr/>
        </p:nvPicPr>
        <p:blipFill>
          <a:blip r:embed="rId14"/>
          <a:stretch>
            <a:fillRect/>
          </a:stretch>
        </p:blipFill>
        <p:spPr>
          <a:xfrm>
            <a:off x="96827" y="4003678"/>
            <a:ext cx="4905375" cy="1962150"/>
          </a:xfrm>
          <a:prstGeom prst="rect">
            <a:avLst/>
          </a:prstGeom>
        </p:spPr>
      </p:pic>
      <p:pic>
        <p:nvPicPr>
          <p:cNvPr id="4" name="Image 3"/>
          <p:cNvPicPr>
            <a:picLocks noChangeAspect="1"/>
          </p:cNvPicPr>
          <p:nvPr/>
        </p:nvPicPr>
        <p:blipFill>
          <a:blip r:embed="rId15"/>
          <a:stretch>
            <a:fillRect/>
          </a:stretch>
        </p:blipFill>
        <p:spPr>
          <a:xfrm>
            <a:off x="5256170" y="4514107"/>
            <a:ext cx="6696075" cy="695325"/>
          </a:xfrm>
          <a:prstGeom prst="rect">
            <a:avLst/>
          </a:prstGeom>
        </p:spPr>
      </p:pic>
      <p:sp>
        <p:nvSpPr>
          <p:cNvPr id="5" name="ZoneTexte 4"/>
          <p:cNvSpPr txBox="1"/>
          <p:nvPr/>
        </p:nvSpPr>
        <p:spPr>
          <a:xfrm>
            <a:off x="5256170" y="3985307"/>
            <a:ext cx="6291400" cy="369332"/>
          </a:xfrm>
          <a:prstGeom prst="rect">
            <a:avLst/>
          </a:prstGeom>
          <a:noFill/>
        </p:spPr>
        <p:txBody>
          <a:bodyPr wrap="square" rtlCol="0">
            <a:spAutoFit/>
          </a:bodyPr>
          <a:lstStyle/>
          <a:p>
            <a:r>
              <a:rPr lang="fr-FR" dirty="0" smtClean="0"/>
              <a:t>Ou bien en une seul commande :</a:t>
            </a:r>
            <a:endParaRPr lang="fr-FR" dirty="0"/>
          </a:p>
        </p:txBody>
      </p:sp>
    </p:spTree>
    <p:extLst>
      <p:ext uri="{BB962C8B-B14F-4D97-AF65-F5344CB8AC3E}">
        <p14:creationId xmlns:p14="http://schemas.microsoft.com/office/powerpoint/2010/main" val="11550594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93387" y="1498060"/>
            <a:ext cx="10817158" cy="923330"/>
          </a:xfrm>
          <a:prstGeom prst="rect">
            <a:avLst/>
          </a:prstGeom>
          <a:noFill/>
        </p:spPr>
        <p:txBody>
          <a:bodyPr wrap="square" rtlCol="0">
            <a:spAutoFit/>
          </a:bodyPr>
          <a:lstStyle/>
          <a:p>
            <a:r>
              <a:rPr lang="fr-FR" dirty="0" smtClean="0"/>
              <a:t>Un fois dans le répertoire utilisez donc la commande </a:t>
            </a:r>
            <a:r>
              <a:rPr lang="fr-FR" i="1" dirty="0" err="1" smtClean="0"/>
              <a:t>django</a:t>
            </a:r>
            <a:r>
              <a:rPr lang="fr-FR" i="1" dirty="0" smtClean="0"/>
              <a:t>-admin </a:t>
            </a:r>
            <a:r>
              <a:rPr lang="fr-FR" i="1" dirty="0" err="1" smtClean="0"/>
              <a:t>startproject</a:t>
            </a:r>
            <a:r>
              <a:rPr lang="fr-FR" i="1" dirty="0" smtClean="0"/>
              <a:t> </a:t>
            </a:r>
            <a:r>
              <a:rPr lang="fr-FR" i="1" dirty="0" err="1" smtClean="0"/>
              <a:t>monsite</a:t>
            </a:r>
            <a:r>
              <a:rPr lang="fr-FR" dirty="0" smtClean="0"/>
              <a:t> afin de mettre en place les différents fichiers nécessaire à votre projet. Déplacez vous ensuite dedans et utilisez la commande </a:t>
            </a:r>
            <a:r>
              <a:rPr lang="fr-FR" i="1" dirty="0" err="1" smtClean="0"/>
              <a:t>dir</a:t>
            </a:r>
            <a:r>
              <a:rPr lang="fr-FR" dirty="0" smtClean="0"/>
              <a:t> pour afficher ce qui se trouve dans ce dossier :</a:t>
            </a:r>
            <a:endParaRPr lang="fr-FR" dirty="0"/>
          </a:p>
        </p:txBody>
      </p:sp>
      <p:pic>
        <p:nvPicPr>
          <p:cNvPr id="3" name="Image 2"/>
          <p:cNvPicPr>
            <a:picLocks noChangeAspect="1"/>
          </p:cNvPicPr>
          <p:nvPr/>
        </p:nvPicPr>
        <p:blipFill>
          <a:blip r:embed="rId14"/>
          <a:stretch>
            <a:fillRect/>
          </a:stretch>
        </p:blipFill>
        <p:spPr>
          <a:xfrm>
            <a:off x="680899" y="2429440"/>
            <a:ext cx="7315200" cy="3629025"/>
          </a:xfrm>
          <a:prstGeom prst="rect">
            <a:avLst/>
          </a:prstGeom>
        </p:spPr>
      </p:pic>
      <p:sp>
        <p:nvSpPr>
          <p:cNvPr id="4" name="ZoneTexte 3"/>
          <p:cNvSpPr txBox="1"/>
          <p:nvPr/>
        </p:nvSpPr>
        <p:spPr>
          <a:xfrm>
            <a:off x="8287966" y="2500009"/>
            <a:ext cx="3258766" cy="3416320"/>
          </a:xfrm>
          <a:prstGeom prst="rect">
            <a:avLst/>
          </a:prstGeom>
          <a:noFill/>
        </p:spPr>
        <p:txBody>
          <a:bodyPr wrap="square" rtlCol="0">
            <a:spAutoFit/>
          </a:bodyPr>
          <a:lstStyle/>
          <a:p>
            <a:r>
              <a:rPr lang="fr-FR" dirty="0" smtClean="0"/>
              <a:t>On voit donc que </a:t>
            </a:r>
            <a:r>
              <a:rPr lang="fr-FR" dirty="0" err="1" smtClean="0"/>
              <a:t>django</a:t>
            </a:r>
            <a:r>
              <a:rPr lang="fr-FR" dirty="0" smtClean="0"/>
              <a:t> a créé un dossier </a:t>
            </a:r>
            <a:r>
              <a:rPr lang="fr-FR" dirty="0" err="1" smtClean="0"/>
              <a:t>monsite</a:t>
            </a:r>
            <a:r>
              <a:rPr lang="fr-FR" dirty="0" smtClean="0"/>
              <a:t>, dans lequel il y a mis un fichier </a:t>
            </a:r>
            <a:r>
              <a:rPr lang="fr-FR" i="1" dirty="0" smtClean="0"/>
              <a:t>manage.py</a:t>
            </a:r>
            <a:r>
              <a:rPr lang="fr-FR" dirty="0" smtClean="0"/>
              <a:t> ainsi qu’un autre </a:t>
            </a:r>
            <a:r>
              <a:rPr lang="fr-FR" dirty="0" err="1" smtClean="0"/>
              <a:t>repertoire</a:t>
            </a:r>
            <a:r>
              <a:rPr lang="fr-FR" dirty="0" smtClean="0"/>
              <a:t> appelé également </a:t>
            </a:r>
            <a:r>
              <a:rPr lang="fr-FR" i="1" dirty="0" err="1" smtClean="0"/>
              <a:t>monsite</a:t>
            </a:r>
            <a:r>
              <a:rPr lang="fr-FR" dirty="0" smtClean="0"/>
              <a:t>. Le fichier manage.py, que nous allons utiliser dans quelques étapes, permet d’</a:t>
            </a:r>
            <a:r>
              <a:rPr lang="fr-FR" dirty="0" err="1" smtClean="0"/>
              <a:t>éffectuer</a:t>
            </a:r>
            <a:r>
              <a:rPr lang="fr-FR" dirty="0" smtClean="0"/>
              <a:t> des actions relatives a votre projet, dont tous les fichiers se trouvent dans le deuxième </a:t>
            </a:r>
            <a:r>
              <a:rPr lang="fr-FR" dirty="0" err="1" smtClean="0"/>
              <a:t>repertoire</a:t>
            </a:r>
            <a:r>
              <a:rPr lang="fr-FR" dirty="0" smtClean="0"/>
              <a:t> appelé </a:t>
            </a:r>
            <a:r>
              <a:rPr lang="fr-FR" dirty="0" err="1" smtClean="0"/>
              <a:t>monsite</a:t>
            </a:r>
            <a:r>
              <a:rPr lang="fr-FR" dirty="0" smtClean="0"/>
              <a:t>.</a:t>
            </a:r>
            <a:endParaRPr lang="fr-FR" dirty="0"/>
          </a:p>
        </p:txBody>
      </p:sp>
    </p:spTree>
    <p:extLst>
      <p:ext uri="{BB962C8B-B14F-4D97-AF65-F5344CB8AC3E}">
        <p14:creationId xmlns:p14="http://schemas.microsoft.com/office/powerpoint/2010/main" val="2297867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02572" y="1459149"/>
            <a:ext cx="11034432" cy="646331"/>
          </a:xfrm>
          <a:prstGeom prst="rect">
            <a:avLst/>
          </a:prstGeom>
          <a:noFill/>
        </p:spPr>
        <p:txBody>
          <a:bodyPr wrap="square" rtlCol="0">
            <a:spAutoFit/>
          </a:bodyPr>
          <a:lstStyle/>
          <a:p>
            <a:r>
              <a:rPr lang="fr-FR" dirty="0" smtClean="0"/>
              <a:t>Le fichier manage.py va donc vous servir à agir sur le coté serveur de votre projet. Nous allons l’utiliser dès maintenant pour démarrer notre serveur </a:t>
            </a:r>
            <a:r>
              <a:rPr lang="fr-FR" dirty="0" err="1" smtClean="0"/>
              <a:t>django</a:t>
            </a:r>
            <a:r>
              <a:rPr lang="fr-FR" dirty="0" smtClean="0"/>
              <a:t>. Pour cela nous allons passer l’argument </a:t>
            </a:r>
            <a:r>
              <a:rPr lang="fr-FR" i="1" dirty="0" err="1" smtClean="0"/>
              <a:t>runserver</a:t>
            </a:r>
            <a:r>
              <a:rPr lang="fr-FR" dirty="0" smtClean="0"/>
              <a:t> au script :</a:t>
            </a:r>
            <a:endParaRPr lang="fr-FR" dirty="0"/>
          </a:p>
        </p:txBody>
      </p:sp>
      <p:pic>
        <p:nvPicPr>
          <p:cNvPr id="3" name="Image 2"/>
          <p:cNvPicPr>
            <a:picLocks noChangeAspect="1"/>
          </p:cNvPicPr>
          <p:nvPr/>
        </p:nvPicPr>
        <p:blipFill>
          <a:blip r:embed="rId14"/>
          <a:stretch>
            <a:fillRect/>
          </a:stretch>
        </p:blipFill>
        <p:spPr>
          <a:xfrm>
            <a:off x="583051" y="2207064"/>
            <a:ext cx="10306050" cy="2638425"/>
          </a:xfrm>
          <a:prstGeom prst="rect">
            <a:avLst/>
          </a:prstGeom>
        </p:spPr>
      </p:pic>
      <p:sp>
        <p:nvSpPr>
          <p:cNvPr id="25" name="ZoneTexte 24"/>
          <p:cNvSpPr txBox="1"/>
          <p:nvPr/>
        </p:nvSpPr>
        <p:spPr>
          <a:xfrm>
            <a:off x="502572" y="4991012"/>
            <a:ext cx="11034432" cy="1754326"/>
          </a:xfrm>
          <a:prstGeom prst="rect">
            <a:avLst/>
          </a:prstGeom>
          <a:noFill/>
        </p:spPr>
        <p:txBody>
          <a:bodyPr wrap="square" rtlCol="0">
            <a:spAutoFit/>
          </a:bodyPr>
          <a:lstStyle/>
          <a:p>
            <a:r>
              <a:rPr lang="fr-FR" dirty="0" smtClean="0"/>
              <a:t>En tapant cette commande, </a:t>
            </a:r>
            <a:r>
              <a:rPr lang="fr-FR" i="1" dirty="0" smtClean="0"/>
              <a:t>python manage.py </a:t>
            </a:r>
            <a:r>
              <a:rPr lang="fr-FR" i="1" dirty="0" err="1" smtClean="0"/>
              <a:t>runserver</a:t>
            </a:r>
            <a:r>
              <a:rPr lang="fr-FR" dirty="0" smtClean="0"/>
              <a:t>, le script va démarrer un serveur web sur votre machine. La commande vous affiche ensuite certaines information notamment l’adresse à laquelle le site est </a:t>
            </a:r>
            <a:r>
              <a:rPr lang="fr-FR" dirty="0" err="1" smtClean="0"/>
              <a:t>accéssible</a:t>
            </a:r>
            <a:r>
              <a:rPr lang="fr-FR" dirty="0" smtClean="0"/>
              <a:t> : http://127.0.0.1:8000. Cela indique qu’elle est accessible sur l’adresse </a:t>
            </a:r>
            <a:r>
              <a:rPr lang="fr-FR" dirty="0" err="1" smtClean="0"/>
              <a:t>ip</a:t>
            </a:r>
            <a:r>
              <a:rPr lang="fr-FR" dirty="0" smtClean="0"/>
              <a:t> de votre ordinateur, ou alors si vous essayez d’y accéder depuis le même ordinateur, disponible à l’adresse http://localhost:8000. 8000 étant le port sur lequel le service écoute (et donc est </a:t>
            </a:r>
            <a:r>
              <a:rPr lang="fr-FR" dirty="0" err="1" smtClean="0"/>
              <a:t>accéssible</a:t>
            </a:r>
            <a:r>
              <a:rPr lang="fr-FR" dirty="0" smtClean="0"/>
              <a:t>). Vous pouvez spécifier le port en l’indiquant dans la commande </a:t>
            </a:r>
            <a:r>
              <a:rPr lang="fr-FR" dirty="0" err="1" smtClean="0"/>
              <a:t>runserver</a:t>
            </a:r>
            <a:r>
              <a:rPr lang="fr-FR" dirty="0" smtClean="0"/>
              <a:t> : </a:t>
            </a:r>
            <a:r>
              <a:rPr lang="fr-FR" i="1" dirty="0" smtClean="0"/>
              <a:t>python manage.py </a:t>
            </a:r>
            <a:r>
              <a:rPr lang="fr-FR" i="1" dirty="0" err="1" smtClean="0"/>
              <a:t>runserver</a:t>
            </a:r>
            <a:r>
              <a:rPr lang="fr-FR" i="1" dirty="0" smtClean="0"/>
              <a:t> 80</a:t>
            </a:r>
            <a:endParaRPr lang="fr-FR" dirty="0"/>
          </a:p>
        </p:txBody>
      </p:sp>
    </p:spTree>
    <p:extLst>
      <p:ext uri="{BB962C8B-B14F-4D97-AF65-F5344CB8AC3E}">
        <p14:creationId xmlns:p14="http://schemas.microsoft.com/office/powerpoint/2010/main" val="30131363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02572" y="1459149"/>
            <a:ext cx="11034432" cy="369332"/>
          </a:xfrm>
          <a:prstGeom prst="rect">
            <a:avLst/>
          </a:prstGeom>
          <a:noFill/>
        </p:spPr>
        <p:txBody>
          <a:bodyPr wrap="square" rtlCol="0">
            <a:spAutoFit/>
          </a:bodyPr>
          <a:lstStyle/>
          <a:p>
            <a:r>
              <a:rPr lang="fr-FR" dirty="0" smtClean="0"/>
              <a:t>En ayant lancé le serveur vous avez rendu accessible la page par défaut de </a:t>
            </a:r>
            <a:r>
              <a:rPr lang="fr-FR" dirty="0" err="1" smtClean="0"/>
              <a:t>django</a:t>
            </a:r>
            <a:r>
              <a:rPr lang="fr-FR" dirty="0" smtClean="0"/>
              <a:t> sur votre machine</a:t>
            </a:r>
            <a:endParaRPr lang="fr-FR" dirty="0"/>
          </a:p>
        </p:txBody>
      </p:sp>
      <p:pic>
        <p:nvPicPr>
          <p:cNvPr id="4" name="Image 3"/>
          <p:cNvPicPr>
            <a:picLocks noChangeAspect="1"/>
          </p:cNvPicPr>
          <p:nvPr/>
        </p:nvPicPr>
        <p:blipFill>
          <a:blip r:embed="rId14"/>
          <a:stretch>
            <a:fillRect/>
          </a:stretch>
        </p:blipFill>
        <p:spPr>
          <a:xfrm>
            <a:off x="1140233" y="1940549"/>
            <a:ext cx="9674260" cy="3781848"/>
          </a:xfrm>
          <a:prstGeom prst="rect">
            <a:avLst/>
          </a:prstGeom>
        </p:spPr>
      </p:pic>
      <p:sp>
        <p:nvSpPr>
          <p:cNvPr id="24" name="ZoneTexte 23"/>
          <p:cNvSpPr txBox="1"/>
          <p:nvPr/>
        </p:nvSpPr>
        <p:spPr>
          <a:xfrm>
            <a:off x="460147" y="5804171"/>
            <a:ext cx="11034432" cy="646331"/>
          </a:xfrm>
          <a:prstGeom prst="rect">
            <a:avLst/>
          </a:prstGeom>
          <a:noFill/>
        </p:spPr>
        <p:txBody>
          <a:bodyPr wrap="square" rtlCol="0">
            <a:spAutoFit/>
          </a:bodyPr>
          <a:lstStyle/>
          <a:p>
            <a:r>
              <a:rPr lang="fr-FR" dirty="0" smtClean="0"/>
              <a:t>Vous pouvez donc y accéder avec l’adresse http://localhost:8000 (ou http://localhost si vous avez comme moi lancez le serveur sur le port 80)</a:t>
            </a:r>
            <a:endParaRPr lang="fr-FR" dirty="0"/>
          </a:p>
        </p:txBody>
      </p:sp>
    </p:spTree>
    <p:extLst>
      <p:ext uri="{BB962C8B-B14F-4D97-AF65-F5344CB8AC3E}">
        <p14:creationId xmlns:p14="http://schemas.microsoft.com/office/powerpoint/2010/main" val="23940970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096030" y="2123101"/>
            <a:ext cx="8006726" cy="2554545"/>
          </a:xfrm>
          <a:prstGeom prst="rect">
            <a:avLst/>
          </a:prstGeom>
          <a:noFill/>
        </p:spPr>
        <p:txBody>
          <a:bodyPr wrap="square" rtlCol="0">
            <a:spAutoFit/>
          </a:bodyPr>
          <a:lstStyle/>
          <a:p>
            <a:pPr algn="ctr"/>
            <a:r>
              <a:rPr lang="fr-FR" sz="8000" b="1" u="sng" dirty="0" smtClean="0"/>
              <a:t>CONFIGURATION DE VOTRE PROJET</a:t>
            </a:r>
            <a:endParaRPr lang="fr-FR" sz="8000" b="1" u="sng" dirty="0"/>
          </a:p>
        </p:txBody>
      </p:sp>
    </p:spTree>
    <p:extLst>
      <p:ext uri="{BB962C8B-B14F-4D97-AF65-F5344CB8AC3E}">
        <p14:creationId xmlns:p14="http://schemas.microsoft.com/office/powerpoint/2010/main" val="22713949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02572" y="1459149"/>
            <a:ext cx="11034432" cy="923330"/>
          </a:xfrm>
          <a:prstGeom prst="rect">
            <a:avLst/>
          </a:prstGeom>
          <a:noFill/>
        </p:spPr>
        <p:txBody>
          <a:bodyPr wrap="square" rtlCol="0">
            <a:spAutoFit/>
          </a:bodyPr>
          <a:lstStyle/>
          <a:p>
            <a:r>
              <a:rPr lang="fr-FR" dirty="0" smtClean="0"/>
              <a:t>Le répertoire de votre étant mis en place nous pouvons maintenant commencer à y apporter du contenu. Ouvrez tout d’abord le répertoire de votre projet, celui contenant le fichier manage.py et le sous dossier </a:t>
            </a:r>
            <a:r>
              <a:rPr lang="fr-FR" dirty="0" err="1" smtClean="0"/>
              <a:t>monsite</a:t>
            </a:r>
            <a:r>
              <a:rPr lang="fr-FR" dirty="0" smtClean="0"/>
              <a:t>, avec votre IDE (</a:t>
            </a:r>
            <a:r>
              <a:rPr lang="fr-FR" dirty="0" err="1" smtClean="0"/>
              <a:t>Pycharm</a:t>
            </a:r>
            <a:r>
              <a:rPr lang="fr-FR" dirty="0" smtClean="0"/>
              <a:t>, </a:t>
            </a:r>
            <a:r>
              <a:rPr lang="fr-FR" dirty="0" err="1" smtClean="0"/>
              <a:t>Vscode</a:t>
            </a:r>
            <a:r>
              <a:rPr lang="fr-FR" dirty="0" smtClean="0"/>
              <a:t>, </a:t>
            </a:r>
            <a:r>
              <a:rPr lang="fr-FR" dirty="0" err="1" smtClean="0"/>
              <a:t>inteliJ</a:t>
            </a:r>
            <a:r>
              <a:rPr lang="fr-FR" dirty="0" smtClean="0"/>
              <a:t>).</a:t>
            </a:r>
            <a:endParaRPr lang="fr-FR" dirty="0"/>
          </a:p>
        </p:txBody>
      </p:sp>
      <p:pic>
        <p:nvPicPr>
          <p:cNvPr id="4" name="Image 3"/>
          <p:cNvPicPr>
            <a:picLocks noChangeAspect="1"/>
          </p:cNvPicPr>
          <p:nvPr/>
        </p:nvPicPr>
        <p:blipFill rotWithShape="1">
          <a:blip r:embed="rId14"/>
          <a:srcRect l="2634" t="17509" r="52292" b="4797"/>
          <a:stretch/>
        </p:blipFill>
        <p:spPr>
          <a:xfrm>
            <a:off x="1375371" y="2390529"/>
            <a:ext cx="3880799" cy="3762172"/>
          </a:xfrm>
          <a:prstGeom prst="rect">
            <a:avLst/>
          </a:prstGeom>
        </p:spPr>
      </p:pic>
      <p:pic>
        <p:nvPicPr>
          <p:cNvPr id="5" name="Image 4"/>
          <p:cNvPicPr>
            <a:picLocks noChangeAspect="1"/>
          </p:cNvPicPr>
          <p:nvPr/>
        </p:nvPicPr>
        <p:blipFill>
          <a:blip r:embed="rId15"/>
          <a:stretch>
            <a:fillRect/>
          </a:stretch>
        </p:blipFill>
        <p:spPr>
          <a:xfrm>
            <a:off x="6099393" y="2400017"/>
            <a:ext cx="4395580" cy="3798543"/>
          </a:xfrm>
          <a:prstGeom prst="rect">
            <a:avLst/>
          </a:prstGeom>
        </p:spPr>
      </p:pic>
    </p:spTree>
    <p:extLst>
      <p:ext uri="{BB962C8B-B14F-4D97-AF65-F5344CB8AC3E}">
        <p14:creationId xmlns:p14="http://schemas.microsoft.com/office/powerpoint/2010/main" val="18963111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02572" y="1459149"/>
            <a:ext cx="11034432" cy="1477328"/>
          </a:xfrm>
          <a:prstGeom prst="rect">
            <a:avLst/>
          </a:prstGeom>
          <a:noFill/>
        </p:spPr>
        <p:txBody>
          <a:bodyPr wrap="square" rtlCol="0">
            <a:spAutoFit/>
          </a:bodyPr>
          <a:lstStyle/>
          <a:p>
            <a:r>
              <a:rPr lang="fr-FR" dirty="0" smtClean="0"/>
              <a:t>Un projet </a:t>
            </a:r>
            <a:r>
              <a:rPr lang="fr-FR" dirty="0" err="1" smtClean="0"/>
              <a:t>django</a:t>
            </a:r>
            <a:r>
              <a:rPr lang="fr-FR" dirty="0" smtClean="0"/>
              <a:t> peut se découper en plusieurs applications en fonction de son volume. C’est pourquoi vous devez commencer par déclarer une application pour votre projet. Nous allons déclarer l’application sondage pour cet exercice d’apprentissage. Cela se passe encore une fois avec le fichier manage.py (vous pouvez utiliser votre IDE pour </a:t>
            </a:r>
            <a:r>
              <a:rPr lang="fr-FR" dirty="0" err="1" smtClean="0"/>
              <a:t>executer</a:t>
            </a:r>
            <a:r>
              <a:rPr lang="fr-FR" dirty="0" smtClean="0"/>
              <a:t> le script via le terminal). Il suffit de passer en argument du script le mot clef </a:t>
            </a:r>
            <a:r>
              <a:rPr lang="fr-FR" i="1" dirty="0" err="1" smtClean="0"/>
              <a:t>startapp</a:t>
            </a:r>
            <a:r>
              <a:rPr lang="fr-FR" dirty="0"/>
              <a:t> </a:t>
            </a:r>
            <a:r>
              <a:rPr lang="fr-FR" dirty="0" smtClean="0"/>
              <a:t>suivi du nom de l’application.</a:t>
            </a:r>
            <a:endParaRPr lang="fr-FR" dirty="0"/>
          </a:p>
        </p:txBody>
      </p:sp>
      <p:pic>
        <p:nvPicPr>
          <p:cNvPr id="4" name="Image 3"/>
          <p:cNvPicPr>
            <a:picLocks noChangeAspect="1"/>
          </p:cNvPicPr>
          <p:nvPr/>
        </p:nvPicPr>
        <p:blipFill>
          <a:blip r:embed="rId14"/>
          <a:stretch>
            <a:fillRect/>
          </a:stretch>
        </p:blipFill>
        <p:spPr>
          <a:xfrm>
            <a:off x="576924" y="3162708"/>
            <a:ext cx="5353050" cy="342900"/>
          </a:xfrm>
          <a:prstGeom prst="rect">
            <a:avLst/>
          </a:prstGeom>
        </p:spPr>
      </p:pic>
      <p:sp>
        <p:nvSpPr>
          <p:cNvPr id="5" name="Rectangle 4"/>
          <p:cNvSpPr/>
          <p:nvPr/>
        </p:nvSpPr>
        <p:spPr>
          <a:xfrm>
            <a:off x="2373549" y="3162708"/>
            <a:ext cx="812047" cy="3429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p:cNvPicPr>
            <a:picLocks noChangeAspect="1"/>
          </p:cNvPicPr>
          <p:nvPr/>
        </p:nvPicPr>
        <p:blipFill>
          <a:blip r:embed="rId15"/>
          <a:stretch>
            <a:fillRect/>
          </a:stretch>
        </p:blipFill>
        <p:spPr>
          <a:xfrm>
            <a:off x="576924" y="3776197"/>
            <a:ext cx="8020050" cy="266700"/>
          </a:xfrm>
          <a:prstGeom prst="rect">
            <a:avLst/>
          </a:prstGeom>
        </p:spPr>
      </p:pic>
      <p:sp>
        <p:nvSpPr>
          <p:cNvPr id="26" name="ZoneTexte 25"/>
          <p:cNvSpPr txBox="1"/>
          <p:nvPr/>
        </p:nvSpPr>
        <p:spPr>
          <a:xfrm>
            <a:off x="582177" y="4517659"/>
            <a:ext cx="11034432" cy="646331"/>
          </a:xfrm>
          <a:prstGeom prst="rect">
            <a:avLst/>
          </a:prstGeom>
          <a:noFill/>
        </p:spPr>
        <p:txBody>
          <a:bodyPr wrap="square" rtlCol="0">
            <a:spAutoFit/>
          </a:bodyPr>
          <a:lstStyle/>
          <a:p>
            <a:r>
              <a:rPr lang="fr-FR" dirty="0" smtClean="0"/>
              <a:t>Avec cette commande </a:t>
            </a:r>
            <a:r>
              <a:rPr lang="fr-FR" dirty="0" err="1" smtClean="0"/>
              <a:t>django</a:t>
            </a:r>
            <a:r>
              <a:rPr lang="fr-FR" dirty="0" smtClean="0"/>
              <a:t> va créer un répertoire pour votre application ainsi que tous les fichiers nécessaires. Nous verrons petit à petits chacun de ces fichiers.</a:t>
            </a:r>
            <a:endParaRPr lang="fr-FR" dirty="0"/>
          </a:p>
        </p:txBody>
      </p:sp>
    </p:spTree>
    <p:extLst>
      <p:ext uri="{BB962C8B-B14F-4D97-AF65-F5344CB8AC3E}">
        <p14:creationId xmlns:p14="http://schemas.microsoft.com/office/powerpoint/2010/main" val="17078190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02572" y="1459149"/>
            <a:ext cx="6224078" cy="369332"/>
          </a:xfrm>
          <a:prstGeom prst="rect">
            <a:avLst/>
          </a:prstGeom>
          <a:noFill/>
        </p:spPr>
        <p:txBody>
          <a:bodyPr wrap="square" rtlCol="0">
            <a:spAutoFit/>
          </a:bodyPr>
          <a:lstStyle/>
          <a:p>
            <a:r>
              <a:rPr lang="fr-FR" dirty="0" smtClean="0"/>
              <a:t>L’arborescence de votre projet devrait donc ressembler à ca :</a:t>
            </a:r>
            <a:endParaRPr lang="fr-FR" dirty="0"/>
          </a:p>
        </p:txBody>
      </p:sp>
      <p:pic>
        <p:nvPicPr>
          <p:cNvPr id="4" name="Image 3"/>
          <p:cNvPicPr>
            <a:picLocks noChangeAspect="1"/>
          </p:cNvPicPr>
          <p:nvPr/>
        </p:nvPicPr>
        <p:blipFill>
          <a:blip r:embed="rId14"/>
          <a:stretch>
            <a:fillRect/>
          </a:stretch>
        </p:blipFill>
        <p:spPr>
          <a:xfrm>
            <a:off x="6936429" y="1459149"/>
            <a:ext cx="4600575" cy="4581525"/>
          </a:xfrm>
          <a:prstGeom prst="rect">
            <a:avLst/>
          </a:prstGeom>
        </p:spPr>
      </p:pic>
      <p:sp>
        <p:nvSpPr>
          <p:cNvPr id="24" name="ZoneTexte 23"/>
          <p:cNvSpPr txBox="1"/>
          <p:nvPr/>
        </p:nvSpPr>
        <p:spPr>
          <a:xfrm>
            <a:off x="521833" y="1804535"/>
            <a:ext cx="6224078" cy="923330"/>
          </a:xfrm>
          <a:prstGeom prst="rect">
            <a:avLst/>
          </a:prstGeom>
          <a:noFill/>
        </p:spPr>
        <p:txBody>
          <a:bodyPr wrap="square" rtlCol="0">
            <a:spAutoFit/>
          </a:bodyPr>
          <a:lstStyle/>
          <a:p>
            <a:r>
              <a:rPr lang="fr-FR" dirty="0" smtClean="0"/>
              <a:t>Nous allons maintenant créer la première vue de notre application. Pour se faire nous allons éditer le fichier </a:t>
            </a:r>
            <a:r>
              <a:rPr lang="fr-FR" i="1" dirty="0" smtClean="0"/>
              <a:t>views.py</a:t>
            </a:r>
            <a:r>
              <a:rPr lang="fr-FR" dirty="0" smtClean="0"/>
              <a:t> présent dans le répertoire sondage.</a:t>
            </a:r>
            <a:endParaRPr lang="fr-FR" dirty="0"/>
          </a:p>
        </p:txBody>
      </p:sp>
      <p:sp>
        <p:nvSpPr>
          <p:cNvPr id="26" name="ZoneTexte 25"/>
          <p:cNvSpPr txBox="1"/>
          <p:nvPr/>
        </p:nvSpPr>
        <p:spPr>
          <a:xfrm>
            <a:off x="502572" y="2708256"/>
            <a:ext cx="6224078" cy="369332"/>
          </a:xfrm>
          <a:prstGeom prst="rect">
            <a:avLst/>
          </a:prstGeom>
          <a:noFill/>
        </p:spPr>
        <p:txBody>
          <a:bodyPr wrap="square" rtlCol="0">
            <a:spAutoFit/>
          </a:bodyPr>
          <a:lstStyle/>
          <a:p>
            <a:r>
              <a:rPr lang="fr-FR" b="1" dirty="0" smtClean="0"/>
              <a:t>sondage/views.py</a:t>
            </a:r>
            <a:endParaRPr lang="fr-FR" b="1" dirty="0"/>
          </a:p>
        </p:txBody>
      </p:sp>
      <p:pic>
        <p:nvPicPr>
          <p:cNvPr id="6" name="Image 5"/>
          <p:cNvPicPr>
            <a:picLocks noChangeAspect="1"/>
          </p:cNvPicPr>
          <p:nvPr/>
        </p:nvPicPr>
        <p:blipFill>
          <a:blip r:embed="rId15"/>
          <a:stretch>
            <a:fillRect/>
          </a:stretch>
        </p:blipFill>
        <p:spPr>
          <a:xfrm>
            <a:off x="577977" y="3081183"/>
            <a:ext cx="5591175" cy="1362075"/>
          </a:xfrm>
          <a:prstGeom prst="rect">
            <a:avLst/>
          </a:prstGeom>
        </p:spPr>
      </p:pic>
      <p:sp>
        <p:nvSpPr>
          <p:cNvPr id="7" name="ZoneTexte 6"/>
          <p:cNvSpPr txBox="1"/>
          <p:nvPr/>
        </p:nvSpPr>
        <p:spPr>
          <a:xfrm>
            <a:off x="502572" y="4648160"/>
            <a:ext cx="5813095" cy="1754326"/>
          </a:xfrm>
          <a:prstGeom prst="rect">
            <a:avLst/>
          </a:prstGeom>
          <a:noFill/>
        </p:spPr>
        <p:txBody>
          <a:bodyPr wrap="square" rtlCol="0">
            <a:spAutoFit/>
          </a:bodyPr>
          <a:lstStyle/>
          <a:p>
            <a:r>
              <a:rPr lang="fr-FR" dirty="0" smtClean="0"/>
              <a:t>Nous commençons par importer </a:t>
            </a:r>
            <a:r>
              <a:rPr lang="fr-FR" i="1" dirty="0" err="1" smtClean="0"/>
              <a:t>HttpResponse</a:t>
            </a:r>
            <a:r>
              <a:rPr lang="fr-FR" dirty="0" smtClean="0"/>
              <a:t> du module </a:t>
            </a:r>
            <a:r>
              <a:rPr lang="fr-FR" i="1" dirty="0" err="1" smtClean="0"/>
              <a:t>django.http</a:t>
            </a:r>
            <a:r>
              <a:rPr lang="fr-FR" dirty="0" smtClean="0"/>
              <a:t>. Cela va nous permettre d’envoyer des </a:t>
            </a:r>
            <a:r>
              <a:rPr lang="fr-FR" dirty="0" err="1" smtClean="0"/>
              <a:t>informationsà</a:t>
            </a:r>
            <a:r>
              <a:rPr lang="fr-FR" dirty="0" smtClean="0"/>
              <a:t> notre page web. Nous créons ensuite notre fonction index avec en paramètre </a:t>
            </a:r>
            <a:r>
              <a:rPr lang="fr-FR" i="1" dirty="0" err="1" smtClean="0"/>
              <a:t>request</a:t>
            </a:r>
            <a:r>
              <a:rPr lang="fr-FR" i="1" dirty="0" smtClean="0"/>
              <a:t> </a:t>
            </a:r>
            <a:r>
              <a:rPr lang="fr-FR" dirty="0" smtClean="0"/>
              <a:t>qui symbolise les informations passées lors de l’accès à la page. Cette fonction return une réponse http pour être affiché.</a:t>
            </a:r>
            <a:endParaRPr lang="fr-FR" i="1" dirty="0"/>
          </a:p>
        </p:txBody>
      </p:sp>
    </p:spTree>
    <p:extLst>
      <p:ext uri="{BB962C8B-B14F-4D97-AF65-F5344CB8AC3E}">
        <p14:creationId xmlns:p14="http://schemas.microsoft.com/office/powerpoint/2010/main" val="8209390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02572" y="1459149"/>
            <a:ext cx="11034432" cy="923330"/>
          </a:xfrm>
          <a:prstGeom prst="rect">
            <a:avLst/>
          </a:prstGeom>
          <a:noFill/>
        </p:spPr>
        <p:txBody>
          <a:bodyPr wrap="square" rtlCol="0">
            <a:spAutoFit/>
          </a:bodyPr>
          <a:lstStyle/>
          <a:p>
            <a:r>
              <a:rPr lang="fr-FR" dirty="0" smtClean="0"/>
              <a:t>Une fois notre vue créée nous devons effectuer deux actions pour la rendre disponible : tout d’abord créer un fichier </a:t>
            </a:r>
            <a:r>
              <a:rPr lang="fr-FR" i="1" dirty="0" smtClean="0"/>
              <a:t>urls.py</a:t>
            </a:r>
            <a:r>
              <a:rPr lang="fr-FR" dirty="0" smtClean="0"/>
              <a:t> dans notre application pour y renseigner l’url de notre vue puis rajouter un lien vers les </a:t>
            </a:r>
            <a:r>
              <a:rPr lang="fr-FR" dirty="0" err="1" smtClean="0"/>
              <a:t>urls</a:t>
            </a:r>
            <a:r>
              <a:rPr lang="fr-FR" dirty="0" smtClean="0"/>
              <a:t> de notre application dans le fichier </a:t>
            </a:r>
            <a:r>
              <a:rPr lang="fr-FR" i="1" dirty="0" smtClean="0"/>
              <a:t>urls.py</a:t>
            </a:r>
            <a:r>
              <a:rPr lang="fr-FR" dirty="0" smtClean="0"/>
              <a:t> de notre projet.</a:t>
            </a:r>
            <a:endParaRPr lang="fr-FR" dirty="0"/>
          </a:p>
        </p:txBody>
      </p:sp>
      <p:sp>
        <p:nvSpPr>
          <p:cNvPr id="21" name="ZoneTexte 20"/>
          <p:cNvSpPr txBox="1"/>
          <p:nvPr/>
        </p:nvSpPr>
        <p:spPr>
          <a:xfrm>
            <a:off x="502572" y="2440724"/>
            <a:ext cx="6224078" cy="369332"/>
          </a:xfrm>
          <a:prstGeom prst="rect">
            <a:avLst/>
          </a:prstGeom>
          <a:noFill/>
        </p:spPr>
        <p:txBody>
          <a:bodyPr wrap="square" rtlCol="0">
            <a:spAutoFit/>
          </a:bodyPr>
          <a:lstStyle/>
          <a:p>
            <a:r>
              <a:rPr lang="fr-FR" b="1" dirty="0" smtClean="0"/>
              <a:t>sondage/urls.py</a:t>
            </a:r>
            <a:endParaRPr lang="fr-FR" b="1" dirty="0"/>
          </a:p>
        </p:txBody>
      </p:sp>
      <p:sp>
        <p:nvSpPr>
          <p:cNvPr id="24" name="ZoneTexte 23"/>
          <p:cNvSpPr txBox="1"/>
          <p:nvPr/>
        </p:nvSpPr>
        <p:spPr>
          <a:xfrm>
            <a:off x="7089132" y="2440724"/>
            <a:ext cx="2164859" cy="369332"/>
          </a:xfrm>
          <a:prstGeom prst="rect">
            <a:avLst/>
          </a:prstGeom>
          <a:noFill/>
        </p:spPr>
        <p:txBody>
          <a:bodyPr wrap="square" rtlCol="0">
            <a:spAutoFit/>
          </a:bodyPr>
          <a:lstStyle/>
          <a:p>
            <a:r>
              <a:rPr lang="fr-FR" b="1" dirty="0" smtClean="0"/>
              <a:t>monsite/urls.py</a:t>
            </a:r>
            <a:endParaRPr lang="fr-FR" b="1" dirty="0"/>
          </a:p>
        </p:txBody>
      </p:sp>
      <p:pic>
        <p:nvPicPr>
          <p:cNvPr id="4" name="Image 3"/>
          <p:cNvPicPr>
            <a:picLocks noChangeAspect="1"/>
          </p:cNvPicPr>
          <p:nvPr/>
        </p:nvPicPr>
        <p:blipFill>
          <a:blip r:embed="rId14"/>
          <a:stretch>
            <a:fillRect/>
          </a:stretch>
        </p:blipFill>
        <p:spPr>
          <a:xfrm>
            <a:off x="519431" y="2868301"/>
            <a:ext cx="3638550" cy="1714500"/>
          </a:xfrm>
          <a:prstGeom prst="rect">
            <a:avLst/>
          </a:prstGeom>
        </p:spPr>
      </p:pic>
      <p:pic>
        <p:nvPicPr>
          <p:cNvPr id="5" name="Image 4"/>
          <p:cNvPicPr>
            <a:picLocks noChangeAspect="1"/>
          </p:cNvPicPr>
          <p:nvPr/>
        </p:nvPicPr>
        <p:blipFill>
          <a:blip r:embed="rId15"/>
          <a:stretch>
            <a:fillRect/>
          </a:stretch>
        </p:blipFill>
        <p:spPr>
          <a:xfrm>
            <a:off x="7089132" y="2868301"/>
            <a:ext cx="4200525" cy="1857375"/>
          </a:xfrm>
          <a:prstGeom prst="rect">
            <a:avLst/>
          </a:prstGeom>
        </p:spPr>
      </p:pic>
      <p:sp>
        <p:nvSpPr>
          <p:cNvPr id="26" name="ZoneTexte 25"/>
          <p:cNvSpPr txBox="1"/>
          <p:nvPr/>
        </p:nvSpPr>
        <p:spPr>
          <a:xfrm>
            <a:off x="463484" y="4791137"/>
            <a:ext cx="4538718" cy="1754326"/>
          </a:xfrm>
          <a:prstGeom prst="rect">
            <a:avLst/>
          </a:prstGeom>
          <a:noFill/>
        </p:spPr>
        <p:txBody>
          <a:bodyPr wrap="square" rtlCol="0">
            <a:spAutoFit/>
          </a:bodyPr>
          <a:lstStyle/>
          <a:p>
            <a:r>
              <a:rPr lang="fr-FR" dirty="0" smtClean="0"/>
              <a:t>Dans notre fichiers sondage/urls.py nous importons la fonction </a:t>
            </a:r>
            <a:r>
              <a:rPr lang="fr-FR" dirty="0" err="1" smtClean="0"/>
              <a:t>path</a:t>
            </a:r>
            <a:r>
              <a:rPr lang="fr-FR" dirty="0" smtClean="0"/>
              <a:t> de </a:t>
            </a:r>
            <a:r>
              <a:rPr lang="fr-FR" dirty="0" err="1" smtClean="0"/>
              <a:t>django.urls</a:t>
            </a:r>
            <a:r>
              <a:rPr lang="fr-FR" dirty="0" smtClean="0"/>
              <a:t> ainsi que le fichier </a:t>
            </a:r>
            <a:r>
              <a:rPr lang="fr-FR" dirty="0" err="1" smtClean="0"/>
              <a:t>views</a:t>
            </a:r>
            <a:r>
              <a:rPr lang="fr-FR" dirty="0" smtClean="0"/>
              <a:t> de notre répertoire courant. Nous définissons ensuite une adresse à la racine de notre application, liée a la fonctions index de notre fichier </a:t>
            </a:r>
            <a:r>
              <a:rPr lang="fr-FR" dirty="0" err="1" smtClean="0"/>
              <a:t>views</a:t>
            </a:r>
            <a:r>
              <a:rPr lang="fr-FR" dirty="0" smtClean="0"/>
              <a:t>.</a:t>
            </a:r>
            <a:endParaRPr lang="fr-FR" dirty="0"/>
          </a:p>
        </p:txBody>
      </p:sp>
      <p:sp>
        <p:nvSpPr>
          <p:cNvPr id="27" name="ZoneTexte 26"/>
          <p:cNvSpPr txBox="1"/>
          <p:nvPr/>
        </p:nvSpPr>
        <p:spPr>
          <a:xfrm>
            <a:off x="6965458" y="4751813"/>
            <a:ext cx="4447872" cy="1754326"/>
          </a:xfrm>
          <a:prstGeom prst="rect">
            <a:avLst/>
          </a:prstGeom>
          <a:noFill/>
        </p:spPr>
        <p:txBody>
          <a:bodyPr wrap="square" rtlCol="0">
            <a:spAutoFit/>
          </a:bodyPr>
          <a:lstStyle/>
          <a:p>
            <a:r>
              <a:rPr lang="fr-FR" dirty="0" smtClean="0"/>
              <a:t>Dans le fichier </a:t>
            </a:r>
            <a:r>
              <a:rPr lang="fr-FR" dirty="0" err="1" smtClean="0"/>
              <a:t>urls</a:t>
            </a:r>
            <a:r>
              <a:rPr lang="fr-FR" dirty="0" smtClean="0"/>
              <a:t> de notre projet nous ajoutons l’import d’</a:t>
            </a:r>
            <a:r>
              <a:rPr lang="fr-FR" dirty="0" err="1" smtClean="0"/>
              <a:t>include</a:t>
            </a:r>
            <a:r>
              <a:rPr lang="fr-FR" dirty="0" smtClean="0"/>
              <a:t> et nous rajoutons un liens vers </a:t>
            </a:r>
            <a:r>
              <a:rPr lang="fr-FR" dirty="0" err="1" smtClean="0"/>
              <a:t>notr</a:t>
            </a:r>
            <a:r>
              <a:rPr lang="fr-FR" dirty="0" smtClean="0"/>
              <a:t> page d’</a:t>
            </a:r>
            <a:r>
              <a:rPr lang="fr-FR" dirty="0" err="1" smtClean="0"/>
              <a:t>urls</a:t>
            </a:r>
            <a:r>
              <a:rPr lang="fr-FR" dirty="0" smtClean="0"/>
              <a:t> de notre application (</a:t>
            </a:r>
            <a:r>
              <a:rPr lang="fr-FR" dirty="0" err="1" smtClean="0"/>
              <a:t>sondage.urls</a:t>
            </a:r>
            <a:r>
              <a:rPr lang="fr-FR" dirty="0" smtClean="0"/>
              <a:t>). Toutes les adresse de la page </a:t>
            </a:r>
            <a:r>
              <a:rPr lang="fr-FR" dirty="0" err="1" smtClean="0"/>
              <a:t>urls</a:t>
            </a:r>
            <a:r>
              <a:rPr lang="fr-FR" dirty="0" smtClean="0"/>
              <a:t> de sondage seront accessible via l’url </a:t>
            </a:r>
            <a:r>
              <a:rPr lang="fr-FR" i="1" dirty="0" smtClean="0"/>
              <a:t>http://localhost/sondage/</a:t>
            </a:r>
            <a:endParaRPr lang="fr-FR" dirty="0"/>
          </a:p>
        </p:txBody>
      </p:sp>
    </p:spTree>
    <p:extLst>
      <p:ext uri="{BB962C8B-B14F-4D97-AF65-F5344CB8AC3E}">
        <p14:creationId xmlns:p14="http://schemas.microsoft.com/office/powerpoint/2010/main" val="6575448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02572" y="1459149"/>
            <a:ext cx="11034432" cy="1477328"/>
          </a:xfrm>
          <a:prstGeom prst="rect">
            <a:avLst/>
          </a:prstGeom>
          <a:noFill/>
        </p:spPr>
        <p:txBody>
          <a:bodyPr wrap="square" rtlCol="0">
            <a:spAutoFit/>
          </a:bodyPr>
          <a:lstStyle/>
          <a:p>
            <a:r>
              <a:rPr lang="fr-FR" dirty="0" smtClean="0"/>
              <a:t>Nous pouvons donc maintenant accéder à la page que nous avons créé via l’url </a:t>
            </a:r>
            <a:r>
              <a:rPr lang="fr-FR" i="1" dirty="0" smtClean="0"/>
              <a:t>http://localhost/sondage.</a:t>
            </a:r>
          </a:p>
          <a:p>
            <a:r>
              <a:rPr lang="fr-FR" dirty="0" smtClean="0"/>
              <a:t>Pensez bien a démarrer votre serveur si ce n’est pas déjà fait (</a:t>
            </a:r>
            <a:r>
              <a:rPr lang="fr-FR" i="1" dirty="0" smtClean="0"/>
              <a:t>python manage.py </a:t>
            </a:r>
            <a:r>
              <a:rPr lang="fr-FR" i="1" dirty="0" err="1" smtClean="0"/>
              <a:t>runserver</a:t>
            </a:r>
            <a:r>
              <a:rPr lang="fr-FR" i="1" dirty="0" smtClean="0"/>
              <a:t> 80)</a:t>
            </a:r>
          </a:p>
          <a:p>
            <a:r>
              <a:rPr lang="fr-FR" dirty="0" smtClean="0"/>
              <a:t>Lorsque vous accédez à http://localhost/ </a:t>
            </a:r>
            <a:r>
              <a:rPr lang="fr-FR" dirty="0" err="1" smtClean="0"/>
              <a:t>django</a:t>
            </a:r>
            <a:r>
              <a:rPr lang="fr-FR" dirty="0" smtClean="0"/>
              <a:t> va regarder l’</a:t>
            </a:r>
            <a:r>
              <a:rPr lang="fr-FR" dirty="0" err="1" smtClean="0"/>
              <a:t>urlconf</a:t>
            </a:r>
            <a:r>
              <a:rPr lang="fr-FR" dirty="0" smtClean="0"/>
              <a:t> (fichier urls.py) de votre projet. Dedans vous y avez indiqué qu’au chemin /sondage est associé l’</a:t>
            </a:r>
            <a:r>
              <a:rPr lang="fr-FR" dirty="0" err="1" smtClean="0"/>
              <a:t>urlconf</a:t>
            </a:r>
            <a:r>
              <a:rPr lang="fr-FR" dirty="0" smtClean="0"/>
              <a:t> de l’application sondage. Dans l’</a:t>
            </a:r>
            <a:r>
              <a:rPr lang="fr-FR" dirty="0" err="1" smtClean="0"/>
              <a:t>urlconf</a:t>
            </a:r>
            <a:r>
              <a:rPr lang="fr-FR" dirty="0" smtClean="0"/>
              <a:t> de l’application sondage vous avez indiqué que la racine (« ’’ ») est associé à la fonction index de vos vues (fichier views.py).</a:t>
            </a:r>
            <a:endParaRPr lang="fr-FR" dirty="0"/>
          </a:p>
        </p:txBody>
      </p:sp>
      <p:pic>
        <p:nvPicPr>
          <p:cNvPr id="4" name="Image 3"/>
          <p:cNvPicPr>
            <a:picLocks noChangeAspect="1"/>
          </p:cNvPicPr>
          <p:nvPr/>
        </p:nvPicPr>
        <p:blipFill>
          <a:blip r:embed="rId14"/>
          <a:stretch>
            <a:fillRect/>
          </a:stretch>
        </p:blipFill>
        <p:spPr>
          <a:xfrm>
            <a:off x="2256469" y="2967866"/>
            <a:ext cx="6804132" cy="3580136"/>
          </a:xfrm>
          <a:prstGeom prst="rect">
            <a:avLst/>
          </a:prstGeom>
        </p:spPr>
      </p:pic>
    </p:spTree>
    <p:extLst>
      <p:ext uri="{BB962C8B-B14F-4D97-AF65-F5344CB8AC3E}">
        <p14:creationId xmlns:p14="http://schemas.microsoft.com/office/powerpoint/2010/main" val="2747885458"/>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3858</TotalTime>
  <Words>1308</Words>
  <Application>Microsoft Office PowerPoint</Application>
  <PresentationFormat>Grand écran</PresentationFormat>
  <Paragraphs>88</Paragraphs>
  <Slides>17</Slides>
  <Notes>17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chretienne jerome</dc:creator>
  <cp:lastModifiedBy>Maxime PRZYBYLO</cp:lastModifiedBy>
  <cp:revision>287</cp:revision>
  <dcterms:created xsi:type="dcterms:W3CDTF">2016-05-20T16:12:03Z</dcterms:created>
  <dcterms:modified xsi:type="dcterms:W3CDTF">2022-03-10T13:48:20Z</dcterms:modified>
</cp:coreProperties>
</file>