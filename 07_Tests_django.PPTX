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0"/>
  </p:notesMasterIdLst>
  <p:sldIdLst>
    <p:sldId id="275" r:id="rId2"/>
    <p:sldId id="315" r:id="rId3"/>
    <p:sldId id="317" r:id="rId4"/>
    <p:sldId id="318" r:id="rId5"/>
    <p:sldId id="321" r:id="rId6"/>
    <p:sldId id="322" r:id="rId7"/>
    <p:sldId id="323" r:id="rId8"/>
    <p:sldId id="324" r:id="rId9"/>
    <p:sldId id="325" r:id="rId10"/>
    <p:sldId id="326" r:id="rId11"/>
    <p:sldId id="328" r:id="rId12"/>
    <p:sldId id="329" r:id="rId13"/>
    <p:sldId id="330" r:id="rId14"/>
    <p:sldId id="331" r:id="rId15"/>
    <p:sldId id="327" r:id="rId16"/>
    <p:sldId id="332" r:id="rId17"/>
    <p:sldId id="333" r:id="rId18"/>
    <p:sldId id="334" r:id="rId19"/>
  </p:sldIdLst>
  <p:sldSz cx="12192000" cy="6858000"/>
  <p:notesSz cx="6808788" cy="9940925"/>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Maxime PRZYBYLO" initials="MP" lastIdx="2" clrIdx="0">
    <p:extLst>
      <p:ext uri="{19B8F6BF-5375-455C-9EA6-DF929625EA0E}">
        <p15:presenceInfo xmlns:p15="http://schemas.microsoft.com/office/powerpoint/2012/main" userId="Maxime PRZYBYLO"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A2F1"/>
    <a:srgbClr val="D5D5D5"/>
    <a:srgbClr val="A162D0"/>
    <a:srgbClr val="FFFBF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66" autoAdjust="0"/>
    <p:restoredTop sz="90909" autoAdjust="0"/>
  </p:normalViewPr>
  <p:slideViewPr>
    <p:cSldViewPr snapToGrid="0">
      <p:cViewPr varScale="1">
        <p:scale>
          <a:sx n="80" d="100"/>
          <a:sy n="80" d="100"/>
        </p:scale>
        <p:origin x="739" y="48"/>
      </p:cViewPr>
      <p:guideLst>
        <p:guide orient="horz" pos="2160"/>
        <p:guide pos="3840"/>
      </p:guideLst>
    </p:cSldViewPr>
  </p:slideViewPr>
  <p:outlineViewPr>
    <p:cViewPr>
      <p:scale>
        <a:sx n="33" d="100"/>
        <a:sy n="33" d="100"/>
      </p:scale>
      <p:origin x="0" y="0"/>
    </p:cViewPr>
  </p:outlin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commentAuthors" Target="commentAuthor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50475" cy="497046"/>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56737" y="0"/>
            <a:ext cx="2950475" cy="497046"/>
          </a:xfrm>
          <a:prstGeom prst="rect">
            <a:avLst/>
          </a:prstGeom>
        </p:spPr>
        <p:txBody>
          <a:bodyPr vert="horz" lIns="91440" tIns="45720" rIns="91440" bIns="45720" rtlCol="0"/>
          <a:lstStyle>
            <a:lvl1pPr algn="r">
              <a:defRPr sz="1200"/>
            </a:lvl1pPr>
          </a:lstStyle>
          <a:p>
            <a:fld id="{1C17683B-26D8-724E-89B0-02249384450D}" type="datetimeFigureOut">
              <a:rPr lang="fr-FR" smtClean="0"/>
              <a:t>18/03/2022</a:t>
            </a:fld>
            <a:endParaRPr lang="fr-FR"/>
          </a:p>
        </p:txBody>
      </p:sp>
      <p:sp>
        <p:nvSpPr>
          <p:cNvPr id="4" name="Espace réservé de l'image des diapositives 3"/>
          <p:cNvSpPr>
            <a:spLocks noGrp="1" noRot="1" noChangeAspect="1"/>
          </p:cNvSpPr>
          <p:nvPr>
            <p:ph type="sldImg" idx="2"/>
          </p:nvPr>
        </p:nvSpPr>
        <p:spPr>
          <a:xfrm>
            <a:off x="92075" y="746125"/>
            <a:ext cx="6624638" cy="372745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commentaires 4"/>
          <p:cNvSpPr>
            <a:spLocks noGrp="1"/>
          </p:cNvSpPr>
          <p:nvPr>
            <p:ph type="body" sz="quarter" idx="3"/>
          </p:nvPr>
        </p:nvSpPr>
        <p:spPr>
          <a:xfrm>
            <a:off x="680879" y="4721940"/>
            <a:ext cx="5447030" cy="4473416"/>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9442154"/>
            <a:ext cx="2950475" cy="497046"/>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56737" y="9442154"/>
            <a:ext cx="2950475" cy="497046"/>
          </a:xfrm>
          <a:prstGeom prst="rect">
            <a:avLst/>
          </a:prstGeom>
        </p:spPr>
        <p:txBody>
          <a:bodyPr vert="horz" lIns="91440" tIns="45720" rIns="91440" bIns="45720" rtlCol="0" anchor="b"/>
          <a:lstStyle>
            <a:lvl1pPr algn="r">
              <a:defRPr sz="1200"/>
            </a:lvl1pPr>
          </a:lstStyle>
          <a:p>
            <a:fld id="{80B64375-EE74-1B43-ADD9-C3016E9127A8}" type="slidenum">
              <a:rPr lang="fr-FR" smtClean="0"/>
              <a:t>‹N°›</a:t>
            </a:fld>
            <a:endParaRPr lang="fr-FR"/>
          </a:p>
        </p:txBody>
      </p:sp>
    </p:spTree>
    <p:extLst>
      <p:ext uri="{BB962C8B-B14F-4D97-AF65-F5344CB8AC3E}">
        <p14:creationId xmlns:p14="http://schemas.microsoft.com/office/powerpoint/2010/main" val="2881303511"/>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10"/>
          </p:nvPr>
        </p:nvSpPr>
        <p:spPr/>
        <p:txBody>
          <a:bodyPr/>
          <a:lstStyle/>
          <a:p>
            <a:fld id="{80B64375-EE74-1B43-ADD9-C3016E9127A8}" type="slidenum">
              <a:rPr lang="fr-FR" smtClean="0"/>
              <a:t>1</a:t>
            </a:fld>
            <a:endParaRPr lang="fr-FR"/>
          </a:p>
        </p:txBody>
      </p:sp>
    </p:spTree>
    <p:extLst>
      <p:ext uri="{BB962C8B-B14F-4D97-AF65-F5344CB8AC3E}">
        <p14:creationId xmlns:p14="http://schemas.microsoft.com/office/powerpoint/2010/main" val="212171224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r>
              <a:rPr lang="fr-FR" dirty="0" smtClean="0"/>
              <a:t>Django est un </a:t>
            </a:r>
            <a:r>
              <a:rPr lang="fr-FR" dirty="0" err="1" smtClean="0"/>
              <a:t>framework</a:t>
            </a:r>
            <a:r>
              <a:rPr lang="fr-FR" dirty="0" smtClean="0"/>
              <a:t> web gratuit et open source écrit</a:t>
            </a:r>
            <a:r>
              <a:rPr lang="fr-FR" baseline="0" dirty="0" smtClean="0"/>
              <a:t> en python. </a:t>
            </a:r>
            <a:r>
              <a:rPr lang="fr-FR" sz="1200" b="0" i="0" kern="1200" dirty="0" smtClean="0">
                <a:solidFill>
                  <a:schemeClr val="tx1"/>
                </a:solidFill>
                <a:effectLst/>
                <a:latin typeface="+mn-lt"/>
                <a:ea typeface="+mn-ea"/>
                <a:cs typeface="+mn-cs"/>
              </a:rPr>
              <a:t>Un </a:t>
            </a:r>
            <a:r>
              <a:rPr lang="fr-FR" sz="1200" b="0" i="0" kern="1200" dirty="0" err="1" smtClean="0">
                <a:solidFill>
                  <a:schemeClr val="tx1"/>
                </a:solidFill>
                <a:effectLst/>
                <a:latin typeface="+mn-lt"/>
                <a:ea typeface="+mn-ea"/>
                <a:cs typeface="+mn-cs"/>
              </a:rPr>
              <a:t>framework</a:t>
            </a:r>
            <a:r>
              <a:rPr lang="fr-FR" sz="1200" b="0" i="0" kern="1200" dirty="0" smtClean="0">
                <a:solidFill>
                  <a:schemeClr val="tx1"/>
                </a:solidFill>
                <a:effectLst/>
                <a:latin typeface="+mn-lt"/>
                <a:ea typeface="+mn-ea"/>
                <a:cs typeface="+mn-cs"/>
              </a:rPr>
              <a:t> web est un ensemble de composants qui vous aide à développer des sites web plus rapidement et plus facilement. Cela permet de ne</a:t>
            </a:r>
            <a:r>
              <a:rPr lang="fr-FR" sz="1200" b="0" i="0" kern="1200" baseline="0" dirty="0" smtClean="0">
                <a:solidFill>
                  <a:schemeClr val="tx1"/>
                </a:solidFill>
                <a:effectLst/>
                <a:latin typeface="+mn-lt"/>
                <a:ea typeface="+mn-ea"/>
                <a:cs typeface="+mn-cs"/>
              </a:rPr>
              <a:t> pas avoir à </a:t>
            </a:r>
            <a:r>
              <a:rPr lang="fr-FR" sz="1200" b="0" i="0" kern="1200" baseline="0" dirty="0" err="1" smtClean="0">
                <a:solidFill>
                  <a:schemeClr val="tx1"/>
                </a:solidFill>
                <a:effectLst/>
                <a:latin typeface="+mn-lt"/>
                <a:ea typeface="+mn-ea"/>
                <a:cs typeface="+mn-cs"/>
              </a:rPr>
              <a:t>re</a:t>
            </a:r>
            <a:r>
              <a:rPr lang="fr-FR" sz="1200" b="0" i="0" kern="1200" baseline="0" dirty="0" smtClean="0">
                <a:solidFill>
                  <a:schemeClr val="tx1"/>
                </a:solidFill>
                <a:effectLst/>
                <a:latin typeface="+mn-lt"/>
                <a:ea typeface="+mn-ea"/>
                <a:cs typeface="+mn-cs"/>
              </a:rPr>
              <a:t> coder la roue, mais d’utiliser les outils du </a:t>
            </a:r>
            <a:r>
              <a:rPr lang="fr-FR" sz="1200" b="0" i="0" kern="1200" baseline="0" dirty="0" err="1" smtClean="0">
                <a:solidFill>
                  <a:schemeClr val="tx1"/>
                </a:solidFill>
                <a:effectLst/>
                <a:latin typeface="+mn-lt"/>
                <a:ea typeface="+mn-ea"/>
                <a:cs typeface="+mn-cs"/>
              </a:rPr>
              <a:t>framework</a:t>
            </a:r>
            <a:r>
              <a:rPr lang="fr-FR" sz="1200" b="0" i="0" kern="1200" baseline="0" dirty="0" smtClean="0">
                <a:solidFill>
                  <a:schemeClr val="tx1"/>
                </a:solidFill>
                <a:effectLst/>
                <a:latin typeface="+mn-lt"/>
                <a:ea typeface="+mn-ea"/>
                <a:cs typeface="+mn-cs"/>
              </a:rPr>
              <a:t> pour le faire.</a:t>
            </a:r>
            <a:endParaRPr lang="fr-FR" dirty="0" smtClean="0"/>
          </a:p>
        </p:txBody>
      </p:sp>
      <p:sp>
        <p:nvSpPr>
          <p:cNvPr id="4" name="Espace réservé du numéro de diapositive 3"/>
          <p:cNvSpPr>
            <a:spLocks noGrp="1"/>
          </p:cNvSpPr>
          <p:nvPr>
            <p:ph type="sldNum" sz="quarter" idx="10"/>
          </p:nvPr>
        </p:nvSpPr>
        <p:spPr/>
        <p:txBody>
          <a:bodyPr/>
          <a:lstStyle/>
          <a:p>
            <a:fld id="{80B64375-EE74-1B43-ADD9-C3016E9127A8}" type="slidenum">
              <a:rPr lang="fr-FR" smtClean="0"/>
              <a:t>2</a:t>
            </a:fld>
            <a:endParaRPr lang="fr-FR"/>
          </a:p>
        </p:txBody>
      </p:sp>
    </p:spTree>
    <p:extLst>
      <p:ext uri="{BB962C8B-B14F-4D97-AF65-F5344CB8AC3E}">
        <p14:creationId xmlns:p14="http://schemas.microsoft.com/office/powerpoint/2010/main" val="365496379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10"/>
          </p:nvPr>
        </p:nvSpPr>
        <p:spPr/>
        <p:txBody>
          <a:bodyPr/>
          <a:lstStyle/>
          <a:p>
            <a:fld id="{80B64375-EE74-1B43-ADD9-C3016E9127A8}" type="slidenum">
              <a:rPr lang="fr-FR" smtClean="0"/>
              <a:t>3</a:t>
            </a:fld>
            <a:endParaRPr lang="fr-FR"/>
          </a:p>
        </p:txBody>
      </p:sp>
    </p:spTree>
    <p:extLst>
      <p:ext uri="{BB962C8B-B14F-4D97-AF65-F5344CB8AC3E}">
        <p14:creationId xmlns:p14="http://schemas.microsoft.com/office/powerpoint/2010/main" val="182207759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10"/>
          </p:nvPr>
        </p:nvSpPr>
        <p:spPr/>
        <p:txBody>
          <a:bodyPr/>
          <a:lstStyle/>
          <a:p>
            <a:fld id="{80B64375-EE74-1B43-ADD9-C3016E9127A8}" type="slidenum">
              <a:rPr lang="fr-FR" smtClean="0"/>
              <a:t>4</a:t>
            </a:fld>
            <a:endParaRPr lang="fr-FR"/>
          </a:p>
        </p:txBody>
      </p:sp>
    </p:spTree>
    <p:extLst>
      <p:ext uri="{BB962C8B-B14F-4D97-AF65-F5344CB8AC3E}">
        <p14:creationId xmlns:p14="http://schemas.microsoft.com/office/powerpoint/2010/main" val="58828749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10"/>
          </p:nvPr>
        </p:nvSpPr>
        <p:spPr/>
        <p:txBody>
          <a:bodyPr/>
          <a:lstStyle/>
          <a:p>
            <a:fld id="{80B64375-EE74-1B43-ADD9-C3016E9127A8}" type="slidenum">
              <a:rPr lang="fr-FR" smtClean="0"/>
              <a:t>5</a:t>
            </a:fld>
            <a:endParaRPr lang="fr-FR"/>
          </a:p>
        </p:txBody>
      </p:sp>
    </p:spTree>
    <p:extLst>
      <p:ext uri="{BB962C8B-B14F-4D97-AF65-F5344CB8AC3E}">
        <p14:creationId xmlns:p14="http://schemas.microsoft.com/office/powerpoint/2010/main" val="379304043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10"/>
          </p:nvPr>
        </p:nvSpPr>
        <p:spPr/>
        <p:txBody>
          <a:bodyPr/>
          <a:lstStyle/>
          <a:p>
            <a:fld id="{80B64375-EE74-1B43-ADD9-C3016E9127A8}" type="slidenum">
              <a:rPr lang="fr-FR" smtClean="0"/>
              <a:t>6</a:t>
            </a:fld>
            <a:endParaRPr lang="fr-FR"/>
          </a:p>
        </p:txBody>
      </p:sp>
    </p:spTree>
    <p:extLst>
      <p:ext uri="{BB962C8B-B14F-4D97-AF65-F5344CB8AC3E}">
        <p14:creationId xmlns:p14="http://schemas.microsoft.com/office/powerpoint/2010/main" val="46627565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10"/>
          </p:nvPr>
        </p:nvSpPr>
        <p:spPr/>
        <p:txBody>
          <a:bodyPr/>
          <a:lstStyle/>
          <a:p>
            <a:fld id="{80B64375-EE74-1B43-ADD9-C3016E9127A8}" type="slidenum">
              <a:rPr lang="fr-FR" smtClean="0"/>
              <a:t>7</a:t>
            </a:fld>
            <a:endParaRPr lang="fr-FR"/>
          </a:p>
        </p:txBody>
      </p:sp>
    </p:spTree>
    <p:extLst>
      <p:ext uri="{BB962C8B-B14F-4D97-AF65-F5344CB8AC3E}">
        <p14:creationId xmlns:p14="http://schemas.microsoft.com/office/powerpoint/2010/main" val="214815550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10"/>
          </p:nvPr>
        </p:nvSpPr>
        <p:spPr/>
        <p:txBody>
          <a:bodyPr/>
          <a:lstStyle/>
          <a:p>
            <a:fld id="{80B64375-EE74-1B43-ADD9-C3016E9127A8}" type="slidenum">
              <a:rPr lang="fr-FR" smtClean="0"/>
              <a:t>8</a:t>
            </a:fld>
            <a:endParaRPr lang="fr-FR"/>
          </a:p>
        </p:txBody>
      </p:sp>
    </p:spTree>
    <p:extLst>
      <p:ext uri="{BB962C8B-B14F-4D97-AF65-F5344CB8AC3E}">
        <p14:creationId xmlns:p14="http://schemas.microsoft.com/office/powerpoint/2010/main" val="321158429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10"/>
          </p:nvPr>
        </p:nvSpPr>
        <p:spPr/>
        <p:txBody>
          <a:bodyPr/>
          <a:lstStyle/>
          <a:p>
            <a:fld id="{80B64375-EE74-1B43-ADD9-C3016E9127A8}" type="slidenum">
              <a:rPr lang="fr-FR" smtClean="0"/>
              <a:t>9</a:t>
            </a:fld>
            <a:endParaRPr lang="fr-FR"/>
          </a:p>
        </p:txBody>
      </p:sp>
    </p:spTree>
    <p:extLst>
      <p:ext uri="{BB962C8B-B14F-4D97-AF65-F5344CB8AC3E}">
        <p14:creationId xmlns:p14="http://schemas.microsoft.com/office/powerpoint/2010/main" val="145878501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10"/>
          </p:nvPr>
        </p:nvSpPr>
        <p:spPr/>
        <p:txBody>
          <a:bodyPr/>
          <a:lstStyle/>
          <a:p>
            <a:fld id="{80B64375-EE74-1B43-ADD9-C3016E9127A8}" type="slidenum">
              <a:rPr lang="fr-FR" smtClean="0"/>
              <a:t>10</a:t>
            </a:fld>
            <a:endParaRPr lang="fr-FR"/>
          </a:p>
        </p:txBody>
      </p:sp>
    </p:spTree>
    <p:extLst>
      <p:ext uri="{BB962C8B-B14F-4D97-AF65-F5344CB8AC3E}">
        <p14:creationId xmlns:p14="http://schemas.microsoft.com/office/powerpoint/2010/main" val="207602718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10"/>
          </p:nvPr>
        </p:nvSpPr>
        <p:spPr/>
        <p:txBody>
          <a:bodyPr/>
          <a:lstStyle/>
          <a:p>
            <a:fld id="{80B64375-EE74-1B43-ADD9-C3016E9127A8}" type="slidenum">
              <a:rPr lang="fr-FR" smtClean="0"/>
              <a:t>11</a:t>
            </a:fld>
            <a:endParaRPr lang="fr-FR"/>
          </a:p>
        </p:txBody>
      </p:sp>
    </p:spTree>
    <p:extLst>
      <p:ext uri="{BB962C8B-B14F-4D97-AF65-F5344CB8AC3E}">
        <p14:creationId xmlns:p14="http://schemas.microsoft.com/office/powerpoint/2010/main" val="88651269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10"/>
          </p:nvPr>
        </p:nvSpPr>
        <p:spPr/>
        <p:txBody>
          <a:bodyPr/>
          <a:lstStyle/>
          <a:p>
            <a:fld id="{80B64375-EE74-1B43-ADD9-C3016E9127A8}" type="slidenum">
              <a:rPr lang="fr-FR" smtClean="0"/>
              <a:t>12</a:t>
            </a:fld>
            <a:endParaRPr lang="fr-FR"/>
          </a:p>
        </p:txBody>
      </p:sp>
    </p:spTree>
    <p:extLst>
      <p:ext uri="{BB962C8B-B14F-4D97-AF65-F5344CB8AC3E}">
        <p14:creationId xmlns:p14="http://schemas.microsoft.com/office/powerpoint/2010/main" val="316435033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10"/>
          </p:nvPr>
        </p:nvSpPr>
        <p:spPr/>
        <p:txBody>
          <a:bodyPr/>
          <a:lstStyle/>
          <a:p>
            <a:fld id="{80B64375-EE74-1B43-ADD9-C3016E9127A8}" type="slidenum">
              <a:rPr lang="fr-FR" smtClean="0"/>
              <a:t>13</a:t>
            </a:fld>
            <a:endParaRPr lang="fr-FR"/>
          </a:p>
        </p:txBody>
      </p:sp>
    </p:spTree>
    <p:extLst>
      <p:ext uri="{BB962C8B-B14F-4D97-AF65-F5344CB8AC3E}">
        <p14:creationId xmlns:p14="http://schemas.microsoft.com/office/powerpoint/2010/main" val="390655500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10"/>
          </p:nvPr>
        </p:nvSpPr>
        <p:spPr/>
        <p:txBody>
          <a:bodyPr/>
          <a:lstStyle/>
          <a:p>
            <a:fld id="{80B64375-EE74-1B43-ADD9-C3016E9127A8}" type="slidenum">
              <a:rPr lang="fr-FR" smtClean="0"/>
              <a:t>14</a:t>
            </a:fld>
            <a:endParaRPr lang="fr-FR"/>
          </a:p>
        </p:txBody>
      </p:sp>
    </p:spTree>
    <p:extLst>
      <p:ext uri="{BB962C8B-B14F-4D97-AF65-F5344CB8AC3E}">
        <p14:creationId xmlns:p14="http://schemas.microsoft.com/office/powerpoint/2010/main" val="143354843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10"/>
          </p:nvPr>
        </p:nvSpPr>
        <p:spPr/>
        <p:txBody>
          <a:bodyPr/>
          <a:lstStyle/>
          <a:p>
            <a:fld id="{80B64375-EE74-1B43-ADD9-C3016E9127A8}" type="slidenum">
              <a:rPr lang="fr-FR" smtClean="0"/>
              <a:t>15</a:t>
            </a:fld>
            <a:endParaRPr lang="fr-FR"/>
          </a:p>
        </p:txBody>
      </p:sp>
    </p:spTree>
    <p:extLst>
      <p:ext uri="{BB962C8B-B14F-4D97-AF65-F5344CB8AC3E}">
        <p14:creationId xmlns:p14="http://schemas.microsoft.com/office/powerpoint/2010/main" val="152797224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10"/>
          </p:nvPr>
        </p:nvSpPr>
        <p:spPr/>
        <p:txBody>
          <a:bodyPr/>
          <a:lstStyle/>
          <a:p>
            <a:fld id="{80B64375-EE74-1B43-ADD9-C3016E9127A8}" type="slidenum">
              <a:rPr lang="fr-FR" smtClean="0"/>
              <a:t>16</a:t>
            </a:fld>
            <a:endParaRPr lang="fr-FR"/>
          </a:p>
        </p:txBody>
      </p:sp>
    </p:spTree>
    <p:extLst>
      <p:ext uri="{BB962C8B-B14F-4D97-AF65-F5344CB8AC3E}">
        <p14:creationId xmlns:p14="http://schemas.microsoft.com/office/powerpoint/2010/main" val="134173619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10"/>
          </p:nvPr>
        </p:nvSpPr>
        <p:spPr/>
        <p:txBody>
          <a:bodyPr/>
          <a:lstStyle/>
          <a:p>
            <a:fld id="{80B64375-EE74-1B43-ADD9-C3016E9127A8}" type="slidenum">
              <a:rPr lang="fr-FR" smtClean="0"/>
              <a:t>17</a:t>
            </a:fld>
            <a:endParaRPr lang="fr-FR"/>
          </a:p>
        </p:txBody>
      </p:sp>
    </p:spTree>
    <p:extLst>
      <p:ext uri="{BB962C8B-B14F-4D97-AF65-F5344CB8AC3E}">
        <p14:creationId xmlns:p14="http://schemas.microsoft.com/office/powerpoint/2010/main" val="383796931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10"/>
          </p:nvPr>
        </p:nvSpPr>
        <p:spPr/>
        <p:txBody>
          <a:bodyPr/>
          <a:lstStyle/>
          <a:p>
            <a:fld id="{80B64375-EE74-1B43-ADD9-C3016E9127A8}" type="slidenum">
              <a:rPr lang="fr-FR" smtClean="0"/>
              <a:t>18</a:t>
            </a:fld>
            <a:endParaRPr lang="fr-FR"/>
          </a:p>
        </p:txBody>
      </p:sp>
    </p:spTree>
    <p:extLst>
      <p:ext uri="{BB962C8B-B14F-4D97-AF65-F5344CB8AC3E}">
        <p14:creationId xmlns:p14="http://schemas.microsoft.com/office/powerpoint/2010/main" val="52791445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p:cNvSpPr>
            <a:spLocks noGrp="1"/>
          </p:cNvSpPr>
          <p:nvPr>
            <p:ph type="ctrTitle"/>
          </p:nvPr>
        </p:nvSpPr>
        <p:spPr>
          <a:xfrm>
            <a:off x="1524000" y="1122363"/>
            <a:ext cx="9144000" cy="2387600"/>
          </a:xfrm>
        </p:spPr>
        <p:txBody>
          <a:bodyPr anchor="b"/>
          <a:lstStyle>
            <a:lvl1pPr algn="ctr">
              <a:defRPr sz="6000"/>
            </a:lvl1pPr>
          </a:lstStyle>
          <a:p>
            <a:r>
              <a:rPr lang="fr-FR"/>
              <a:t>Modifiez le style du titre</a:t>
            </a:r>
          </a:p>
        </p:txBody>
      </p:sp>
      <p:sp>
        <p:nvSpPr>
          <p:cNvPr id="3" name="Sous-titr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p>
        </p:txBody>
      </p:sp>
      <p:sp>
        <p:nvSpPr>
          <p:cNvPr id="4" name="Espace réservé de la date 3"/>
          <p:cNvSpPr>
            <a:spLocks noGrp="1"/>
          </p:cNvSpPr>
          <p:nvPr>
            <p:ph type="dt" sz="half" idx="10"/>
          </p:nvPr>
        </p:nvSpPr>
        <p:spPr/>
        <p:txBody>
          <a:bodyPr/>
          <a:lstStyle/>
          <a:p>
            <a:fld id="{59C091AA-3F0C-4182-9D7B-1EB634D8256B}" type="datetimeFigureOut">
              <a:rPr lang="fr-FR" smtClean="0"/>
              <a:t>18/03/2022</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A025B0E8-7D99-4688-B6D3-8DC5133195E9}" type="slidenum">
              <a:rPr lang="fr-FR" smtClean="0"/>
              <a:t>‹N°›</a:t>
            </a:fld>
            <a:endParaRPr lang="fr-FR"/>
          </a:p>
        </p:txBody>
      </p:sp>
    </p:spTree>
    <p:extLst>
      <p:ext uri="{BB962C8B-B14F-4D97-AF65-F5344CB8AC3E}">
        <p14:creationId xmlns:p14="http://schemas.microsoft.com/office/powerpoint/2010/main" val="279645557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p>
        </p:txBody>
      </p:sp>
      <p:sp>
        <p:nvSpPr>
          <p:cNvPr id="3" name="Espace réservé du contenu 2"/>
          <p:cNvSpPr>
            <a:spLocks noGrp="1"/>
          </p:cNvSpPr>
          <p:nvPr>
            <p:ph idx="1"/>
          </p:nvPr>
        </p:nvSpPr>
        <p:spPr/>
        <p:txBody>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10"/>
          </p:nvPr>
        </p:nvSpPr>
        <p:spPr/>
        <p:txBody>
          <a:bodyPr/>
          <a:lstStyle/>
          <a:p>
            <a:fld id="{59C091AA-3F0C-4182-9D7B-1EB634D8256B}" type="datetimeFigureOut">
              <a:rPr lang="fr-FR" smtClean="0"/>
              <a:t>18/03/2022</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A025B0E8-7D99-4688-B6D3-8DC5133195E9}" type="slidenum">
              <a:rPr lang="fr-FR" smtClean="0"/>
              <a:t>‹N°›</a:t>
            </a:fld>
            <a:endParaRPr lang="fr-FR"/>
          </a:p>
        </p:txBody>
      </p:sp>
    </p:spTree>
    <p:extLst>
      <p:ext uri="{BB962C8B-B14F-4D97-AF65-F5344CB8AC3E}">
        <p14:creationId xmlns:p14="http://schemas.microsoft.com/office/powerpoint/2010/main" val="214232920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p:cNvSpPr>
            <a:spLocks noGrp="1"/>
          </p:cNvSpPr>
          <p:nvPr>
            <p:ph type="title"/>
          </p:nvPr>
        </p:nvSpPr>
        <p:spPr>
          <a:xfrm>
            <a:off x="831850" y="1709738"/>
            <a:ext cx="10515600" cy="2852737"/>
          </a:xfrm>
        </p:spPr>
        <p:txBody>
          <a:bodyPr anchor="b"/>
          <a:lstStyle>
            <a:lvl1pPr>
              <a:defRPr sz="6000"/>
            </a:lvl1pPr>
          </a:lstStyle>
          <a:p>
            <a:r>
              <a:rPr lang="fr-FR"/>
              <a:t>Modifiez le style du titre</a:t>
            </a:r>
          </a:p>
        </p:txBody>
      </p:sp>
      <p:sp>
        <p:nvSpPr>
          <p:cNvPr id="3" name="Espace réservé du texte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fr-FR"/>
              <a:t>Modifiez les styles du texte du masque</a:t>
            </a:r>
          </a:p>
        </p:txBody>
      </p:sp>
      <p:sp>
        <p:nvSpPr>
          <p:cNvPr id="4" name="Espace réservé de la date 3"/>
          <p:cNvSpPr>
            <a:spLocks noGrp="1"/>
          </p:cNvSpPr>
          <p:nvPr>
            <p:ph type="dt" sz="half" idx="10"/>
          </p:nvPr>
        </p:nvSpPr>
        <p:spPr/>
        <p:txBody>
          <a:bodyPr/>
          <a:lstStyle/>
          <a:p>
            <a:fld id="{59C091AA-3F0C-4182-9D7B-1EB634D8256B}" type="datetimeFigureOut">
              <a:rPr lang="fr-FR" smtClean="0"/>
              <a:t>18/03/2022</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A025B0E8-7D99-4688-B6D3-8DC5133195E9}" type="slidenum">
              <a:rPr lang="fr-FR" smtClean="0"/>
              <a:t>‹N°›</a:t>
            </a:fld>
            <a:endParaRPr lang="fr-FR"/>
          </a:p>
        </p:txBody>
      </p:sp>
    </p:spTree>
    <p:extLst>
      <p:ext uri="{BB962C8B-B14F-4D97-AF65-F5344CB8AC3E}">
        <p14:creationId xmlns:p14="http://schemas.microsoft.com/office/powerpoint/2010/main" val="137798117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p>
        </p:txBody>
      </p:sp>
      <p:sp>
        <p:nvSpPr>
          <p:cNvPr id="3" name="Espace réservé du contenu 2"/>
          <p:cNvSpPr>
            <a:spLocks noGrp="1"/>
          </p:cNvSpPr>
          <p:nvPr>
            <p:ph sz="half" idx="1"/>
          </p:nvPr>
        </p:nvSpPr>
        <p:spPr>
          <a:xfrm>
            <a:off x="838200" y="1825625"/>
            <a:ext cx="5181600" cy="4351338"/>
          </a:xfrm>
        </p:spPr>
        <p:txBody>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p:cNvSpPr>
            <a:spLocks noGrp="1"/>
          </p:cNvSpPr>
          <p:nvPr>
            <p:ph sz="half" idx="2"/>
          </p:nvPr>
        </p:nvSpPr>
        <p:spPr>
          <a:xfrm>
            <a:off x="6172200" y="1825625"/>
            <a:ext cx="5181600" cy="4351338"/>
          </a:xfrm>
        </p:spPr>
        <p:txBody>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e la date 4"/>
          <p:cNvSpPr>
            <a:spLocks noGrp="1"/>
          </p:cNvSpPr>
          <p:nvPr>
            <p:ph type="dt" sz="half" idx="10"/>
          </p:nvPr>
        </p:nvSpPr>
        <p:spPr/>
        <p:txBody>
          <a:bodyPr/>
          <a:lstStyle/>
          <a:p>
            <a:fld id="{59C091AA-3F0C-4182-9D7B-1EB634D8256B}" type="datetimeFigureOut">
              <a:rPr lang="fr-FR" smtClean="0"/>
              <a:t>18/03/2022</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A025B0E8-7D99-4688-B6D3-8DC5133195E9}" type="slidenum">
              <a:rPr lang="fr-FR" smtClean="0"/>
              <a:t>‹N°›</a:t>
            </a:fld>
            <a:endParaRPr lang="fr-FR"/>
          </a:p>
        </p:txBody>
      </p:sp>
    </p:spTree>
    <p:extLst>
      <p:ext uri="{BB962C8B-B14F-4D97-AF65-F5344CB8AC3E}">
        <p14:creationId xmlns:p14="http://schemas.microsoft.com/office/powerpoint/2010/main" val="157774118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p:cNvSpPr>
            <a:spLocks noGrp="1"/>
          </p:cNvSpPr>
          <p:nvPr>
            <p:ph type="title"/>
          </p:nvPr>
        </p:nvSpPr>
        <p:spPr>
          <a:xfrm>
            <a:off x="839788" y="365125"/>
            <a:ext cx="10515600" cy="1325563"/>
          </a:xfrm>
        </p:spPr>
        <p:txBody>
          <a:bodyPr/>
          <a:lstStyle/>
          <a:p>
            <a:r>
              <a:rPr lang="fr-FR"/>
              <a:t>Modifiez le style du titre</a:t>
            </a:r>
          </a:p>
        </p:txBody>
      </p:sp>
      <p:sp>
        <p:nvSpPr>
          <p:cNvPr id="3" name="Espace réservé du texte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Modifiez les styles du texte du masque</a:t>
            </a:r>
          </a:p>
        </p:txBody>
      </p:sp>
      <p:sp>
        <p:nvSpPr>
          <p:cNvPr id="4" name="Espace réservé du contenu 3"/>
          <p:cNvSpPr>
            <a:spLocks noGrp="1"/>
          </p:cNvSpPr>
          <p:nvPr>
            <p:ph sz="half" idx="2"/>
          </p:nvPr>
        </p:nvSpPr>
        <p:spPr>
          <a:xfrm>
            <a:off x="839788" y="2505075"/>
            <a:ext cx="5157787" cy="3684588"/>
          </a:xfrm>
        </p:spPr>
        <p:txBody>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texte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Modifiez les styles du texte du masque</a:t>
            </a:r>
          </a:p>
        </p:txBody>
      </p:sp>
      <p:sp>
        <p:nvSpPr>
          <p:cNvPr id="6" name="Espace réservé du contenu 5"/>
          <p:cNvSpPr>
            <a:spLocks noGrp="1"/>
          </p:cNvSpPr>
          <p:nvPr>
            <p:ph sz="quarter" idx="4"/>
          </p:nvPr>
        </p:nvSpPr>
        <p:spPr>
          <a:xfrm>
            <a:off x="6172200" y="2505075"/>
            <a:ext cx="5183188" cy="3684588"/>
          </a:xfrm>
        </p:spPr>
        <p:txBody>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7" name="Espace réservé de la date 6"/>
          <p:cNvSpPr>
            <a:spLocks noGrp="1"/>
          </p:cNvSpPr>
          <p:nvPr>
            <p:ph type="dt" sz="half" idx="10"/>
          </p:nvPr>
        </p:nvSpPr>
        <p:spPr/>
        <p:txBody>
          <a:bodyPr/>
          <a:lstStyle/>
          <a:p>
            <a:fld id="{59C091AA-3F0C-4182-9D7B-1EB634D8256B}" type="datetimeFigureOut">
              <a:rPr lang="fr-FR" smtClean="0"/>
              <a:t>18/03/2022</a:t>
            </a:fld>
            <a:endParaRPr lang="fr-FR"/>
          </a:p>
        </p:txBody>
      </p:sp>
      <p:sp>
        <p:nvSpPr>
          <p:cNvPr id="8" name="Espace réservé du pied de page 7"/>
          <p:cNvSpPr>
            <a:spLocks noGrp="1"/>
          </p:cNvSpPr>
          <p:nvPr>
            <p:ph type="ftr" sz="quarter" idx="11"/>
          </p:nvPr>
        </p:nvSpPr>
        <p:spPr/>
        <p:txBody>
          <a:bodyPr/>
          <a:lstStyle/>
          <a:p>
            <a:endParaRPr lang="fr-FR"/>
          </a:p>
        </p:txBody>
      </p:sp>
      <p:sp>
        <p:nvSpPr>
          <p:cNvPr id="9" name="Espace réservé du numéro de diapositive 8"/>
          <p:cNvSpPr>
            <a:spLocks noGrp="1"/>
          </p:cNvSpPr>
          <p:nvPr>
            <p:ph type="sldNum" sz="quarter" idx="12"/>
          </p:nvPr>
        </p:nvSpPr>
        <p:spPr/>
        <p:txBody>
          <a:bodyPr/>
          <a:lstStyle/>
          <a:p>
            <a:fld id="{A025B0E8-7D99-4688-B6D3-8DC5133195E9}" type="slidenum">
              <a:rPr lang="fr-FR" smtClean="0"/>
              <a:t>‹N°›</a:t>
            </a:fld>
            <a:endParaRPr lang="fr-FR"/>
          </a:p>
        </p:txBody>
      </p:sp>
    </p:spTree>
    <p:extLst>
      <p:ext uri="{BB962C8B-B14F-4D97-AF65-F5344CB8AC3E}">
        <p14:creationId xmlns:p14="http://schemas.microsoft.com/office/powerpoint/2010/main" val="45969186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p>
        </p:txBody>
      </p:sp>
      <p:sp>
        <p:nvSpPr>
          <p:cNvPr id="3" name="Espace réservé de la date 2"/>
          <p:cNvSpPr>
            <a:spLocks noGrp="1"/>
          </p:cNvSpPr>
          <p:nvPr>
            <p:ph type="dt" sz="half" idx="10"/>
          </p:nvPr>
        </p:nvSpPr>
        <p:spPr/>
        <p:txBody>
          <a:bodyPr/>
          <a:lstStyle/>
          <a:p>
            <a:fld id="{59C091AA-3F0C-4182-9D7B-1EB634D8256B}" type="datetimeFigureOut">
              <a:rPr lang="fr-FR" smtClean="0"/>
              <a:t>18/03/2022</a:t>
            </a:fld>
            <a:endParaRPr lang="fr-FR"/>
          </a:p>
        </p:txBody>
      </p:sp>
      <p:sp>
        <p:nvSpPr>
          <p:cNvPr id="4" name="Espace réservé du pied de page 3"/>
          <p:cNvSpPr>
            <a:spLocks noGrp="1"/>
          </p:cNvSpPr>
          <p:nvPr>
            <p:ph type="ftr" sz="quarter" idx="11"/>
          </p:nvPr>
        </p:nvSpPr>
        <p:spPr/>
        <p:txBody>
          <a:bodyPr/>
          <a:lstStyle/>
          <a:p>
            <a:endParaRPr lang="fr-FR"/>
          </a:p>
        </p:txBody>
      </p:sp>
      <p:sp>
        <p:nvSpPr>
          <p:cNvPr id="5" name="Espace réservé du numéro de diapositive 4"/>
          <p:cNvSpPr>
            <a:spLocks noGrp="1"/>
          </p:cNvSpPr>
          <p:nvPr>
            <p:ph type="sldNum" sz="quarter" idx="12"/>
          </p:nvPr>
        </p:nvSpPr>
        <p:spPr/>
        <p:txBody>
          <a:bodyPr/>
          <a:lstStyle/>
          <a:p>
            <a:fld id="{A025B0E8-7D99-4688-B6D3-8DC5133195E9}" type="slidenum">
              <a:rPr lang="fr-FR" smtClean="0"/>
              <a:t>‹N°›</a:t>
            </a:fld>
            <a:endParaRPr lang="fr-FR"/>
          </a:p>
        </p:txBody>
      </p:sp>
    </p:spTree>
    <p:extLst>
      <p:ext uri="{BB962C8B-B14F-4D97-AF65-F5344CB8AC3E}">
        <p14:creationId xmlns:p14="http://schemas.microsoft.com/office/powerpoint/2010/main" val="100249012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p:cNvSpPr>
            <a:spLocks noGrp="1"/>
          </p:cNvSpPr>
          <p:nvPr>
            <p:ph type="dt" sz="half" idx="10"/>
          </p:nvPr>
        </p:nvSpPr>
        <p:spPr/>
        <p:txBody>
          <a:bodyPr/>
          <a:lstStyle/>
          <a:p>
            <a:fld id="{59C091AA-3F0C-4182-9D7B-1EB634D8256B}" type="datetimeFigureOut">
              <a:rPr lang="fr-FR" smtClean="0"/>
              <a:t>18/03/2022</a:t>
            </a:fld>
            <a:endParaRPr lang="fr-FR"/>
          </a:p>
        </p:txBody>
      </p:sp>
      <p:sp>
        <p:nvSpPr>
          <p:cNvPr id="3" name="Espace réservé du pied de page 2"/>
          <p:cNvSpPr>
            <a:spLocks noGrp="1"/>
          </p:cNvSpPr>
          <p:nvPr>
            <p:ph type="ftr" sz="quarter" idx="11"/>
          </p:nvPr>
        </p:nvSpPr>
        <p:spPr/>
        <p:txBody>
          <a:bodyPr/>
          <a:lstStyle/>
          <a:p>
            <a:endParaRPr lang="fr-FR"/>
          </a:p>
        </p:txBody>
      </p:sp>
      <p:sp>
        <p:nvSpPr>
          <p:cNvPr id="4" name="Espace réservé du numéro de diapositive 3"/>
          <p:cNvSpPr>
            <a:spLocks noGrp="1"/>
          </p:cNvSpPr>
          <p:nvPr>
            <p:ph type="sldNum" sz="quarter" idx="12"/>
          </p:nvPr>
        </p:nvSpPr>
        <p:spPr/>
        <p:txBody>
          <a:bodyPr/>
          <a:lstStyle/>
          <a:p>
            <a:fld id="{A025B0E8-7D99-4688-B6D3-8DC5133195E9}" type="slidenum">
              <a:rPr lang="fr-FR" smtClean="0"/>
              <a:t>‹N°›</a:t>
            </a:fld>
            <a:endParaRPr lang="fr-FR"/>
          </a:p>
        </p:txBody>
      </p:sp>
    </p:spTree>
    <p:extLst>
      <p:ext uri="{BB962C8B-B14F-4D97-AF65-F5344CB8AC3E}">
        <p14:creationId xmlns:p14="http://schemas.microsoft.com/office/powerpoint/2010/main" val="210102698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du contenu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texte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Modifiez les styles du texte du masque</a:t>
            </a:r>
          </a:p>
        </p:txBody>
      </p:sp>
      <p:sp>
        <p:nvSpPr>
          <p:cNvPr id="5" name="Espace réservé de la date 4"/>
          <p:cNvSpPr>
            <a:spLocks noGrp="1"/>
          </p:cNvSpPr>
          <p:nvPr>
            <p:ph type="dt" sz="half" idx="10"/>
          </p:nvPr>
        </p:nvSpPr>
        <p:spPr/>
        <p:txBody>
          <a:bodyPr/>
          <a:lstStyle/>
          <a:p>
            <a:fld id="{59C091AA-3F0C-4182-9D7B-1EB634D8256B}" type="datetimeFigureOut">
              <a:rPr lang="fr-FR" smtClean="0"/>
              <a:t>18/03/2022</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A025B0E8-7D99-4688-B6D3-8DC5133195E9}" type="slidenum">
              <a:rPr lang="fr-FR" smtClean="0"/>
              <a:t>‹N°›</a:t>
            </a:fld>
            <a:endParaRPr lang="fr-FR"/>
          </a:p>
        </p:txBody>
      </p:sp>
    </p:spTree>
    <p:extLst>
      <p:ext uri="{BB962C8B-B14F-4D97-AF65-F5344CB8AC3E}">
        <p14:creationId xmlns:p14="http://schemas.microsoft.com/office/powerpoint/2010/main" val="196808926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pour une image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FR"/>
          </a:p>
        </p:txBody>
      </p:sp>
      <p:sp>
        <p:nvSpPr>
          <p:cNvPr id="4" name="Espace réservé du texte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Modifiez les styles du texte du masque</a:t>
            </a:r>
          </a:p>
        </p:txBody>
      </p:sp>
      <p:sp>
        <p:nvSpPr>
          <p:cNvPr id="5" name="Espace réservé de la date 4"/>
          <p:cNvSpPr>
            <a:spLocks noGrp="1"/>
          </p:cNvSpPr>
          <p:nvPr>
            <p:ph type="dt" sz="half" idx="10"/>
          </p:nvPr>
        </p:nvSpPr>
        <p:spPr/>
        <p:txBody>
          <a:bodyPr/>
          <a:lstStyle/>
          <a:p>
            <a:fld id="{59C091AA-3F0C-4182-9D7B-1EB634D8256B}" type="datetimeFigureOut">
              <a:rPr lang="fr-FR" smtClean="0"/>
              <a:t>18/03/2022</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A025B0E8-7D99-4688-B6D3-8DC5133195E9}" type="slidenum">
              <a:rPr lang="fr-FR" smtClean="0"/>
              <a:t>‹N°›</a:t>
            </a:fld>
            <a:endParaRPr lang="fr-FR"/>
          </a:p>
        </p:txBody>
      </p:sp>
    </p:spTree>
    <p:extLst>
      <p:ext uri="{BB962C8B-B14F-4D97-AF65-F5344CB8AC3E}">
        <p14:creationId xmlns:p14="http://schemas.microsoft.com/office/powerpoint/2010/main" val="184168372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p>
        </p:txBody>
      </p:sp>
      <p:sp>
        <p:nvSpPr>
          <p:cNvPr id="3" name="Espace réservé du texte vertical 2"/>
          <p:cNvSpPr>
            <a:spLocks noGrp="1"/>
          </p:cNvSpPr>
          <p:nvPr>
            <p:ph type="body" orient="vert" idx="1"/>
          </p:nvPr>
        </p:nvSpPr>
        <p:spPr/>
        <p:txBody>
          <a:bodyPr vert="eaVert"/>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10"/>
          </p:nvPr>
        </p:nvSpPr>
        <p:spPr/>
        <p:txBody>
          <a:bodyPr/>
          <a:lstStyle/>
          <a:p>
            <a:fld id="{59C091AA-3F0C-4182-9D7B-1EB634D8256B}" type="datetimeFigureOut">
              <a:rPr lang="fr-FR" smtClean="0"/>
              <a:t>18/03/2022</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A025B0E8-7D99-4688-B6D3-8DC5133195E9}" type="slidenum">
              <a:rPr lang="fr-FR" smtClean="0"/>
              <a:t>‹N°›</a:t>
            </a:fld>
            <a:endParaRPr lang="fr-FR"/>
          </a:p>
        </p:txBody>
      </p:sp>
    </p:spTree>
    <p:extLst>
      <p:ext uri="{BB962C8B-B14F-4D97-AF65-F5344CB8AC3E}">
        <p14:creationId xmlns:p14="http://schemas.microsoft.com/office/powerpoint/2010/main" val="203115743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p:cNvSpPr>
            <a:spLocks noGrp="1"/>
          </p:cNvSpPr>
          <p:nvPr>
            <p:ph type="title" orient="vert"/>
          </p:nvPr>
        </p:nvSpPr>
        <p:spPr>
          <a:xfrm>
            <a:off x="8724900" y="365125"/>
            <a:ext cx="2628900" cy="5811838"/>
          </a:xfrm>
        </p:spPr>
        <p:txBody>
          <a:bodyPr vert="eaVert"/>
          <a:lstStyle/>
          <a:p>
            <a:r>
              <a:rPr lang="fr-FR"/>
              <a:t>Modifiez le style du titre</a:t>
            </a:r>
          </a:p>
        </p:txBody>
      </p:sp>
      <p:sp>
        <p:nvSpPr>
          <p:cNvPr id="3" name="Espace réservé du texte vertical 2"/>
          <p:cNvSpPr>
            <a:spLocks noGrp="1"/>
          </p:cNvSpPr>
          <p:nvPr>
            <p:ph type="body" orient="vert" idx="1"/>
          </p:nvPr>
        </p:nvSpPr>
        <p:spPr>
          <a:xfrm>
            <a:off x="838200" y="365125"/>
            <a:ext cx="7734300" cy="5811838"/>
          </a:xfrm>
        </p:spPr>
        <p:txBody>
          <a:bodyPr vert="eaVert"/>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10"/>
          </p:nvPr>
        </p:nvSpPr>
        <p:spPr/>
        <p:txBody>
          <a:bodyPr/>
          <a:lstStyle/>
          <a:p>
            <a:fld id="{59C091AA-3F0C-4182-9D7B-1EB634D8256B}" type="datetimeFigureOut">
              <a:rPr lang="fr-FR" smtClean="0"/>
              <a:t>18/03/2022</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A025B0E8-7D99-4688-B6D3-8DC5133195E9}" type="slidenum">
              <a:rPr lang="fr-FR" smtClean="0"/>
              <a:t>‹N°›</a:t>
            </a:fld>
            <a:endParaRPr lang="fr-FR"/>
          </a:p>
        </p:txBody>
      </p:sp>
    </p:spTree>
    <p:extLst>
      <p:ext uri="{BB962C8B-B14F-4D97-AF65-F5344CB8AC3E}">
        <p14:creationId xmlns:p14="http://schemas.microsoft.com/office/powerpoint/2010/main" val="229054846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chemeClr val="bg1">
                <a:lumMod val="85000"/>
              </a:schemeClr>
            </a:gs>
            <a:gs pos="100000">
              <a:schemeClr val="tx1">
                <a:lumMod val="65000"/>
                <a:lumOff val="35000"/>
              </a:schemeClr>
            </a:gs>
          </a:gsLst>
          <a:lin ang="2700000" scaled="1"/>
          <a:tileRect/>
        </a:gradFill>
        <a:effectLst/>
      </p:bgPr>
    </p:bg>
    <p:spTree>
      <p:nvGrpSpPr>
        <p:cNvPr id="1" name=""/>
        <p:cNvGrpSpPr/>
        <p:nvPr/>
      </p:nvGrpSpPr>
      <p:grpSpPr>
        <a:xfrm>
          <a:off x="0" y="0"/>
          <a:ext cx="0" cy="0"/>
          <a:chOff x="0" y="0"/>
          <a:chExt cx="0" cy="0"/>
        </a:xfrm>
      </p:grpSpPr>
      <p:sp>
        <p:nvSpPr>
          <p:cNvPr id="2" name="Espace réservé du titre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FR"/>
              <a:t>Modifiez le style du titre</a:t>
            </a:r>
          </a:p>
        </p:txBody>
      </p:sp>
      <p:sp>
        <p:nvSpPr>
          <p:cNvPr id="3" name="Espace réservé du texte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9C091AA-3F0C-4182-9D7B-1EB634D8256B}" type="datetimeFigureOut">
              <a:rPr lang="fr-FR" smtClean="0"/>
              <a:t>18/03/2022</a:t>
            </a:fld>
            <a:endParaRPr lang="fr-FR"/>
          </a:p>
        </p:txBody>
      </p:sp>
      <p:sp>
        <p:nvSpPr>
          <p:cNvPr id="5" name="Espace réservé du pied de page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fr-FR"/>
          </a:p>
        </p:txBody>
      </p:sp>
      <p:sp>
        <p:nvSpPr>
          <p:cNvPr id="6" name="Espace réservé du numéro de diapositive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025B0E8-7D99-4688-B6D3-8DC5133195E9}" type="slidenum">
              <a:rPr lang="fr-FR" smtClean="0"/>
              <a:t>‹N°›</a:t>
            </a:fld>
            <a:endParaRPr lang="fr-FR"/>
          </a:p>
        </p:txBody>
      </p:sp>
    </p:spTree>
    <p:extLst>
      <p:ext uri="{BB962C8B-B14F-4D97-AF65-F5344CB8AC3E}">
        <p14:creationId xmlns:p14="http://schemas.microsoft.com/office/powerpoint/2010/main" val="135572290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jpeg"/><Relationship Id="rId13" Type="http://schemas.openxmlformats.org/officeDocument/2006/relationships/image" Target="../media/image11.png"/><Relationship Id="rId3" Type="http://schemas.openxmlformats.org/officeDocument/2006/relationships/image" Target="../media/image1.jpg"/><Relationship Id="rId7" Type="http://schemas.openxmlformats.org/officeDocument/2006/relationships/image" Target="../media/image5.jpeg"/><Relationship Id="rId12" Type="http://schemas.openxmlformats.org/officeDocument/2006/relationships/image" Target="../media/image10.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jpeg"/><Relationship Id="rId11" Type="http://schemas.openxmlformats.org/officeDocument/2006/relationships/image" Target="../media/image9.png"/><Relationship Id="rId5" Type="http://schemas.openxmlformats.org/officeDocument/2006/relationships/image" Target="../media/image3.png"/><Relationship Id="rId10" Type="http://schemas.openxmlformats.org/officeDocument/2006/relationships/image" Target="../media/image8.png"/><Relationship Id="rId4" Type="http://schemas.openxmlformats.org/officeDocument/2006/relationships/image" Target="../media/image2.png"/><Relationship Id="rId9" Type="http://schemas.openxmlformats.org/officeDocument/2006/relationships/image" Target="../media/image7.jpeg"/></Relationships>
</file>

<file path=ppt/slides/_rels/slide2.xml.rels><?xml version="1.0" encoding="UTF-8" standalone="yes"?>
<Relationships xmlns="http://schemas.openxmlformats.org/package/2006/relationships"><Relationship Id="rId8" Type="http://schemas.openxmlformats.org/officeDocument/2006/relationships/image" Target="../media/image6.jpeg"/><Relationship Id="rId13" Type="http://schemas.openxmlformats.org/officeDocument/2006/relationships/image" Target="../media/image11.png"/><Relationship Id="rId3" Type="http://schemas.openxmlformats.org/officeDocument/2006/relationships/image" Target="../media/image12.png"/><Relationship Id="rId7" Type="http://schemas.openxmlformats.org/officeDocument/2006/relationships/image" Target="../media/image5.jpeg"/><Relationship Id="rId12" Type="http://schemas.openxmlformats.org/officeDocument/2006/relationships/image" Target="../media/image10.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4.jpeg"/><Relationship Id="rId11" Type="http://schemas.openxmlformats.org/officeDocument/2006/relationships/image" Target="../media/image9.png"/><Relationship Id="rId5" Type="http://schemas.openxmlformats.org/officeDocument/2006/relationships/image" Target="../media/image3.png"/><Relationship Id="rId10" Type="http://schemas.openxmlformats.org/officeDocument/2006/relationships/image" Target="../media/image8.png"/><Relationship Id="rId4" Type="http://schemas.openxmlformats.org/officeDocument/2006/relationships/image" Target="../media/image2.png"/><Relationship Id="rId9" Type="http://schemas.openxmlformats.org/officeDocument/2006/relationships/image" Target="../media/image7.jpeg"/><Relationship Id="rId14" Type="http://schemas.openxmlformats.org/officeDocument/2006/relationships/image" Target="../media/image13.png"/></Relationships>
</file>

<file path=ppt/slides/_rels/slide3.xml.rels><?xml version="1.0" encoding="UTF-8" standalone="yes"?>
<Relationships xmlns="http://schemas.openxmlformats.org/package/2006/relationships"><Relationship Id="rId8" Type="http://schemas.openxmlformats.org/officeDocument/2006/relationships/image" Target="../media/image6.jpeg"/><Relationship Id="rId13" Type="http://schemas.openxmlformats.org/officeDocument/2006/relationships/image" Target="../media/image11.png"/><Relationship Id="rId3" Type="http://schemas.openxmlformats.org/officeDocument/2006/relationships/image" Target="../media/image12.png"/><Relationship Id="rId7" Type="http://schemas.openxmlformats.org/officeDocument/2006/relationships/image" Target="../media/image5.jpeg"/><Relationship Id="rId12" Type="http://schemas.openxmlformats.org/officeDocument/2006/relationships/image" Target="../media/image10.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4.jpeg"/><Relationship Id="rId11" Type="http://schemas.openxmlformats.org/officeDocument/2006/relationships/image" Target="../media/image9.png"/><Relationship Id="rId5" Type="http://schemas.openxmlformats.org/officeDocument/2006/relationships/image" Target="../media/image3.png"/><Relationship Id="rId10" Type="http://schemas.openxmlformats.org/officeDocument/2006/relationships/image" Target="../media/image8.png"/><Relationship Id="rId4" Type="http://schemas.openxmlformats.org/officeDocument/2006/relationships/image" Target="../media/image2.png"/><Relationship Id="rId9" Type="http://schemas.openxmlformats.org/officeDocument/2006/relationships/image" Target="../media/image7.jpeg"/></Relationships>
</file>

<file path=ppt/slides/_rels/slide4.xml.rels><?xml version="1.0" encoding="UTF-8" standalone="yes"?>
<Relationships xmlns="http://schemas.openxmlformats.org/package/2006/relationships"><Relationship Id="rId8" Type="http://schemas.openxmlformats.org/officeDocument/2006/relationships/image" Target="../media/image6.jpeg"/><Relationship Id="rId13" Type="http://schemas.openxmlformats.org/officeDocument/2006/relationships/image" Target="../media/image11.png"/><Relationship Id="rId3" Type="http://schemas.openxmlformats.org/officeDocument/2006/relationships/image" Target="../media/image12.png"/><Relationship Id="rId7" Type="http://schemas.openxmlformats.org/officeDocument/2006/relationships/image" Target="../media/image5.jpeg"/><Relationship Id="rId12"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4.jpeg"/><Relationship Id="rId11" Type="http://schemas.openxmlformats.org/officeDocument/2006/relationships/image" Target="../media/image9.png"/><Relationship Id="rId5" Type="http://schemas.openxmlformats.org/officeDocument/2006/relationships/image" Target="../media/image3.png"/><Relationship Id="rId10" Type="http://schemas.openxmlformats.org/officeDocument/2006/relationships/image" Target="../media/image8.png"/><Relationship Id="rId4" Type="http://schemas.openxmlformats.org/officeDocument/2006/relationships/image" Target="../media/image2.png"/><Relationship Id="rId9" Type="http://schemas.openxmlformats.org/officeDocument/2006/relationships/image" Target="../media/image7.jpeg"/><Relationship Id="rId14" Type="http://schemas.openxmlformats.org/officeDocument/2006/relationships/image" Target="../media/image14.png"/></Relationships>
</file>

<file path=ppt/slides/_rels/slide5.xml.rels><?xml version="1.0" encoding="UTF-8" standalone="yes"?>
<Relationships xmlns="http://schemas.openxmlformats.org/package/2006/relationships"><Relationship Id="rId8" Type="http://schemas.openxmlformats.org/officeDocument/2006/relationships/image" Target="../media/image6.jpeg"/><Relationship Id="rId13" Type="http://schemas.openxmlformats.org/officeDocument/2006/relationships/image" Target="../media/image11.png"/><Relationship Id="rId3" Type="http://schemas.openxmlformats.org/officeDocument/2006/relationships/image" Target="../media/image12.png"/><Relationship Id="rId7" Type="http://schemas.openxmlformats.org/officeDocument/2006/relationships/image" Target="../media/image5.jpeg"/><Relationship Id="rId12"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4.jpeg"/><Relationship Id="rId11" Type="http://schemas.openxmlformats.org/officeDocument/2006/relationships/image" Target="../media/image9.png"/><Relationship Id="rId5" Type="http://schemas.openxmlformats.org/officeDocument/2006/relationships/image" Target="../media/image3.png"/><Relationship Id="rId10" Type="http://schemas.openxmlformats.org/officeDocument/2006/relationships/image" Target="../media/image8.png"/><Relationship Id="rId4" Type="http://schemas.openxmlformats.org/officeDocument/2006/relationships/image" Target="../media/image2.png"/><Relationship Id="rId9" Type="http://schemas.openxmlformats.org/officeDocument/2006/relationships/image" Target="../media/image7.jpeg"/><Relationship Id="rId14" Type="http://schemas.openxmlformats.org/officeDocument/2006/relationships/image" Target="../media/image15.png"/></Relationships>
</file>

<file path=ppt/slides/_rels/slide6.xml.rels><?xml version="1.0" encoding="UTF-8" standalone="yes"?>
<Relationships xmlns="http://schemas.openxmlformats.org/package/2006/relationships"><Relationship Id="rId8" Type="http://schemas.openxmlformats.org/officeDocument/2006/relationships/image" Target="../media/image6.jpeg"/><Relationship Id="rId13" Type="http://schemas.openxmlformats.org/officeDocument/2006/relationships/image" Target="../media/image11.png"/><Relationship Id="rId3" Type="http://schemas.openxmlformats.org/officeDocument/2006/relationships/image" Target="../media/image12.png"/><Relationship Id="rId7" Type="http://schemas.openxmlformats.org/officeDocument/2006/relationships/image" Target="../media/image5.jpeg"/><Relationship Id="rId12"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4.jpeg"/><Relationship Id="rId11" Type="http://schemas.openxmlformats.org/officeDocument/2006/relationships/image" Target="../media/image9.png"/><Relationship Id="rId5" Type="http://schemas.openxmlformats.org/officeDocument/2006/relationships/image" Target="../media/image3.png"/><Relationship Id="rId10" Type="http://schemas.openxmlformats.org/officeDocument/2006/relationships/image" Target="../media/image8.png"/><Relationship Id="rId4" Type="http://schemas.openxmlformats.org/officeDocument/2006/relationships/image" Target="../media/image2.png"/><Relationship Id="rId9" Type="http://schemas.openxmlformats.org/officeDocument/2006/relationships/image" Target="../media/image7.jpeg"/><Relationship Id="rId14" Type="http://schemas.openxmlformats.org/officeDocument/2006/relationships/image" Target="../media/image16.png"/></Relationships>
</file>

<file path=ppt/slides/_rels/slide7.xml.rels><?xml version="1.0" encoding="UTF-8" standalone="yes"?>
<Relationships xmlns="http://schemas.openxmlformats.org/package/2006/relationships"><Relationship Id="rId8" Type="http://schemas.openxmlformats.org/officeDocument/2006/relationships/image" Target="../media/image6.jpeg"/><Relationship Id="rId13" Type="http://schemas.openxmlformats.org/officeDocument/2006/relationships/image" Target="../media/image11.png"/><Relationship Id="rId3" Type="http://schemas.openxmlformats.org/officeDocument/2006/relationships/image" Target="../media/image12.png"/><Relationship Id="rId7" Type="http://schemas.openxmlformats.org/officeDocument/2006/relationships/image" Target="../media/image5.jpeg"/><Relationship Id="rId12"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4.jpeg"/><Relationship Id="rId11" Type="http://schemas.openxmlformats.org/officeDocument/2006/relationships/image" Target="../media/image9.png"/><Relationship Id="rId5" Type="http://schemas.openxmlformats.org/officeDocument/2006/relationships/image" Target="../media/image3.png"/><Relationship Id="rId15" Type="http://schemas.openxmlformats.org/officeDocument/2006/relationships/image" Target="../media/image18.png"/><Relationship Id="rId10" Type="http://schemas.openxmlformats.org/officeDocument/2006/relationships/image" Target="../media/image8.png"/><Relationship Id="rId4" Type="http://schemas.openxmlformats.org/officeDocument/2006/relationships/image" Target="../media/image2.png"/><Relationship Id="rId9" Type="http://schemas.openxmlformats.org/officeDocument/2006/relationships/image" Target="../media/image7.jpeg"/><Relationship Id="rId14" Type="http://schemas.openxmlformats.org/officeDocument/2006/relationships/image" Target="../media/image17.png"/></Relationships>
</file>

<file path=ppt/slides/_rels/slide8.xml.rels><?xml version="1.0" encoding="UTF-8" standalone="yes"?>
<Relationships xmlns="http://schemas.openxmlformats.org/package/2006/relationships"><Relationship Id="rId8" Type="http://schemas.openxmlformats.org/officeDocument/2006/relationships/image" Target="../media/image6.jpeg"/><Relationship Id="rId13" Type="http://schemas.openxmlformats.org/officeDocument/2006/relationships/image" Target="../media/image11.png"/><Relationship Id="rId3" Type="http://schemas.openxmlformats.org/officeDocument/2006/relationships/image" Target="../media/image12.png"/><Relationship Id="rId7" Type="http://schemas.openxmlformats.org/officeDocument/2006/relationships/image" Target="../media/image5.jpeg"/><Relationship Id="rId12"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4.jpeg"/><Relationship Id="rId11" Type="http://schemas.openxmlformats.org/officeDocument/2006/relationships/image" Target="../media/image9.png"/><Relationship Id="rId5" Type="http://schemas.openxmlformats.org/officeDocument/2006/relationships/image" Target="../media/image3.png"/><Relationship Id="rId10" Type="http://schemas.openxmlformats.org/officeDocument/2006/relationships/image" Target="../media/image8.png"/><Relationship Id="rId4" Type="http://schemas.openxmlformats.org/officeDocument/2006/relationships/image" Target="../media/image2.png"/><Relationship Id="rId9" Type="http://schemas.openxmlformats.org/officeDocument/2006/relationships/image" Target="../media/image7.jpeg"/><Relationship Id="rId14" Type="http://schemas.openxmlformats.org/officeDocument/2006/relationships/image" Target="../media/image19.png"/></Relationships>
</file>

<file path=ppt/slides/_rels/slide9.xml.rels><?xml version="1.0" encoding="UTF-8" standalone="yes"?>
<Relationships xmlns="http://schemas.openxmlformats.org/package/2006/relationships"><Relationship Id="rId8" Type="http://schemas.openxmlformats.org/officeDocument/2006/relationships/image" Target="../media/image6.jpeg"/><Relationship Id="rId13" Type="http://schemas.openxmlformats.org/officeDocument/2006/relationships/image" Target="../media/image11.png"/><Relationship Id="rId3" Type="http://schemas.openxmlformats.org/officeDocument/2006/relationships/image" Target="../media/image12.png"/><Relationship Id="rId7" Type="http://schemas.openxmlformats.org/officeDocument/2006/relationships/image" Target="../media/image5.jpeg"/><Relationship Id="rId12"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4.jpeg"/><Relationship Id="rId11" Type="http://schemas.openxmlformats.org/officeDocument/2006/relationships/image" Target="../media/image9.png"/><Relationship Id="rId5" Type="http://schemas.openxmlformats.org/officeDocument/2006/relationships/image" Target="../media/image3.png"/><Relationship Id="rId10" Type="http://schemas.openxmlformats.org/officeDocument/2006/relationships/image" Target="../media/image8.png"/><Relationship Id="rId4" Type="http://schemas.openxmlformats.org/officeDocument/2006/relationships/image" Target="../media/image2.png"/><Relationship Id="rId9" Type="http://schemas.openxmlformats.org/officeDocument/2006/relationships/image" Target="../media/image7.jpeg"/><Relationship Id="rId14" Type="http://schemas.openxmlformats.org/officeDocument/2006/relationships/image" Target="../media/image20.png"/></Relationships>
</file>

<file path=ppt/slides/_rels/slide10.xml.rels><?xml version="1.0" encoding="UTF-8" standalone="yes"?>
<Relationships xmlns="http://schemas.openxmlformats.org/package/2006/relationships"><Relationship Id="rId8" Type="http://schemas.openxmlformats.org/officeDocument/2006/relationships/image" Target="../media/image6.jpeg"/><Relationship Id="rId13" Type="http://schemas.openxmlformats.org/officeDocument/2006/relationships/image" Target="../media/image11.png"/><Relationship Id="rId3" Type="http://schemas.openxmlformats.org/officeDocument/2006/relationships/image" Target="../media/image12.png"/><Relationship Id="rId7" Type="http://schemas.openxmlformats.org/officeDocument/2006/relationships/image" Target="../media/image5.jpeg"/><Relationship Id="rId12" Type="http://schemas.openxmlformats.org/officeDocument/2006/relationships/image" Target="../media/image10.png"/><Relationship Id="rId17" Type="http://schemas.openxmlformats.org/officeDocument/2006/relationships/image" Target="../media/image24.png"/><Relationship Id="rId2" Type="http://schemas.openxmlformats.org/officeDocument/2006/relationships/notesSlide" Target="../notesSlides/notesSlide10.xml"/><Relationship Id="rId16" Type="http://schemas.openxmlformats.org/officeDocument/2006/relationships/image" Target="../media/image23.png"/><Relationship Id="rId1" Type="http://schemas.openxmlformats.org/officeDocument/2006/relationships/slideLayout" Target="../slideLayouts/slideLayout1.xml"/><Relationship Id="rId6" Type="http://schemas.openxmlformats.org/officeDocument/2006/relationships/image" Target="../media/image4.jpeg"/><Relationship Id="rId11" Type="http://schemas.openxmlformats.org/officeDocument/2006/relationships/image" Target="../media/image9.png"/><Relationship Id="rId5" Type="http://schemas.openxmlformats.org/officeDocument/2006/relationships/image" Target="../media/image3.png"/><Relationship Id="rId15" Type="http://schemas.openxmlformats.org/officeDocument/2006/relationships/image" Target="../media/image22.png"/><Relationship Id="rId10" Type="http://schemas.openxmlformats.org/officeDocument/2006/relationships/image" Target="../media/image8.png"/><Relationship Id="rId4" Type="http://schemas.openxmlformats.org/officeDocument/2006/relationships/image" Target="../media/image2.png"/><Relationship Id="rId9" Type="http://schemas.openxmlformats.org/officeDocument/2006/relationships/image" Target="../media/image7.jpeg"/><Relationship Id="rId14" Type="http://schemas.openxmlformats.org/officeDocument/2006/relationships/image" Target="../media/image21.png"/></Relationships>
</file>

<file path=ppt/slides/_rels/slide11.xml.rels><?xml version="1.0" encoding="UTF-8" standalone="yes"?>
<Relationships xmlns="http://schemas.openxmlformats.org/package/2006/relationships"><Relationship Id="rId8" Type="http://schemas.openxmlformats.org/officeDocument/2006/relationships/image" Target="../media/image6.jpeg"/><Relationship Id="rId13" Type="http://schemas.openxmlformats.org/officeDocument/2006/relationships/image" Target="../media/image11.png"/><Relationship Id="rId3" Type="http://schemas.openxmlformats.org/officeDocument/2006/relationships/image" Target="../media/image12.png"/><Relationship Id="rId7" Type="http://schemas.openxmlformats.org/officeDocument/2006/relationships/image" Target="../media/image5.jpeg"/><Relationship Id="rId12"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4.jpeg"/><Relationship Id="rId11" Type="http://schemas.openxmlformats.org/officeDocument/2006/relationships/image" Target="../media/image9.png"/><Relationship Id="rId5" Type="http://schemas.openxmlformats.org/officeDocument/2006/relationships/image" Target="../media/image3.png"/><Relationship Id="rId10" Type="http://schemas.openxmlformats.org/officeDocument/2006/relationships/image" Target="../media/image8.png"/><Relationship Id="rId4" Type="http://schemas.openxmlformats.org/officeDocument/2006/relationships/image" Target="../media/image2.png"/><Relationship Id="rId9" Type="http://schemas.openxmlformats.org/officeDocument/2006/relationships/image" Target="../media/image7.jpeg"/></Relationships>
</file>

<file path=ppt/slides/_rels/slide12.xml.rels><?xml version="1.0" encoding="UTF-8" standalone="yes"?>
<Relationships xmlns="http://schemas.openxmlformats.org/package/2006/relationships"><Relationship Id="rId8" Type="http://schemas.openxmlformats.org/officeDocument/2006/relationships/image" Target="../media/image6.jpeg"/><Relationship Id="rId13" Type="http://schemas.openxmlformats.org/officeDocument/2006/relationships/image" Target="../media/image11.png"/><Relationship Id="rId3" Type="http://schemas.openxmlformats.org/officeDocument/2006/relationships/image" Target="../media/image12.png"/><Relationship Id="rId7" Type="http://schemas.openxmlformats.org/officeDocument/2006/relationships/image" Target="../media/image5.jpeg"/><Relationship Id="rId12"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4.jpeg"/><Relationship Id="rId11" Type="http://schemas.openxmlformats.org/officeDocument/2006/relationships/image" Target="../media/image9.png"/><Relationship Id="rId5" Type="http://schemas.openxmlformats.org/officeDocument/2006/relationships/image" Target="../media/image3.png"/><Relationship Id="rId15" Type="http://schemas.openxmlformats.org/officeDocument/2006/relationships/image" Target="../media/image26.png"/><Relationship Id="rId10" Type="http://schemas.openxmlformats.org/officeDocument/2006/relationships/image" Target="../media/image8.png"/><Relationship Id="rId4" Type="http://schemas.openxmlformats.org/officeDocument/2006/relationships/image" Target="../media/image2.png"/><Relationship Id="rId9" Type="http://schemas.openxmlformats.org/officeDocument/2006/relationships/image" Target="../media/image7.jpeg"/><Relationship Id="rId14" Type="http://schemas.openxmlformats.org/officeDocument/2006/relationships/image" Target="../media/image25.png"/></Relationships>
</file>

<file path=ppt/slides/_rels/slide13.xml.rels><?xml version="1.0" encoding="UTF-8" standalone="yes"?>
<Relationships xmlns="http://schemas.openxmlformats.org/package/2006/relationships"><Relationship Id="rId8" Type="http://schemas.openxmlformats.org/officeDocument/2006/relationships/image" Target="../media/image6.jpeg"/><Relationship Id="rId13" Type="http://schemas.openxmlformats.org/officeDocument/2006/relationships/image" Target="../media/image11.png"/><Relationship Id="rId3" Type="http://schemas.openxmlformats.org/officeDocument/2006/relationships/image" Target="../media/image12.png"/><Relationship Id="rId7" Type="http://schemas.openxmlformats.org/officeDocument/2006/relationships/image" Target="../media/image5.jpeg"/><Relationship Id="rId12" Type="http://schemas.openxmlformats.org/officeDocument/2006/relationships/image" Target="../media/image10.png"/><Relationship Id="rId2" Type="http://schemas.openxmlformats.org/officeDocument/2006/relationships/notesSlide" Target="../notesSlides/notesSlide13.xml"/><Relationship Id="rId1" Type="http://schemas.openxmlformats.org/officeDocument/2006/relationships/slideLayout" Target="../slideLayouts/slideLayout1.xml"/><Relationship Id="rId6" Type="http://schemas.openxmlformats.org/officeDocument/2006/relationships/image" Target="../media/image4.jpeg"/><Relationship Id="rId11" Type="http://schemas.openxmlformats.org/officeDocument/2006/relationships/image" Target="../media/image9.png"/><Relationship Id="rId5" Type="http://schemas.openxmlformats.org/officeDocument/2006/relationships/image" Target="../media/image3.png"/><Relationship Id="rId10" Type="http://schemas.openxmlformats.org/officeDocument/2006/relationships/image" Target="../media/image8.png"/><Relationship Id="rId4" Type="http://schemas.openxmlformats.org/officeDocument/2006/relationships/image" Target="../media/image2.png"/><Relationship Id="rId9" Type="http://schemas.openxmlformats.org/officeDocument/2006/relationships/image" Target="../media/image7.jpeg"/><Relationship Id="rId14" Type="http://schemas.openxmlformats.org/officeDocument/2006/relationships/image" Target="../media/image27.png"/></Relationships>
</file>

<file path=ppt/slides/_rels/slide14.xml.rels><?xml version="1.0" encoding="UTF-8" standalone="yes"?>
<Relationships xmlns="http://schemas.openxmlformats.org/package/2006/relationships"><Relationship Id="rId8" Type="http://schemas.openxmlformats.org/officeDocument/2006/relationships/image" Target="../media/image6.jpeg"/><Relationship Id="rId13" Type="http://schemas.openxmlformats.org/officeDocument/2006/relationships/image" Target="../media/image11.png"/><Relationship Id="rId3" Type="http://schemas.openxmlformats.org/officeDocument/2006/relationships/image" Target="../media/image12.png"/><Relationship Id="rId7" Type="http://schemas.openxmlformats.org/officeDocument/2006/relationships/image" Target="../media/image5.jpeg"/><Relationship Id="rId12" Type="http://schemas.openxmlformats.org/officeDocument/2006/relationships/image" Target="../media/image10.png"/><Relationship Id="rId2" Type="http://schemas.openxmlformats.org/officeDocument/2006/relationships/notesSlide" Target="../notesSlides/notesSlide14.xml"/><Relationship Id="rId1" Type="http://schemas.openxmlformats.org/officeDocument/2006/relationships/slideLayout" Target="../slideLayouts/slideLayout1.xml"/><Relationship Id="rId6" Type="http://schemas.openxmlformats.org/officeDocument/2006/relationships/image" Target="../media/image4.jpeg"/><Relationship Id="rId11" Type="http://schemas.openxmlformats.org/officeDocument/2006/relationships/image" Target="../media/image9.png"/><Relationship Id="rId5" Type="http://schemas.openxmlformats.org/officeDocument/2006/relationships/image" Target="../media/image3.png"/><Relationship Id="rId10" Type="http://schemas.openxmlformats.org/officeDocument/2006/relationships/image" Target="../media/image8.png"/><Relationship Id="rId4" Type="http://schemas.openxmlformats.org/officeDocument/2006/relationships/image" Target="../media/image2.png"/><Relationship Id="rId9" Type="http://schemas.openxmlformats.org/officeDocument/2006/relationships/image" Target="../media/image7.jpeg"/><Relationship Id="rId14" Type="http://schemas.openxmlformats.org/officeDocument/2006/relationships/image" Target="../media/image28.png"/></Relationships>
</file>

<file path=ppt/slides/_rels/slide15.xml.rels><?xml version="1.0" encoding="UTF-8" standalone="yes"?>
<Relationships xmlns="http://schemas.openxmlformats.org/package/2006/relationships"><Relationship Id="rId8" Type="http://schemas.openxmlformats.org/officeDocument/2006/relationships/image" Target="../media/image6.jpeg"/><Relationship Id="rId13" Type="http://schemas.openxmlformats.org/officeDocument/2006/relationships/image" Target="../media/image11.png"/><Relationship Id="rId3" Type="http://schemas.openxmlformats.org/officeDocument/2006/relationships/image" Target="../media/image12.png"/><Relationship Id="rId7" Type="http://schemas.openxmlformats.org/officeDocument/2006/relationships/image" Target="../media/image5.jpeg"/><Relationship Id="rId12" Type="http://schemas.openxmlformats.org/officeDocument/2006/relationships/image" Target="../media/image10.png"/><Relationship Id="rId2" Type="http://schemas.openxmlformats.org/officeDocument/2006/relationships/notesSlide" Target="../notesSlides/notesSlide15.xml"/><Relationship Id="rId1" Type="http://schemas.openxmlformats.org/officeDocument/2006/relationships/slideLayout" Target="../slideLayouts/slideLayout1.xml"/><Relationship Id="rId6" Type="http://schemas.openxmlformats.org/officeDocument/2006/relationships/image" Target="../media/image4.jpeg"/><Relationship Id="rId11" Type="http://schemas.openxmlformats.org/officeDocument/2006/relationships/image" Target="../media/image9.png"/><Relationship Id="rId5" Type="http://schemas.openxmlformats.org/officeDocument/2006/relationships/image" Target="../media/image3.png"/><Relationship Id="rId15" Type="http://schemas.openxmlformats.org/officeDocument/2006/relationships/image" Target="../media/image30.png"/><Relationship Id="rId10" Type="http://schemas.openxmlformats.org/officeDocument/2006/relationships/image" Target="../media/image8.png"/><Relationship Id="rId4" Type="http://schemas.openxmlformats.org/officeDocument/2006/relationships/image" Target="../media/image2.png"/><Relationship Id="rId9" Type="http://schemas.openxmlformats.org/officeDocument/2006/relationships/image" Target="../media/image7.jpeg"/><Relationship Id="rId14" Type="http://schemas.openxmlformats.org/officeDocument/2006/relationships/image" Target="../media/image29.png"/></Relationships>
</file>

<file path=ppt/slides/_rels/slide16.xml.rels><?xml version="1.0" encoding="UTF-8" standalone="yes"?>
<Relationships xmlns="http://schemas.openxmlformats.org/package/2006/relationships"><Relationship Id="rId8" Type="http://schemas.openxmlformats.org/officeDocument/2006/relationships/image" Target="../media/image6.jpeg"/><Relationship Id="rId13" Type="http://schemas.openxmlformats.org/officeDocument/2006/relationships/image" Target="../media/image11.png"/><Relationship Id="rId3" Type="http://schemas.openxmlformats.org/officeDocument/2006/relationships/image" Target="../media/image12.png"/><Relationship Id="rId7" Type="http://schemas.openxmlformats.org/officeDocument/2006/relationships/image" Target="../media/image5.jpeg"/><Relationship Id="rId12" Type="http://schemas.openxmlformats.org/officeDocument/2006/relationships/image" Target="../media/image10.png"/><Relationship Id="rId2" Type="http://schemas.openxmlformats.org/officeDocument/2006/relationships/notesSlide" Target="../notesSlides/notesSlide16.xml"/><Relationship Id="rId1" Type="http://schemas.openxmlformats.org/officeDocument/2006/relationships/slideLayout" Target="../slideLayouts/slideLayout1.xml"/><Relationship Id="rId6" Type="http://schemas.openxmlformats.org/officeDocument/2006/relationships/image" Target="../media/image4.jpeg"/><Relationship Id="rId11" Type="http://schemas.openxmlformats.org/officeDocument/2006/relationships/image" Target="../media/image9.png"/><Relationship Id="rId5" Type="http://schemas.openxmlformats.org/officeDocument/2006/relationships/image" Target="../media/image3.png"/><Relationship Id="rId15" Type="http://schemas.openxmlformats.org/officeDocument/2006/relationships/image" Target="../media/image32.png"/><Relationship Id="rId10" Type="http://schemas.openxmlformats.org/officeDocument/2006/relationships/image" Target="../media/image8.png"/><Relationship Id="rId4" Type="http://schemas.openxmlformats.org/officeDocument/2006/relationships/image" Target="../media/image2.png"/><Relationship Id="rId9" Type="http://schemas.openxmlformats.org/officeDocument/2006/relationships/image" Target="../media/image7.jpeg"/><Relationship Id="rId14" Type="http://schemas.openxmlformats.org/officeDocument/2006/relationships/image" Target="../media/image31.png"/></Relationships>
</file>

<file path=ppt/slides/_rels/slide17.xml.rels><?xml version="1.0" encoding="UTF-8" standalone="yes"?>
<Relationships xmlns="http://schemas.openxmlformats.org/package/2006/relationships"><Relationship Id="rId8" Type="http://schemas.openxmlformats.org/officeDocument/2006/relationships/image" Target="../media/image6.jpeg"/><Relationship Id="rId13" Type="http://schemas.openxmlformats.org/officeDocument/2006/relationships/image" Target="../media/image11.png"/><Relationship Id="rId3" Type="http://schemas.openxmlformats.org/officeDocument/2006/relationships/image" Target="../media/image12.png"/><Relationship Id="rId7" Type="http://schemas.openxmlformats.org/officeDocument/2006/relationships/image" Target="../media/image5.jpeg"/><Relationship Id="rId12" Type="http://schemas.openxmlformats.org/officeDocument/2006/relationships/image" Target="../media/image10.png"/><Relationship Id="rId2" Type="http://schemas.openxmlformats.org/officeDocument/2006/relationships/notesSlide" Target="../notesSlides/notesSlide17.xml"/><Relationship Id="rId1" Type="http://schemas.openxmlformats.org/officeDocument/2006/relationships/slideLayout" Target="../slideLayouts/slideLayout1.xml"/><Relationship Id="rId6" Type="http://schemas.openxmlformats.org/officeDocument/2006/relationships/image" Target="../media/image4.jpeg"/><Relationship Id="rId11" Type="http://schemas.openxmlformats.org/officeDocument/2006/relationships/image" Target="../media/image9.png"/><Relationship Id="rId5" Type="http://schemas.openxmlformats.org/officeDocument/2006/relationships/image" Target="../media/image3.png"/><Relationship Id="rId10" Type="http://schemas.openxmlformats.org/officeDocument/2006/relationships/image" Target="../media/image8.png"/><Relationship Id="rId4" Type="http://schemas.openxmlformats.org/officeDocument/2006/relationships/image" Target="../media/image2.png"/><Relationship Id="rId9" Type="http://schemas.openxmlformats.org/officeDocument/2006/relationships/image" Target="../media/image7.jpeg"/><Relationship Id="rId14" Type="http://schemas.openxmlformats.org/officeDocument/2006/relationships/image" Target="../media/image33.png"/></Relationships>
</file>

<file path=ppt/slides/_rels/slide18.xml.rels><?xml version="1.0" encoding="UTF-8" standalone="yes"?>
<Relationships xmlns="http://schemas.openxmlformats.org/package/2006/relationships"><Relationship Id="rId8" Type="http://schemas.openxmlformats.org/officeDocument/2006/relationships/image" Target="../media/image6.jpeg"/><Relationship Id="rId13" Type="http://schemas.openxmlformats.org/officeDocument/2006/relationships/image" Target="../media/image11.png"/><Relationship Id="rId3" Type="http://schemas.openxmlformats.org/officeDocument/2006/relationships/image" Target="../media/image12.png"/><Relationship Id="rId7" Type="http://schemas.openxmlformats.org/officeDocument/2006/relationships/image" Target="../media/image5.jpeg"/><Relationship Id="rId12" Type="http://schemas.openxmlformats.org/officeDocument/2006/relationships/image" Target="../media/image10.png"/><Relationship Id="rId2" Type="http://schemas.openxmlformats.org/officeDocument/2006/relationships/notesSlide" Target="../notesSlides/notesSlide18.xml"/><Relationship Id="rId1" Type="http://schemas.openxmlformats.org/officeDocument/2006/relationships/slideLayout" Target="../slideLayouts/slideLayout1.xml"/><Relationship Id="rId6" Type="http://schemas.openxmlformats.org/officeDocument/2006/relationships/image" Target="../media/image4.jpeg"/><Relationship Id="rId11" Type="http://schemas.openxmlformats.org/officeDocument/2006/relationships/image" Target="../media/image9.png"/><Relationship Id="rId5" Type="http://schemas.openxmlformats.org/officeDocument/2006/relationships/image" Target="../media/image3.png"/><Relationship Id="rId15" Type="http://schemas.openxmlformats.org/officeDocument/2006/relationships/image" Target="../media/image35.png"/><Relationship Id="rId10" Type="http://schemas.openxmlformats.org/officeDocument/2006/relationships/image" Target="../media/image8.png"/><Relationship Id="rId4" Type="http://schemas.openxmlformats.org/officeDocument/2006/relationships/image" Target="../media/image2.png"/><Relationship Id="rId9" Type="http://schemas.openxmlformats.org/officeDocument/2006/relationships/image" Target="../media/image7.jpeg"/><Relationship Id="rId14" Type="http://schemas.openxmlformats.org/officeDocument/2006/relationships/image" Target="../media/image3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2"/>
          <p:cNvPicPr>
            <a:picLocks noChangeAspect="1"/>
          </p:cNvPicPr>
          <p:nvPr/>
        </p:nvPicPr>
        <p:blipFill rotWithShape="1">
          <a:blip r:embed="rId3">
            <a:extLst>
              <a:ext uri="{28A0092B-C50C-407E-A947-70E740481C1C}">
                <a14:useLocalDpi xmlns:a14="http://schemas.microsoft.com/office/drawing/2010/main" val="0"/>
              </a:ext>
            </a:extLst>
          </a:blip>
          <a:srcRect t="17344"/>
          <a:stretch/>
        </p:blipFill>
        <p:spPr>
          <a:xfrm>
            <a:off x="-1" y="1161751"/>
            <a:ext cx="12247963" cy="5696249"/>
          </a:xfrm>
          <a:prstGeom prst="rect">
            <a:avLst/>
          </a:prstGeom>
        </p:spPr>
      </p:pic>
      <p:sp>
        <p:nvSpPr>
          <p:cNvPr id="17" name="Rectangle 16"/>
          <p:cNvSpPr/>
          <p:nvPr/>
        </p:nvSpPr>
        <p:spPr>
          <a:xfrm>
            <a:off x="0" y="675503"/>
            <a:ext cx="12198786" cy="478582"/>
          </a:xfrm>
          <a:prstGeom prst="rect">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8" name="ZoneTexte 17"/>
          <p:cNvSpPr txBox="1"/>
          <p:nvPr/>
        </p:nvSpPr>
        <p:spPr>
          <a:xfrm>
            <a:off x="0" y="696885"/>
            <a:ext cx="12198786" cy="369332"/>
          </a:xfrm>
          <a:prstGeom prst="rect">
            <a:avLst/>
          </a:prstGeom>
          <a:noFill/>
        </p:spPr>
        <p:txBody>
          <a:bodyPr wrap="square" rtlCol="0">
            <a:spAutoFit/>
          </a:bodyPr>
          <a:lstStyle/>
          <a:p>
            <a:pPr algn="ctr"/>
            <a:r>
              <a:rPr lang="fr-FR" dirty="0" smtClean="0">
                <a:solidFill>
                  <a:schemeClr val="bg1"/>
                </a:solidFill>
              </a:rPr>
              <a:t>Présentation ADRAR Pôle Numérique</a:t>
            </a:r>
            <a:endParaRPr lang="fr-FR" dirty="0">
              <a:solidFill>
                <a:schemeClr val="bg1"/>
              </a:solidFill>
            </a:endParaRPr>
          </a:p>
        </p:txBody>
      </p:sp>
      <p:sp>
        <p:nvSpPr>
          <p:cNvPr id="40" name="ZoneTexte 39"/>
          <p:cNvSpPr txBox="1"/>
          <p:nvPr/>
        </p:nvSpPr>
        <p:spPr>
          <a:xfrm>
            <a:off x="6456211" y="1313092"/>
            <a:ext cx="4151883" cy="246221"/>
          </a:xfrm>
          <a:prstGeom prst="rect">
            <a:avLst/>
          </a:prstGeom>
          <a:noFill/>
        </p:spPr>
        <p:txBody>
          <a:bodyPr wrap="square" rtlCol="0">
            <a:spAutoFit/>
          </a:bodyPr>
          <a:lstStyle/>
          <a:p>
            <a:pPr algn="ctr"/>
            <a:r>
              <a:rPr lang="fr-FR" sz="1000" dirty="0">
                <a:solidFill>
                  <a:schemeClr val="bg1"/>
                </a:solidFill>
              </a:rPr>
              <a:t>Suivez-nous… </a:t>
            </a:r>
            <a:r>
              <a:rPr lang="fr-FR" sz="1000" dirty="0" smtClean="0">
                <a:solidFill>
                  <a:schemeClr val="bg1"/>
                </a:solidFill>
              </a:rPr>
              <a:t>LinkedIn            et Twitter           </a:t>
            </a:r>
            <a:r>
              <a:rPr lang="fr-FR" sz="1000" b="1" dirty="0" smtClean="0">
                <a:solidFill>
                  <a:schemeClr val="bg1">
                    <a:lumMod val="95000"/>
                  </a:schemeClr>
                </a:solidFill>
              </a:rPr>
              <a:t>@</a:t>
            </a:r>
            <a:r>
              <a:rPr lang="fr-FR" sz="1000" b="1" dirty="0" err="1">
                <a:solidFill>
                  <a:schemeClr val="bg1">
                    <a:lumMod val="95000"/>
                  </a:schemeClr>
                </a:solidFill>
              </a:rPr>
              <a:t>Adrar_Numerique</a:t>
            </a:r>
            <a:endParaRPr lang="fr-FR" sz="1000" b="1" dirty="0">
              <a:solidFill>
                <a:schemeClr val="bg1">
                  <a:lumMod val="95000"/>
                </a:schemeClr>
              </a:solidFill>
            </a:endParaRPr>
          </a:p>
        </p:txBody>
      </p:sp>
      <p:pic>
        <p:nvPicPr>
          <p:cNvPr id="41" name="Image 40"/>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879541" y="1320857"/>
            <a:ext cx="228243" cy="217374"/>
          </a:xfrm>
          <a:prstGeom prst="rect">
            <a:avLst/>
          </a:prstGeom>
        </p:spPr>
      </p:pic>
      <p:pic>
        <p:nvPicPr>
          <p:cNvPr id="42" name="Image 41" descr="logo-linkedin.png"/>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8077911" y="1344858"/>
            <a:ext cx="169371" cy="169371"/>
          </a:xfrm>
          <a:prstGeom prst="rect">
            <a:avLst/>
          </a:prstGeom>
        </p:spPr>
      </p:pic>
      <p:grpSp>
        <p:nvGrpSpPr>
          <p:cNvPr id="5" name="Groupe 4"/>
          <p:cNvGrpSpPr/>
          <p:nvPr/>
        </p:nvGrpSpPr>
        <p:grpSpPr>
          <a:xfrm>
            <a:off x="70311" y="-41891"/>
            <a:ext cx="12056372" cy="746449"/>
            <a:chOff x="70311" y="-41891"/>
            <a:chExt cx="12056372" cy="746449"/>
          </a:xfrm>
        </p:grpSpPr>
        <p:grpSp>
          <p:nvGrpSpPr>
            <p:cNvPr id="16" name="Groupe 15"/>
            <p:cNvGrpSpPr/>
            <p:nvPr/>
          </p:nvGrpSpPr>
          <p:grpSpPr>
            <a:xfrm>
              <a:off x="70311" y="-41891"/>
              <a:ext cx="12056372" cy="746449"/>
              <a:chOff x="51808" y="-49564"/>
              <a:chExt cx="12056372" cy="746449"/>
            </a:xfrm>
          </p:grpSpPr>
          <p:pic>
            <p:nvPicPr>
              <p:cNvPr id="19" name="Image 18" descr="bien plus.jpg"/>
              <p:cNvPicPr>
                <a:picLocks noChangeAspect="1"/>
              </p:cNvPicPr>
              <p:nvPr/>
            </p:nvPicPr>
            <p:blipFill>
              <a:blip r:embed="rId6" cstate="print"/>
              <a:stretch>
                <a:fillRect/>
              </a:stretch>
            </p:blipFill>
            <p:spPr>
              <a:xfrm>
                <a:off x="4122599" y="228466"/>
                <a:ext cx="1289328" cy="364658"/>
              </a:xfrm>
              <a:prstGeom prst="rect">
                <a:avLst/>
              </a:prstGeom>
            </p:spPr>
          </p:pic>
          <p:pic>
            <p:nvPicPr>
              <p:cNvPr id="20" name="Image 19" descr="personnes-adrar-coul_1.jpg"/>
              <p:cNvPicPr>
                <a:picLocks noChangeAspect="1"/>
              </p:cNvPicPr>
              <p:nvPr/>
            </p:nvPicPr>
            <p:blipFill>
              <a:blip r:embed="rId7" cstate="print"/>
              <a:stretch>
                <a:fillRect/>
              </a:stretch>
            </p:blipFill>
            <p:spPr>
              <a:xfrm>
                <a:off x="5640032" y="95784"/>
                <a:ext cx="510617" cy="506565"/>
              </a:xfrm>
              <a:prstGeom prst="rect">
                <a:avLst/>
              </a:prstGeom>
            </p:spPr>
          </p:pic>
          <p:pic>
            <p:nvPicPr>
              <p:cNvPr id="21" name="Image 20" descr="personnes-adrar-coul_2.jpg"/>
              <p:cNvPicPr>
                <a:picLocks noChangeAspect="1"/>
              </p:cNvPicPr>
              <p:nvPr/>
            </p:nvPicPr>
            <p:blipFill>
              <a:blip r:embed="rId8" cstate="print"/>
              <a:stretch>
                <a:fillRect/>
              </a:stretch>
            </p:blipFill>
            <p:spPr>
              <a:xfrm>
                <a:off x="3441939" y="228467"/>
                <a:ext cx="346861" cy="352500"/>
              </a:xfrm>
              <a:prstGeom prst="rect">
                <a:avLst/>
              </a:prstGeom>
            </p:spPr>
          </p:pic>
          <p:pic>
            <p:nvPicPr>
              <p:cNvPr id="22" name="Image 21" descr="LOGO ADRAR 300dpi.jpg"/>
              <p:cNvPicPr>
                <a:picLocks noChangeAspect="1"/>
              </p:cNvPicPr>
              <p:nvPr/>
            </p:nvPicPr>
            <p:blipFill>
              <a:blip r:embed="rId9" cstate="print"/>
              <a:stretch>
                <a:fillRect/>
              </a:stretch>
            </p:blipFill>
            <p:spPr>
              <a:xfrm>
                <a:off x="51808" y="51259"/>
                <a:ext cx="432261" cy="574815"/>
              </a:xfrm>
              <a:prstGeom prst="rect">
                <a:avLst/>
              </a:prstGeom>
              <a:noFill/>
              <a:ln>
                <a:noFill/>
              </a:ln>
            </p:spPr>
          </p:pic>
          <p:pic>
            <p:nvPicPr>
              <p:cNvPr id="24" name="Image 23" descr="LOGO-ERN-GEN2017-1.png"/>
              <p:cNvPicPr>
                <a:picLocks noChangeAspect="1"/>
              </p:cNvPicPr>
              <p:nvPr/>
            </p:nvPicPr>
            <p:blipFill rotWithShape="1">
              <a:blip r:embed="rId10" cstate="print">
                <a:extLst>
                  <a:ext uri="{28A0092B-C50C-407E-A947-70E740481C1C}">
                    <a14:useLocalDpi xmlns:a14="http://schemas.microsoft.com/office/drawing/2010/main" val="0"/>
                  </a:ext>
                </a:extLst>
              </a:blip>
              <a:srcRect r="19245"/>
              <a:stretch/>
            </p:blipFill>
            <p:spPr>
              <a:xfrm>
                <a:off x="6708147" y="12191"/>
                <a:ext cx="2275425" cy="669355"/>
              </a:xfrm>
              <a:prstGeom prst="rect">
                <a:avLst/>
              </a:prstGeom>
            </p:spPr>
          </p:pic>
          <p:pic>
            <p:nvPicPr>
              <p:cNvPr id="25" name="Image 24" descr="redim-06.png"/>
              <p:cNvPicPr>
                <a:picLocks noChangeAspect="1"/>
              </p:cNvPicPr>
              <p:nvPr/>
            </p:nvPicPr>
            <p:blipFill rotWithShape="1">
              <a:blip r:embed="rId11" cstate="print">
                <a:extLst>
                  <a:ext uri="{28A0092B-C50C-407E-A947-70E740481C1C}">
                    <a14:useLocalDpi xmlns:a14="http://schemas.microsoft.com/office/drawing/2010/main" val="0"/>
                  </a:ext>
                </a:extLst>
              </a:blip>
              <a:srcRect t="28400" b="26267"/>
              <a:stretch/>
            </p:blipFill>
            <p:spPr>
              <a:xfrm>
                <a:off x="10739120" y="30480"/>
                <a:ext cx="1369060" cy="620641"/>
              </a:xfrm>
              <a:prstGeom prst="rect">
                <a:avLst/>
              </a:prstGeom>
            </p:spPr>
          </p:pic>
          <p:pic>
            <p:nvPicPr>
              <p:cNvPr id="26" name="Image 25"/>
              <p:cNvPicPr>
                <a:picLocks noChangeAspect="1"/>
              </p:cNvPicPr>
              <p:nvPr/>
            </p:nvPicPr>
            <p:blipFill rotWithShape="1">
              <a:blip r:embed="rId12" cstate="print">
                <a:extLst>
                  <a:ext uri="{28A0092B-C50C-407E-A947-70E740481C1C}">
                    <a14:useLocalDpi xmlns:a14="http://schemas.microsoft.com/office/drawing/2010/main" val="0"/>
                  </a:ext>
                </a:extLst>
              </a:blip>
              <a:srcRect l="16802" t="22888" r="16244" b="27236"/>
              <a:stretch/>
            </p:blipFill>
            <p:spPr>
              <a:xfrm>
                <a:off x="8974241" y="-49564"/>
                <a:ext cx="1502229" cy="746449"/>
              </a:xfrm>
              <a:prstGeom prst="rect">
                <a:avLst/>
              </a:prstGeom>
            </p:spPr>
          </p:pic>
        </p:grpSp>
        <p:pic>
          <p:nvPicPr>
            <p:cNvPr id="4" name="Image 3"/>
            <p:cNvPicPr>
              <a:picLocks noChangeAspect="1"/>
            </p:cNvPicPr>
            <p:nvPr/>
          </p:nvPicPr>
          <p:blipFill rotWithShape="1">
            <a:blip r:embed="rId13">
              <a:extLst>
                <a:ext uri="{28A0092B-C50C-407E-A947-70E740481C1C}">
                  <a14:useLocalDpi xmlns:a14="http://schemas.microsoft.com/office/drawing/2010/main" val="0"/>
                </a:ext>
              </a:extLst>
            </a:blip>
            <a:srcRect t="22863" b="24898"/>
            <a:stretch/>
          </p:blipFill>
          <p:spPr>
            <a:xfrm>
              <a:off x="680899" y="90649"/>
              <a:ext cx="2612643" cy="537329"/>
            </a:xfrm>
            <a:prstGeom prst="rect">
              <a:avLst/>
            </a:prstGeom>
          </p:spPr>
        </p:pic>
      </p:grpSp>
    </p:spTree>
    <p:extLst>
      <p:ext uri="{BB962C8B-B14F-4D97-AF65-F5344CB8AC3E}">
        <p14:creationId xmlns:p14="http://schemas.microsoft.com/office/powerpoint/2010/main" val="3823444247"/>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Rectangle 16"/>
          <p:cNvSpPr/>
          <p:nvPr/>
        </p:nvSpPr>
        <p:spPr>
          <a:xfrm>
            <a:off x="0" y="675503"/>
            <a:ext cx="12198786" cy="478582"/>
          </a:xfrm>
          <a:prstGeom prst="rect">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22" name="Image 2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002202" y="6540326"/>
            <a:ext cx="253968" cy="253968"/>
          </a:xfrm>
          <a:prstGeom prst="rect">
            <a:avLst/>
          </a:prstGeom>
        </p:spPr>
      </p:pic>
      <p:sp>
        <p:nvSpPr>
          <p:cNvPr id="23" name="ZoneTexte 22"/>
          <p:cNvSpPr txBox="1"/>
          <p:nvPr/>
        </p:nvSpPr>
        <p:spPr>
          <a:xfrm>
            <a:off x="5216109" y="6532276"/>
            <a:ext cx="2664700" cy="307777"/>
          </a:xfrm>
          <a:prstGeom prst="rect">
            <a:avLst/>
          </a:prstGeom>
          <a:noFill/>
        </p:spPr>
        <p:txBody>
          <a:bodyPr wrap="square" rtlCol="0">
            <a:spAutoFit/>
          </a:bodyPr>
          <a:lstStyle/>
          <a:p>
            <a:r>
              <a:rPr lang="fr-FR" sz="1400" dirty="0" smtClean="0">
                <a:solidFill>
                  <a:schemeClr val="tx1">
                    <a:lumMod val="65000"/>
                    <a:lumOff val="35000"/>
                  </a:schemeClr>
                </a:solidFill>
              </a:rPr>
              <a:t>ADRAR Pôle Numérique Occitanie</a:t>
            </a:r>
            <a:endParaRPr lang="fr-FR" sz="1400" dirty="0">
              <a:solidFill>
                <a:schemeClr val="tx1">
                  <a:lumMod val="65000"/>
                  <a:lumOff val="35000"/>
                </a:schemeClr>
              </a:solidFill>
            </a:endParaRPr>
          </a:p>
        </p:txBody>
      </p:sp>
      <p:sp>
        <p:nvSpPr>
          <p:cNvPr id="31" name="ZoneTexte 30"/>
          <p:cNvSpPr txBox="1"/>
          <p:nvPr/>
        </p:nvSpPr>
        <p:spPr>
          <a:xfrm>
            <a:off x="0" y="696885"/>
            <a:ext cx="12198786" cy="384721"/>
          </a:xfrm>
          <a:prstGeom prst="rect">
            <a:avLst/>
          </a:prstGeom>
          <a:noFill/>
        </p:spPr>
        <p:txBody>
          <a:bodyPr wrap="square" rtlCol="0">
            <a:spAutoFit/>
          </a:bodyPr>
          <a:lstStyle/>
          <a:p>
            <a:pPr algn="ctr"/>
            <a:r>
              <a:rPr lang="fr-FR" sz="1600" dirty="0">
                <a:solidFill>
                  <a:schemeClr val="bg1"/>
                </a:solidFill>
              </a:rPr>
              <a:t>Suivez-nous sur </a:t>
            </a:r>
            <a:r>
              <a:rPr lang="fr-FR" sz="1600" dirty="0" err="1">
                <a:solidFill>
                  <a:schemeClr val="bg1"/>
                </a:solidFill>
              </a:rPr>
              <a:t>LinkedIn</a:t>
            </a:r>
            <a:r>
              <a:rPr lang="fr-FR" sz="1600" dirty="0">
                <a:solidFill>
                  <a:schemeClr val="bg1"/>
                </a:solidFill>
              </a:rPr>
              <a:t>             </a:t>
            </a:r>
            <a:r>
              <a:rPr lang="fr-FR" sz="1600" dirty="0" err="1">
                <a:solidFill>
                  <a:schemeClr val="bg1"/>
                </a:solidFill>
              </a:rPr>
              <a:t>Twitter</a:t>
            </a:r>
            <a:r>
              <a:rPr lang="fr-FR" sz="1600" dirty="0">
                <a:solidFill>
                  <a:schemeClr val="bg1"/>
                </a:solidFill>
              </a:rPr>
              <a:t>       </a:t>
            </a:r>
            <a:r>
              <a:rPr lang="fr-FR" sz="1900" b="1" dirty="0">
                <a:solidFill>
                  <a:schemeClr val="bg1">
                    <a:lumMod val="95000"/>
                  </a:schemeClr>
                </a:solidFill>
              </a:rPr>
              <a:t>@</a:t>
            </a:r>
            <a:r>
              <a:rPr lang="fr-FR" sz="1900" b="1" dirty="0" err="1">
                <a:solidFill>
                  <a:schemeClr val="bg1">
                    <a:lumMod val="95000"/>
                  </a:schemeClr>
                </a:solidFill>
              </a:rPr>
              <a:t>Adrar_Numerique</a:t>
            </a:r>
            <a:r>
              <a:rPr lang="fr-FR" sz="1900" dirty="0">
                <a:solidFill>
                  <a:schemeClr val="bg1">
                    <a:lumMod val="95000"/>
                  </a:schemeClr>
                </a:solidFill>
              </a:rPr>
              <a:t>	… </a:t>
            </a:r>
            <a:r>
              <a:rPr lang="fr-FR" sz="1600" dirty="0">
                <a:solidFill>
                  <a:schemeClr val="bg1"/>
                </a:solidFill>
              </a:rPr>
              <a:t>et sur le web : </a:t>
            </a:r>
            <a:r>
              <a:rPr lang="fr-FR" sz="1900" b="1" dirty="0">
                <a:solidFill>
                  <a:schemeClr val="bg1">
                    <a:lumMod val="95000"/>
                  </a:schemeClr>
                </a:solidFill>
              </a:rPr>
              <a:t>www.adrar-numerique.com</a:t>
            </a:r>
          </a:p>
        </p:txBody>
      </p:sp>
      <p:pic>
        <p:nvPicPr>
          <p:cNvPr id="32" name="Image 31"/>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024648" y="762261"/>
            <a:ext cx="266667" cy="253968"/>
          </a:xfrm>
          <a:prstGeom prst="rect">
            <a:avLst/>
          </a:prstGeom>
        </p:spPr>
      </p:pic>
      <p:pic>
        <p:nvPicPr>
          <p:cNvPr id="33" name="Image 32" descr="logo-linkedin.png"/>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2899844" y="783165"/>
            <a:ext cx="285752" cy="285752"/>
          </a:xfrm>
          <a:prstGeom prst="rect">
            <a:avLst/>
          </a:prstGeom>
        </p:spPr>
      </p:pic>
      <p:grpSp>
        <p:nvGrpSpPr>
          <p:cNvPr id="34" name="Groupe 33"/>
          <p:cNvGrpSpPr/>
          <p:nvPr/>
        </p:nvGrpSpPr>
        <p:grpSpPr>
          <a:xfrm>
            <a:off x="70311" y="-41891"/>
            <a:ext cx="12056372" cy="746449"/>
            <a:chOff x="70311" y="-41891"/>
            <a:chExt cx="12056372" cy="746449"/>
          </a:xfrm>
        </p:grpSpPr>
        <p:grpSp>
          <p:nvGrpSpPr>
            <p:cNvPr id="35" name="Groupe 34"/>
            <p:cNvGrpSpPr/>
            <p:nvPr/>
          </p:nvGrpSpPr>
          <p:grpSpPr>
            <a:xfrm>
              <a:off x="70311" y="-41891"/>
              <a:ext cx="12056372" cy="746449"/>
              <a:chOff x="51808" y="-49564"/>
              <a:chExt cx="12056372" cy="746449"/>
            </a:xfrm>
          </p:grpSpPr>
          <p:pic>
            <p:nvPicPr>
              <p:cNvPr id="37" name="Image 36" descr="bien plus.jpg"/>
              <p:cNvPicPr>
                <a:picLocks noChangeAspect="1"/>
              </p:cNvPicPr>
              <p:nvPr/>
            </p:nvPicPr>
            <p:blipFill>
              <a:blip r:embed="rId6" cstate="print"/>
              <a:stretch>
                <a:fillRect/>
              </a:stretch>
            </p:blipFill>
            <p:spPr>
              <a:xfrm>
                <a:off x="4122599" y="228466"/>
                <a:ext cx="1289328" cy="364658"/>
              </a:xfrm>
              <a:prstGeom prst="rect">
                <a:avLst/>
              </a:prstGeom>
            </p:spPr>
          </p:pic>
          <p:pic>
            <p:nvPicPr>
              <p:cNvPr id="38" name="Image 37" descr="personnes-adrar-coul_1.jpg"/>
              <p:cNvPicPr>
                <a:picLocks noChangeAspect="1"/>
              </p:cNvPicPr>
              <p:nvPr/>
            </p:nvPicPr>
            <p:blipFill>
              <a:blip r:embed="rId7" cstate="print"/>
              <a:stretch>
                <a:fillRect/>
              </a:stretch>
            </p:blipFill>
            <p:spPr>
              <a:xfrm>
                <a:off x="5640032" y="95784"/>
                <a:ext cx="510617" cy="506565"/>
              </a:xfrm>
              <a:prstGeom prst="rect">
                <a:avLst/>
              </a:prstGeom>
            </p:spPr>
          </p:pic>
          <p:pic>
            <p:nvPicPr>
              <p:cNvPr id="39" name="Image 38" descr="personnes-adrar-coul_2.jpg"/>
              <p:cNvPicPr>
                <a:picLocks noChangeAspect="1"/>
              </p:cNvPicPr>
              <p:nvPr/>
            </p:nvPicPr>
            <p:blipFill>
              <a:blip r:embed="rId8" cstate="print"/>
              <a:stretch>
                <a:fillRect/>
              </a:stretch>
            </p:blipFill>
            <p:spPr>
              <a:xfrm>
                <a:off x="3441939" y="228467"/>
                <a:ext cx="346861" cy="352500"/>
              </a:xfrm>
              <a:prstGeom prst="rect">
                <a:avLst/>
              </a:prstGeom>
            </p:spPr>
          </p:pic>
          <p:pic>
            <p:nvPicPr>
              <p:cNvPr id="40" name="Image 39" descr="LOGO ADRAR 300dpi.jpg"/>
              <p:cNvPicPr>
                <a:picLocks noChangeAspect="1"/>
              </p:cNvPicPr>
              <p:nvPr/>
            </p:nvPicPr>
            <p:blipFill>
              <a:blip r:embed="rId9" cstate="print"/>
              <a:stretch>
                <a:fillRect/>
              </a:stretch>
            </p:blipFill>
            <p:spPr>
              <a:xfrm>
                <a:off x="51808" y="51259"/>
                <a:ext cx="432261" cy="574815"/>
              </a:xfrm>
              <a:prstGeom prst="rect">
                <a:avLst/>
              </a:prstGeom>
              <a:noFill/>
              <a:ln>
                <a:noFill/>
              </a:ln>
            </p:spPr>
          </p:pic>
          <p:pic>
            <p:nvPicPr>
              <p:cNvPr id="49" name="Image 48" descr="LOGO-ERN-GEN2017-1.png"/>
              <p:cNvPicPr>
                <a:picLocks noChangeAspect="1"/>
              </p:cNvPicPr>
              <p:nvPr/>
            </p:nvPicPr>
            <p:blipFill rotWithShape="1">
              <a:blip r:embed="rId10" cstate="print">
                <a:extLst>
                  <a:ext uri="{28A0092B-C50C-407E-A947-70E740481C1C}">
                    <a14:useLocalDpi xmlns:a14="http://schemas.microsoft.com/office/drawing/2010/main" val="0"/>
                  </a:ext>
                </a:extLst>
              </a:blip>
              <a:srcRect r="19245"/>
              <a:stretch/>
            </p:blipFill>
            <p:spPr>
              <a:xfrm>
                <a:off x="6708147" y="12191"/>
                <a:ext cx="2275425" cy="669355"/>
              </a:xfrm>
              <a:prstGeom prst="rect">
                <a:avLst/>
              </a:prstGeom>
            </p:spPr>
          </p:pic>
          <p:pic>
            <p:nvPicPr>
              <p:cNvPr id="50" name="Image 49" descr="redim-06.png"/>
              <p:cNvPicPr>
                <a:picLocks noChangeAspect="1"/>
              </p:cNvPicPr>
              <p:nvPr/>
            </p:nvPicPr>
            <p:blipFill rotWithShape="1">
              <a:blip r:embed="rId11" cstate="print">
                <a:extLst>
                  <a:ext uri="{28A0092B-C50C-407E-A947-70E740481C1C}">
                    <a14:useLocalDpi xmlns:a14="http://schemas.microsoft.com/office/drawing/2010/main" val="0"/>
                  </a:ext>
                </a:extLst>
              </a:blip>
              <a:srcRect t="28400" b="26267"/>
              <a:stretch/>
            </p:blipFill>
            <p:spPr>
              <a:xfrm>
                <a:off x="10739120" y="30480"/>
                <a:ext cx="1369060" cy="620641"/>
              </a:xfrm>
              <a:prstGeom prst="rect">
                <a:avLst/>
              </a:prstGeom>
            </p:spPr>
          </p:pic>
          <p:pic>
            <p:nvPicPr>
              <p:cNvPr id="51" name="Image 50"/>
              <p:cNvPicPr>
                <a:picLocks noChangeAspect="1"/>
              </p:cNvPicPr>
              <p:nvPr/>
            </p:nvPicPr>
            <p:blipFill rotWithShape="1">
              <a:blip r:embed="rId12" cstate="print">
                <a:extLst>
                  <a:ext uri="{28A0092B-C50C-407E-A947-70E740481C1C}">
                    <a14:useLocalDpi xmlns:a14="http://schemas.microsoft.com/office/drawing/2010/main" val="0"/>
                  </a:ext>
                </a:extLst>
              </a:blip>
              <a:srcRect l="16802" t="22888" r="16244" b="27236"/>
              <a:stretch/>
            </p:blipFill>
            <p:spPr>
              <a:xfrm>
                <a:off x="8974241" y="-49564"/>
                <a:ext cx="1502229" cy="746449"/>
              </a:xfrm>
              <a:prstGeom prst="rect">
                <a:avLst/>
              </a:prstGeom>
            </p:spPr>
          </p:pic>
        </p:grpSp>
        <p:pic>
          <p:nvPicPr>
            <p:cNvPr id="36" name="Image 35"/>
            <p:cNvPicPr>
              <a:picLocks noChangeAspect="1"/>
            </p:cNvPicPr>
            <p:nvPr/>
          </p:nvPicPr>
          <p:blipFill rotWithShape="1">
            <a:blip r:embed="rId13">
              <a:extLst>
                <a:ext uri="{28A0092B-C50C-407E-A947-70E740481C1C}">
                  <a14:useLocalDpi xmlns:a14="http://schemas.microsoft.com/office/drawing/2010/main" val="0"/>
                </a:ext>
              </a:extLst>
            </a:blip>
            <a:srcRect t="22863" b="24898"/>
            <a:stretch/>
          </p:blipFill>
          <p:spPr>
            <a:xfrm>
              <a:off x="680899" y="90649"/>
              <a:ext cx="2612643" cy="537329"/>
            </a:xfrm>
            <a:prstGeom prst="rect">
              <a:avLst/>
            </a:prstGeom>
          </p:spPr>
        </p:pic>
      </p:grpSp>
      <p:pic>
        <p:nvPicPr>
          <p:cNvPr id="3" name="Image 2"/>
          <p:cNvPicPr>
            <a:picLocks noChangeAspect="1"/>
          </p:cNvPicPr>
          <p:nvPr/>
        </p:nvPicPr>
        <p:blipFill>
          <a:blip r:embed="rId14">
            <a:extLst>
              <a:ext uri="{28A0092B-C50C-407E-A947-70E740481C1C}">
                <a14:useLocalDpi xmlns:a14="http://schemas.microsoft.com/office/drawing/2010/main" val="0"/>
              </a:ext>
            </a:extLst>
          </a:blip>
          <a:stretch>
            <a:fillRect/>
          </a:stretch>
        </p:blipFill>
        <p:spPr>
          <a:xfrm>
            <a:off x="2411697" y="1809724"/>
            <a:ext cx="7004292" cy="3922403"/>
          </a:xfrm>
          <a:prstGeom prst="rect">
            <a:avLst/>
          </a:prstGeom>
        </p:spPr>
      </p:pic>
    </p:spTree>
    <p:extLst>
      <p:ext uri="{BB962C8B-B14F-4D97-AF65-F5344CB8AC3E}">
        <p14:creationId xmlns:p14="http://schemas.microsoft.com/office/powerpoint/2010/main" val="526695442"/>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Rectangle 16"/>
          <p:cNvSpPr/>
          <p:nvPr/>
        </p:nvSpPr>
        <p:spPr>
          <a:xfrm>
            <a:off x="0" y="675503"/>
            <a:ext cx="12198786" cy="478582"/>
          </a:xfrm>
          <a:prstGeom prst="rect">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22" name="Image 2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002202" y="6540326"/>
            <a:ext cx="253968" cy="253968"/>
          </a:xfrm>
          <a:prstGeom prst="rect">
            <a:avLst/>
          </a:prstGeom>
        </p:spPr>
      </p:pic>
      <p:sp>
        <p:nvSpPr>
          <p:cNvPr id="23" name="ZoneTexte 22"/>
          <p:cNvSpPr txBox="1"/>
          <p:nvPr/>
        </p:nvSpPr>
        <p:spPr>
          <a:xfrm>
            <a:off x="5216109" y="6532276"/>
            <a:ext cx="2664700" cy="307777"/>
          </a:xfrm>
          <a:prstGeom prst="rect">
            <a:avLst/>
          </a:prstGeom>
          <a:noFill/>
        </p:spPr>
        <p:txBody>
          <a:bodyPr wrap="square" rtlCol="0">
            <a:spAutoFit/>
          </a:bodyPr>
          <a:lstStyle/>
          <a:p>
            <a:r>
              <a:rPr lang="fr-FR" sz="1400" dirty="0" smtClean="0">
                <a:solidFill>
                  <a:schemeClr val="tx1">
                    <a:lumMod val="65000"/>
                    <a:lumOff val="35000"/>
                  </a:schemeClr>
                </a:solidFill>
              </a:rPr>
              <a:t>ADRAR Pôle Numérique Occitanie</a:t>
            </a:r>
            <a:endParaRPr lang="fr-FR" sz="1400" dirty="0">
              <a:solidFill>
                <a:schemeClr val="tx1">
                  <a:lumMod val="65000"/>
                  <a:lumOff val="35000"/>
                </a:schemeClr>
              </a:solidFill>
            </a:endParaRPr>
          </a:p>
        </p:txBody>
      </p:sp>
      <p:sp>
        <p:nvSpPr>
          <p:cNvPr id="31" name="ZoneTexte 30"/>
          <p:cNvSpPr txBox="1"/>
          <p:nvPr/>
        </p:nvSpPr>
        <p:spPr>
          <a:xfrm>
            <a:off x="0" y="696885"/>
            <a:ext cx="12198786" cy="384721"/>
          </a:xfrm>
          <a:prstGeom prst="rect">
            <a:avLst/>
          </a:prstGeom>
          <a:noFill/>
        </p:spPr>
        <p:txBody>
          <a:bodyPr wrap="square" rtlCol="0">
            <a:spAutoFit/>
          </a:bodyPr>
          <a:lstStyle/>
          <a:p>
            <a:pPr algn="ctr"/>
            <a:r>
              <a:rPr lang="fr-FR" sz="1600" dirty="0">
                <a:solidFill>
                  <a:schemeClr val="bg1"/>
                </a:solidFill>
              </a:rPr>
              <a:t>Suivez-nous sur </a:t>
            </a:r>
            <a:r>
              <a:rPr lang="fr-FR" sz="1600" dirty="0" err="1">
                <a:solidFill>
                  <a:schemeClr val="bg1"/>
                </a:solidFill>
              </a:rPr>
              <a:t>LinkedIn</a:t>
            </a:r>
            <a:r>
              <a:rPr lang="fr-FR" sz="1600" dirty="0">
                <a:solidFill>
                  <a:schemeClr val="bg1"/>
                </a:solidFill>
              </a:rPr>
              <a:t>             </a:t>
            </a:r>
            <a:r>
              <a:rPr lang="fr-FR" sz="1600" dirty="0" err="1">
                <a:solidFill>
                  <a:schemeClr val="bg1"/>
                </a:solidFill>
              </a:rPr>
              <a:t>Twitter</a:t>
            </a:r>
            <a:r>
              <a:rPr lang="fr-FR" sz="1600" dirty="0">
                <a:solidFill>
                  <a:schemeClr val="bg1"/>
                </a:solidFill>
              </a:rPr>
              <a:t>       </a:t>
            </a:r>
            <a:r>
              <a:rPr lang="fr-FR" sz="1900" b="1" dirty="0">
                <a:solidFill>
                  <a:schemeClr val="bg1">
                    <a:lumMod val="95000"/>
                  </a:schemeClr>
                </a:solidFill>
              </a:rPr>
              <a:t>@</a:t>
            </a:r>
            <a:r>
              <a:rPr lang="fr-FR" sz="1900" b="1" dirty="0" err="1">
                <a:solidFill>
                  <a:schemeClr val="bg1">
                    <a:lumMod val="95000"/>
                  </a:schemeClr>
                </a:solidFill>
              </a:rPr>
              <a:t>Adrar_Numerique</a:t>
            </a:r>
            <a:r>
              <a:rPr lang="fr-FR" sz="1900" dirty="0">
                <a:solidFill>
                  <a:schemeClr val="bg1">
                    <a:lumMod val="95000"/>
                  </a:schemeClr>
                </a:solidFill>
              </a:rPr>
              <a:t>	… </a:t>
            </a:r>
            <a:r>
              <a:rPr lang="fr-FR" sz="1600" dirty="0">
                <a:solidFill>
                  <a:schemeClr val="bg1"/>
                </a:solidFill>
              </a:rPr>
              <a:t>et sur le web : </a:t>
            </a:r>
            <a:r>
              <a:rPr lang="fr-FR" sz="1900" b="1" dirty="0">
                <a:solidFill>
                  <a:schemeClr val="bg1">
                    <a:lumMod val="95000"/>
                  </a:schemeClr>
                </a:solidFill>
              </a:rPr>
              <a:t>www.adrar-numerique.com</a:t>
            </a:r>
          </a:p>
        </p:txBody>
      </p:sp>
      <p:pic>
        <p:nvPicPr>
          <p:cNvPr id="32" name="Image 31"/>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024648" y="762261"/>
            <a:ext cx="266667" cy="253968"/>
          </a:xfrm>
          <a:prstGeom prst="rect">
            <a:avLst/>
          </a:prstGeom>
        </p:spPr>
      </p:pic>
      <p:pic>
        <p:nvPicPr>
          <p:cNvPr id="33" name="Image 32" descr="logo-linkedin.png"/>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2899844" y="783165"/>
            <a:ext cx="285752" cy="285752"/>
          </a:xfrm>
          <a:prstGeom prst="rect">
            <a:avLst/>
          </a:prstGeom>
        </p:spPr>
      </p:pic>
      <p:grpSp>
        <p:nvGrpSpPr>
          <p:cNvPr id="34" name="Groupe 33"/>
          <p:cNvGrpSpPr/>
          <p:nvPr/>
        </p:nvGrpSpPr>
        <p:grpSpPr>
          <a:xfrm>
            <a:off x="70311" y="-41891"/>
            <a:ext cx="12056372" cy="746449"/>
            <a:chOff x="70311" y="-41891"/>
            <a:chExt cx="12056372" cy="746449"/>
          </a:xfrm>
        </p:grpSpPr>
        <p:grpSp>
          <p:nvGrpSpPr>
            <p:cNvPr id="35" name="Groupe 34"/>
            <p:cNvGrpSpPr/>
            <p:nvPr/>
          </p:nvGrpSpPr>
          <p:grpSpPr>
            <a:xfrm>
              <a:off x="70311" y="-41891"/>
              <a:ext cx="12056372" cy="746449"/>
              <a:chOff x="51808" y="-49564"/>
              <a:chExt cx="12056372" cy="746449"/>
            </a:xfrm>
          </p:grpSpPr>
          <p:pic>
            <p:nvPicPr>
              <p:cNvPr id="37" name="Image 36" descr="bien plus.jpg"/>
              <p:cNvPicPr>
                <a:picLocks noChangeAspect="1"/>
              </p:cNvPicPr>
              <p:nvPr/>
            </p:nvPicPr>
            <p:blipFill>
              <a:blip r:embed="rId6" cstate="print"/>
              <a:stretch>
                <a:fillRect/>
              </a:stretch>
            </p:blipFill>
            <p:spPr>
              <a:xfrm>
                <a:off x="4122599" y="228466"/>
                <a:ext cx="1289328" cy="364658"/>
              </a:xfrm>
              <a:prstGeom prst="rect">
                <a:avLst/>
              </a:prstGeom>
            </p:spPr>
          </p:pic>
          <p:pic>
            <p:nvPicPr>
              <p:cNvPr id="38" name="Image 37" descr="personnes-adrar-coul_1.jpg"/>
              <p:cNvPicPr>
                <a:picLocks noChangeAspect="1"/>
              </p:cNvPicPr>
              <p:nvPr/>
            </p:nvPicPr>
            <p:blipFill>
              <a:blip r:embed="rId7" cstate="print"/>
              <a:stretch>
                <a:fillRect/>
              </a:stretch>
            </p:blipFill>
            <p:spPr>
              <a:xfrm>
                <a:off x="5640032" y="95784"/>
                <a:ext cx="510617" cy="506565"/>
              </a:xfrm>
              <a:prstGeom prst="rect">
                <a:avLst/>
              </a:prstGeom>
            </p:spPr>
          </p:pic>
          <p:pic>
            <p:nvPicPr>
              <p:cNvPr id="39" name="Image 38" descr="personnes-adrar-coul_2.jpg"/>
              <p:cNvPicPr>
                <a:picLocks noChangeAspect="1"/>
              </p:cNvPicPr>
              <p:nvPr/>
            </p:nvPicPr>
            <p:blipFill>
              <a:blip r:embed="rId8" cstate="print"/>
              <a:stretch>
                <a:fillRect/>
              </a:stretch>
            </p:blipFill>
            <p:spPr>
              <a:xfrm>
                <a:off x="3441939" y="228467"/>
                <a:ext cx="346861" cy="352500"/>
              </a:xfrm>
              <a:prstGeom prst="rect">
                <a:avLst/>
              </a:prstGeom>
            </p:spPr>
          </p:pic>
          <p:pic>
            <p:nvPicPr>
              <p:cNvPr id="40" name="Image 39" descr="LOGO ADRAR 300dpi.jpg"/>
              <p:cNvPicPr>
                <a:picLocks noChangeAspect="1"/>
              </p:cNvPicPr>
              <p:nvPr/>
            </p:nvPicPr>
            <p:blipFill>
              <a:blip r:embed="rId9" cstate="print"/>
              <a:stretch>
                <a:fillRect/>
              </a:stretch>
            </p:blipFill>
            <p:spPr>
              <a:xfrm>
                <a:off x="51808" y="51259"/>
                <a:ext cx="432261" cy="574815"/>
              </a:xfrm>
              <a:prstGeom prst="rect">
                <a:avLst/>
              </a:prstGeom>
              <a:noFill/>
              <a:ln>
                <a:noFill/>
              </a:ln>
            </p:spPr>
          </p:pic>
          <p:pic>
            <p:nvPicPr>
              <p:cNvPr id="49" name="Image 48" descr="LOGO-ERN-GEN2017-1.png"/>
              <p:cNvPicPr>
                <a:picLocks noChangeAspect="1"/>
              </p:cNvPicPr>
              <p:nvPr/>
            </p:nvPicPr>
            <p:blipFill rotWithShape="1">
              <a:blip r:embed="rId10" cstate="print">
                <a:extLst>
                  <a:ext uri="{28A0092B-C50C-407E-A947-70E740481C1C}">
                    <a14:useLocalDpi xmlns:a14="http://schemas.microsoft.com/office/drawing/2010/main" val="0"/>
                  </a:ext>
                </a:extLst>
              </a:blip>
              <a:srcRect r="19245"/>
              <a:stretch/>
            </p:blipFill>
            <p:spPr>
              <a:xfrm>
                <a:off x="6708147" y="12191"/>
                <a:ext cx="2275425" cy="669355"/>
              </a:xfrm>
              <a:prstGeom prst="rect">
                <a:avLst/>
              </a:prstGeom>
            </p:spPr>
          </p:pic>
          <p:pic>
            <p:nvPicPr>
              <p:cNvPr id="50" name="Image 49" descr="redim-06.png"/>
              <p:cNvPicPr>
                <a:picLocks noChangeAspect="1"/>
              </p:cNvPicPr>
              <p:nvPr/>
            </p:nvPicPr>
            <p:blipFill rotWithShape="1">
              <a:blip r:embed="rId11" cstate="print">
                <a:extLst>
                  <a:ext uri="{28A0092B-C50C-407E-A947-70E740481C1C}">
                    <a14:useLocalDpi xmlns:a14="http://schemas.microsoft.com/office/drawing/2010/main" val="0"/>
                  </a:ext>
                </a:extLst>
              </a:blip>
              <a:srcRect t="28400" b="26267"/>
              <a:stretch/>
            </p:blipFill>
            <p:spPr>
              <a:xfrm>
                <a:off x="10739120" y="30480"/>
                <a:ext cx="1369060" cy="620641"/>
              </a:xfrm>
              <a:prstGeom prst="rect">
                <a:avLst/>
              </a:prstGeom>
            </p:spPr>
          </p:pic>
          <p:pic>
            <p:nvPicPr>
              <p:cNvPr id="51" name="Image 50"/>
              <p:cNvPicPr>
                <a:picLocks noChangeAspect="1"/>
              </p:cNvPicPr>
              <p:nvPr/>
            </p:nvPicPr>
            <p:blipFill rotWithShape="1">
              <a:blip r:embed="rId12" cstate="print">
                <a:extLst>
                  <a:ext uri="{28A0092B-C50C-407E-A947-70E740481C1C}">
                    <a14:useLocalDpi xmlns:a14="http://schemas.microsoft.com/office/drawing/2010/main" val="0"/>
                  </a:ext>
                </a:extLst>
              </a:blip>
              <a:srcRect l="16802" t="22888" r="16244" b="27236"/>
              <a:stretch/>
            </p:blipFill>
            <p:spPr>
              <a:xfrm>
                <a:off x="8974241" y="-49564"/>
                <a:ext cx="1502229" cy="746449"/>
              </a:xfrm>
              <a:prstGeom prst="rect">
                <a:avLst/>
              </a:prstGeom>
            </p:spPr>
          </p:pic>
        </p:grpSp>
        <p:pic>
          <p:nvPicPr>
            <p:cNvPr id="36" name="Image 35"/>
            <p:cNvPicPr>
              <a:picLocks noChangeAspect="1"/>
            </p:cNvPicPr>
            <p:nvPr/>
          </p:nvPicPr>
          <p:blipFill rotWithShape="1">
            <a:blip r:embed="rId13">
              <a:extLst>
                <a:ext uri="{28A0092B-C50C-407E-A947-70E740481C1C}">
                  <a14:useLocalDpi xmlns:a14="http://schemas.microsoft.com/office/drawing/2010/main" val="0"/>
                </a:ext>
              </a:extLst>
            </a:blip>
            <a:srcRect t="22863" b="24898"/>
            <a:stretch/>
          </p:blipFill>
          <p:spPr>
            <a:xfrm>
              <a:off x="680899" y="90649"/>
              <a:ext cx="2612643" cy="537329"/>
            </a:xfrm>
            <a:prstGeom prst="rect">
              <a:avLst/>
            </a:prstGeom>
          </p:spPr>
        </p:pic>
      </p:grpSp>
      <p:sp>
        <p:nvSpPr>
          <p:cNvPr id="2" name="ZoneTexte 1"/>
          <p:cNvSpPr txBox="1"/>
          <p:nvPr/>
        </p:nvSpPr>
        <p:spPr>
          <a:xfrm>
            <a:off x="1657669" y="3177436"/>
            <a:ext cx="8512348" cy="1323439"/>
          </a:xfrm>
          <a:prstGeom prst="rect">
            <a:avLst/>
          </a:prstGeom>
          <a:noFill/>
        </p:spPr>
        <p:txBody>
          <a:bodyPr wrap="square" rtlCol="0">
            <a:spAutoFit/>
          </a:bodyPr>
          <a:lstStyle/>
          <a:p>
            <a:pPr algn="ctr"/>
            <a:r>
              <a:rPr lang="fr-FR" sz="8000" b="1" u="sng" dirty="0" smtClean="0"/>
              <a:t>TESTS</a:t>
            </a:r>
            <a:endParaRPr lang="fr-FR" sz="8000" b="1" u="sng" dirty="0"/>
          </a:p>
        </p:txBody>
      </p:sp>
    </p:spTree>
    <p:extLst>
      <p:ext uri="{BB962C8B-B14F-4D97-AF65-F5344CB8AC3E}">
        <p14:creationId xmlns:p14="http://schemas.microsoft.com/office/powerpoint/2010/main" val="798114753"/>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Rectangle 16"/>
          <p:cNvSpPr/>
          <p:nvPr/>
        </p:nvSpPr>
        <p:spPr>
          <a:xfrm>
            <a:off x="0" y="675503"/>
            <a:ext cx="12198786" cy="478582"/>
          </a:xfrm>
          <a:prstGeom prst="rect">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22" name="Image 2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002202" y="6540326"/>
            <a:ext cx="253968" cy="253968"/>
          </a:xfrm>
          <a:prstGeom prst="rect">
            <a:avLst/>
          </a:prstGeom>
        </p:spPr>
      </p:pic>
      <p:sp>
        <p:nvSpPr>
          <p:cNvPr id="23" name="ZoneTexte 22"/>
          <p:cNvSpPr txBox="1"/>
          <p:nvPr/>
        </p:nvSpPr>
        <p:spPr>
          <a:xfrm>
            <a:off x="5216109" y="6532276"/>
            <a:ext cx="2664700" cy="307777"/>
          </a:xfrm>
          <a:prstGeom prst="rect">
            <a:avLst/>
          </a:prstGeom>
          <a:noFill/>
        </p:spPr>
        <p:txBody>
          <a:bodyPr wrap="square" rtlCol="0">
            <a:spAutoFit/>
          </a:bodyPr>
          <a:lstStyle/>
          <a:p>
            <a:r>
              <a:rPr lang="fr-FR" sz="1400" dirty="0" smtClean="0">
                <a:solidFill>
                  <a:schemeClr val="tx1">
                    <a:lumMod val="65000"/>
                    <a:lumOff val="35000"/>
                  </a:schemeClr>
                </a:solidFill>
              </a:rPr>
              <a:t>ADRAR Pôle Numérique Occitanie</a:t>
            </a:r>
            <a:endParaRPr lang="fr-FR" sz="1400" dirty="0">
              <a:solidFill>
                <a:schemeClr val="tx1">
                  <a:lumMod val="65000"/>
                  <a:lumOff val="35000"/>
                </a:schemeClr>
              </a:solidFill>
            </a:endParaRPr>
          </a:p>
        </p:txBody>
      </p:sp>
      <p:sp>
        <p:nvSpPr>
          <p:cNvPr id="31" name="ZoneTexte 30"/>
          <p:cNvSpPr txBox="1"/>
          <p:nvPr/>
        </p:nvSpPr>
        <p:spPr>
          <a:xfrm>
            <a:off x="0" y="696885"/>
            <a:ext cx="12198786" cy="384721"/>
          </a:xfrm>
          <a:prstGeom prst="rect">
            <a:avLst/>
          </a:prstGeom>
          <a:noFill/>
        </p:spPr>
        <p:txBody>
          <a:bodyPr wrap="square" rtlCol="0">
            <a:spAutoFit/>
          </a:bodyPr>
          <a:lstStyle/>
          <a:p>
            <a:pPr algn="ctr"/>
            <a:r>
              <a:rPr lang="fr-FR" sz="1600" dirty="0">
                <a:solidFill>
                  <a:schemeClr val="bg1"/>
                </a:solidFill>
              </a:rPr>
              <a:t>Suivez-nous sur </a:t>
            </a:r>
            <a:r>
              <a:rPr lang="fr-FR" sz="1600" dirty="0" err="1">
                <a:solidFill>
                  <a:schemeClr val="bg1"/>
                </a:solidFill>
              </a:rPr>
              <a:t>LinkedIn</a:t>
            </a:r>
            <a:r>
              <a:rPr lang="fr-FR" sz="1600" dirty="0">
                <a:solidFill>
                  <a:schemeClr val="bg1"/>
                </a:solidFill>
              </a:rPr>
              <a:t>             </a:t>
            </a:r>
            <a:r>
              <a:rPr lang="fr-FR" sz="1600" dirty="0" err="1">
                <a:solidFill>
                  <a:schemeClr val="bg1"/>
                </a:solidFill>
              </a:rPr>
              <a:t>Twitter</a:t>
            </a:r>
            <a:r>
              <a:rPr lang="fr-FR" sz="1600" dirty="0">
                <a:solidFill>
                  <a:schemeClr val="bg1"/>
                </a:solidFill>
              </a:rPr>
              <a:t>       </a:t>
            </a:r>
            <a:r>
              <a:rPr lang="fr-FR" sz="1900" b="1" dirty="0">
                <a:solidFill>
                  <a:schemeClr val="bg1">
                    <a:lumMod val="95000"/>
                  </a:schemeClr>
                </a:solidFill>
              </a:rPr>
              <a:t>@</a:t>
            </a:r>
            <a:r>
              <a:rPr lang="fr-FR" sz="1900" b="1" dirty="0" err="1">
                <a:solidFill>
                  <a:schemeClr val="bg1">
                    <a:lumMod val="95000"/>
                  </a:schemeClr>
                </a:solidFill>
              </a:rPr>
              <a:t>Adrar_Numerique</a:t>
            </a:r>
            <a:r>
              <a:rPr lang="fr-FR" sz="1900" dirty="0">
                <a:solidFill>
                  <a:schemeClr val="bg1">
                    <a:lumMod val="95000"/>
                  </a:schemeClr>
                </a:solidFill>
              </a:rPr>
              <a:t>	… </a:t>
            </a:r>
            <a:r>
              <a:rPr lang="fr-FR" sz="1600" dirty="0">
                <a:solidFill>
                  <a:schemeClr val="bg1"/>
                </a:solidFill>
              </a:rPr>
              <a:t>et sur le web : </a:t>
            </a:r>
            <a:r>
              <a:rPr lang="fr-FR" sz="1900" b="1" dirty="0">
                <a:solidFill>
                  <a:schemeClr val="bg1">
                    <a:lumMod val="95000"/>
                  </a:schemeClr>
                </a:solidFill>
              </a:rPr>
              <a:t>www.adrar-numerique.com</a:t>
            </a:r>
          </a:p>
        </p:txBody>
      </p:sp>
      <p:pic>
        <p:nvPicPr>
          <p:cNvPr id="32" name="Image 31"/>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024648" y="762261"/>
            <a:ext cx="266667" cy="253968"/>
          </a:xfrm>
          <a:prstGeom prst="rect">
            <a:avLst/>
          </a:prstGeom>
        </p:spPr>
      </p:pic>
      <p:pic>
        <p:nvPicPr>
          <p:cNvPr id="33" name="Image 32" descr="logo-linkedin.png"/>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2899844" y="783165"/>
            <a:ext cx="285752" cy="285752"/>
          </a:xfrm>
          <a:prstGeom prst="rect">
            <a:avLst/>
          </a:prstGeom>
        </p:spPr>
      </p:pic>
      <p:grpSp>
        <p:nvGrpSpPr>
          <p:cNvPr id="34" name="Groupe 33"/>
          <p:cNvGrpSpPr/>
          <p:nvPr/>
        </p:nvGrpSpPr>
        <p:grpSpPr>
          <a:xfrm>
            <a:off x="70311" y="-41891"/>
            <a:ext cx="12056372" cy="746449"/>
            <a:chOff x="70311" y="-41891"/>
            <a:chExt cx="12056372" cy="746449"/>
          </a:xfrm>
        </p:grpSpPr>
        <p:grpSp>
          <p:nvGrpSpPr>
            <p:cNvPr id="35" name="Groupe 34"/>
            <p:cNvGrpSpPr/>
            <p:nvPr/>
          </p:nvGrpSpPr>
          <p:grpSpPr>
            <a:xfrm>
              <a:off x="70311" y="-41891"/>
              <a:ext cx="12056372" cy="746449"/>
              <a:chOff x="51808" y="-49564"/>
              <a:chExt cx="12056372" cy="746449"/>
            </a:xfrm>
          </p:grpSpPr>
          <p:pic>
            <p:nvPicPr>
              <p:cNvPr id="37" name="Image 36" descr="bien plus.jpg"/>
              <p:cNvPicPr>
                <a:picLocks noChangeAspect="1"/>
              </p:cNvPicPr>
              <p:nvPr/>
            </p:nvPicPr>
            <p:blipFill>
              <a:blip r:embed="rId6" cstate="print"/>
              <a:stretch>
                <a:fillRect/>
              </a:stretch>
            </p:blipFill>
            <p:spPr>
              <a:xfrm>
                <a:off x="4122599" y="228466"/>
                <a:ext cx="1289328" cy="364658"/>
              </a:xfrm>
              <a:prstGeom prst="rect">
                <a:avLst/>
              </a:prstGeom>
            </p:spPr>
          </p:pic>
          <p:pic>
            <p:nvPicPr>
              <p:cNvPr id="38" name="Image 37" descr="personnes-adrar-coul_1.jpg"/>
              <p:cNvPicPr>
                <a:picLocks noChangeAspect="1"/>
              </p:cNvPicPr>
              <p:nvPr/>
            </p:nvPicPr>
            <p:blipFill>
              <a:blip r:embed="rId7" cstate="print"/>
              <a:stretch>
                <a:fillRect/>
              </a:stretch>
            </p:blipFill>
            <p:spPr>
              <a:xfrm>
                <a:off x="5640032" y="95784"/>
                <a:ext cx="510617" cy="506565"/>
              </a:xfrm>
              <a:prstGeom prst="rect">
                <a:avLst/>
              </a:prstGeom>
            </p:spPr>
          </p:pic>
          <p:pic>
            <p:nvPicPr>
              <p:cNvPr id="39" name="Image 38" descr="personnes-adrar-coul_2.jpg"/>
              <p:cNvPicPr>
                <a:picLocks noChangeAspect="1"/>
              </p:cNvPicPr>
              <p:nvPr/>
            </p:nvPicPr>
            <p:blipFill>
              <a:blip r:embed="rId8" cstate="print"/>
              <a:stretch>
                <a:fillRect/>
              </a:stretch>
            </p:blipFill>
            <p:spPr>
              <a:xfrm>
                <a:off x="3441939" y="228467"/>
                <a:ext cx="346861" cy="352500"/>
              </a:xfrm>
              <a:prstGeom prst="rect">
                <a:avLst/>
              </a:prstGeom>
            </p:spPr>
          </p:pic>
          <p:pic>
            <p:nvPicPr>
              <p:cNvPr id="40" name="Image 39" descr="LOGO ADRAR 300dpi.jpg"/>
              <p:cNvPicPr>
                <a:picLocks noChangeAspect="1"/>
              </p:cNvPicPr>
              <p:nvPr/>
            </p:nvPicPr>
            <p:blipFill>
              <a:blip r:embed="rId9" cstate="print"/>
              <a:stretch>
                <a:fillRect/>
              </a:stretch>
            </p:blipFill>
            <p:spPr>
              <a:xfrm>
                <a:off x="51808" y="51259"/>
                <a:ext cx="432261" cy="574815"/>
              </a:xfrm>
              <a:prstGeom prst="rect">
                <a:avLst/>
              </a:prstGeom>
              <a:noFill/>
              <a:ln>
                <a:noFill/>
              </a:ln>
            </p:spPr>
          </p:pic>
          <p:pic>
            <p:nvPicPr>
              <p:cNvPr id="49" name="Image 48" descr="LOGO-ERN-GEN2017-1.png"/>
              <p:cNvPicPr>
                <a:picLocks noChangeAspect="1"/>
              </p:cNvPicPr>
              <p:nvPr/>
            </p:nvPicPr>
            <p:blipFill rotWithShape="1">
              <a:blip r:embed="rId10" cstate="print">
                <a:extLst>
                  <a:ext uri="{28A0092B-C50C-407E-A947-70E740481C1C}">
                    <a14:useLocalDpi xmlns:a14="http://schemas.microsoft.com/office/drawing/2010/main" val="0"/>
                  </a:ext>
                </a:extLst>
              </a:blip>
              <a:srcRect r="19245"/>
              <a:stretch/>
            </p:blipFill>
            <p:spPr>
              <a:xfrm>
                <a:off x="6708147" y="12191"/>
                <a:ext cx="2275425" cy="669355"/>
              </a:xfrm>
              <a:prstGeom prst="rect">
                <a:avLst/>
              </a:prstGeom>
            </p:spPr>
          </p:pic>
          <p:pic>
            <p:nvPicPr>
              <p:cNvPr id="50" name="Image 49" descr="redim-06.png"/>
              <p:cNvPicPr>
                <a:picLocks noChangeAspect="1"/>
              </p:cNvPicPr>
              <p:nvPr/>
            </p:nvPicPr>
            <p:blipFill rotWithShape="1">
              <a:blip r:embed="rId11" cstate="print">
                <a:extLst>
                  <a:ext uri="{28A0092B-C50C-407E-A947-70E740481C1C}">
                    <a14:useLocalDpi xmlns:a14="http://schemas.microsoft.com/office/drawing/2010/main" val="0"/>
                  </a:ext>
                </a:extLst>
              </a:blip>
              <a:srcRect t="28400" b="26267"/>
              <a:stretch/>
            </p:blipFill>
            <p:spPr>
              <a:xfrm>
                <a:off x="10739120" y="30480"/>
                <a:ext cx="1369060" cy="620641"/>
              </a:xfrm>
              <a:prstGeom prst="rect">
                <a:avLst/>
              </a:prstGeom>
            </p:spPr>
          </p:pic>
          <p:pic>
            <p:nvPicPr>
              <p:cNvPr id="51" name="Image 50"/>
              <p:cNvPicPr>
                <a:picLocks noChangeAspect="1"/>
              </p:cNvPicPr>
              <p:nvPr/>
            </p:nvPicPr>
            <p:blipFill rotWithShape="1">
              <a:blip r:embed="rId12" cstate="print">
                <a:extLst>
                  <a:ext uri="{28A0092B-C50C-407E-A947-70E740481C1C}">
                    <a14:useLocalDpi xmlns:a14="http://schemas.microsoft.com/office/drawing/2010/main" val="0"/>
                  </a:ext>
                </a:extLst>
              </a:blip>
              <a:srcRect l="16802" t="22888" r="16244" b="27236"/>
              <a:stretch/>
            </p:blipFill>
            <p:spPr>
              <a:xfrm>
                <a:off x="8974241" y="-49564"/>
                <a:ext cx="1502229" cy="746449"/>
              </a:xfrm>
              <a:prstGeom prst="rect">
                <a:avLst/>
              </a:prstGeom>
            </p:spPr>
          </p:pic>
        </p:grpSp>
        <p:pic>
          <p:nvPicPr>
            <p:cNvPr id="36" name="Image 35"/>
            <p:cNvPicPr>
              <a:picLocks noChangeAspect="1"/>
            </p:cNvPicPr>
            <p:nvPr/>
          </p:nvPicPr>
          <p:blipFill rotWithShape="1">
            <a:blip r:embed="rId13">
              <a:extLst>
                <a:ext uri="{28A0092B-C50C-407E-A947-70E740481C1C}">
                  <a14:useLocalDpi xmlns:a14="http://schemas.microsoft.com/office/drawing/2010/main" val="0"/>
                </a:ext>
              </a:extLst>
            </a:blip>
            <a:srcRect t="22863" b="24898"/>
            <a:stretch/>
          </p:blipFill>
          <p:spPr>
            <a:xfrm>
              <a:off x="680899" y="90649"/>
              <a:ext cx="2612643" cy="537329"/>
            </a:xfrm>
            <a:prstGeom prst="rect">
              <a:avLst/>
            </a:prstGeom>
          </p:spPr>
        </p:pic>
      </p:grpSp>
      <p:sp>
        <p:nvSpPr>
          <p:cNvPr id="4" name="ZoneTexte 3"/>
          <p:cNvSpPr txBox="1"/>
          <p:nvPr/>
        </p:nvSpPr>
        <p:spPr>
          <a:xfrm>
            <a:off x="169660" y="1219613"/>
            <a:ext cx="11488366" cy="2862322"/>
          </a:xfrm>
          <a:prstGeom prst="rect">
            <a:avLst/>
          </a:prstGeom>
          <a:noFill/>
        </p:spPr>
        <p:txBody>
          <a:bodyPr wrap="square" rtlCol="0">
            <a:spAutoFit/>
          </a:bodyPr>
          <a:lstStyle/>
          <a:p>
            <a:r>
              <a:rPr lang="fr-FR" dirty="0" smtClean="0"/>
              <a:t>Les tests font parties intégrantes d’un projet de développement. Encore une fois </a:t>
            </a:r>
            <a:r>
              <a:rPr lang="fr-FR" dirty="0" err="1" smtClean="0"/>
              <a:t>django</a:t>
            </a:r>
            <a:r>
              <a:rPr lang="fr-FR" dirty="0" smtClean="0"/>
              <a:t> fournit une série d’outils afin de faciliter la mise en place de tests. Afin de ne pas vous perdre dans la mise en place de vos tests je vous conseil de rédiger un test juste après avoir mis en place une fonctionnalité (ou juste avant si vous employez une approche de type TDD, test-</a:t>
            </a:r>
            <a:r>
              <a:rPr lang="fr-FR" dirty="0" err="1" smtClean="0"/>
              <a:t>driven</a:t>
            </a:r>
            <a:r>
              <a:rPr lang="fr-FR" dirty="0" smtClean="0"/>
              <a:t> </a:t>
            </a:r>
            <a:r>
              <a:rPr lang="fr-FR" dirty="0" err="1" smtClean="0"/>
              <a:t>development</a:t>
            </a:r>
            <a:r>
              <a:rPr lang="fr-FR" dirty="0" smtClean="0"/>
              <a:t>). Cependant pour ce cours nous allons rédiger les tests pour les fonctionnalités déjà présentes (mais représentez vous bien que si vous fonctionnez de cette manière sur un projet de grande envergure il est très facile de se perdre et d’oublier des tests).</a:t>
            </a:r>
          </a:p>
          <a:p>
            <a:r>
              <a:rPr lang="fr-FR" dirty="0" smtClean="0"/>
              <a:t>Nous allons utiliser l’un des problèmes de notre code pour appréhender la notion de tests en </a:t>
            </a:r>
            <a:r>
              <a:rPr lang="fr-FR" dirty="0" err="1" smtClean="0"/>
              <a:t>django</a:t>
            </a:r>
            <a:r>
              <a:rPr lang="fr-FR" dirty="0" smtClean="0"/>
              <a:t>. En effet nous avons mis en place la méthode </a:t>
            </a:r>
            <a:r>
              <a:rPr lang="fr-FR" i="1" dirty="0" err="1" smtClean="0"/>
              <a:t>was_published_recently</a:t>
            </a:r>
            <a:r>
              <a:rPr lang="fr-FR" i="1" dirty="0" smtClean="0"/>
              <a:t>()</a:t>
            </a:r>
            <a:r>
              <a:rPr lang="fr-FR" dirty="0" smtClean="0"/>
              <a:t> retournant </a:t>
            </a:r>
            <a:r>
              <a:rPr lang="fr-FR" i="1" dirty="0" err="1" smtClean="0"/>
              <a:t>True</a:t>
            </a:r>
            <a:r>
              <a:rPr lang="fr-FR" dirty="0" smtClean="0"/>
              <a:t> si une question a été publié récemment. Le problème de notre méthode est qu’elle retourne </a:t>
            </a:r>
            <a:r>
              <a:rPr lang="fr-FR" i="1" dirty="0" err="1" smtClean="0"/>
              <a:t>True</a:t>
            </a:r>
            <a:r>
              <a:rPr lang="fr-FR" dirty="0" smtClean="0"/>
              <a:t> également si la question a une date de publication future.</a:t>
            </a:r>
          </a:p>
          <a:p>
            <a:r>
              <a:rPr lang="fr-FR" dirty="0" smtClean="0"/>
              <a:t>Nous allons utiliser des tests pour corriger ce problème, mais tout d’abord voyons ca dans notre </a:t>
            </a:r>
            <a:r>
              <a:rPr lang="fr-FR" dirty="0" err="1" smtClean="0"/>
              <a:t>shell</a:t>
            </a:r>
            <a:r>
              <a:rPr lang="fr-FR" dirty="0" smtClean="0"/>
              <a:t> :</a:t>
            </a:r>
            <a:endParaRPr lang="fr-FR" dirty="0"/>
          </a:p>
        </p:txBody>
      </p:sp>
      <p:pic>
        <p:nvPicPr>
          <p:cNvPr id="2" name="Image 1"/>
          <p:cNvPicPr>
            <a:picLocks noChangeAspect="1"/>
          </p:cNvPicPr>
          <p:nvPr/>
        </p:nvPicPr>
        <p:blipFill>
          <a:blip r:embed="rId14"/>
          <a:stretch>
            <a:fillRect/>
          </a:stretch>
        </p:blipFill>
        <p:spPr>
          <a:xfrm>
            <a:off x="2261005" y="4313689"/>
            <a:ext cx="7305675" cy="1476375"/>
          </a:xfrm>
          <a:prstGeom prst="rect">
            <a:avLst/>
          </a:prstGeom>
        </p:spPr>
      </p:pic>
    </p:spTree>
    <p:extLst>
      <p:ext uri="{BB962C8B-B14F-4D97-AF65-F5344CB8AC3E}">
        <p14:creationId xmlns:p14="http://schemas.microsoft.com/office/powerpoint/2010/main" val="1981500735"/>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Rectangle 16"/>
          <p:cNvSpPr/>
          <p:nvPr/>
        </p:nvSpPr>
        <p:spPr>
          <a:xfrm>
            <a:off x="0" y="675503"/>
            <a:ext cx="12198786" cy="478582"/>
          </a:xfrm>
          <a:prstGeom prst="rect">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22" name="Image 2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002202" y="6540326"/>
            <a:ext cx="253968" cy="253968"/>
          </a:xfrm>
          <a:prstGeom prst="rect">
            <a:avLst/>
          </a:prstGeom>
        </p:spPr>
      </p:pic>
      <p:sp>
        <p:nvSpPr>
          <p:cNvPr id="23" name="ZoneTexte 22"/>
          <p:cNvSpPr txBox="1"/>
          <p:nvPr/>
        </p:nvSpPr>
        <p:spPr>
          <a:xfrm>
            <a:off x="5216109" y="6532276"/>
            <a:ext cx="2664700" cy="307777"/>
          </a:xfrm>
          <a:prstGeom prst="rect">
            <a:avLst/>
          </a:prstGeom>
          <a:noFill/>
        </p:spPr>
        <p:txBody>
          <a:bodyPr wrap="square" rtlCol="0">
            <a:spAutoFit/>
          </a:bodyPr>
          <a:lstStyle/>
          <a:p>
            <a:r>
              <a:rPr lang="fr-FR" sz="1400" dirty="0" smtClean="0">
                <a:solidFill>
                  <a:schemeClr val="tx1">
                    <a:lumMod val="65000"/>
                    <a:lumOff val="35000"/>
                  </a:schemeClr>
                </a:solidFill>
              </a:rPr>
              <a:t>ADRAR Pôle Numérique Occitanie</a:t>
            </a:r>
            <a:endParaRPr lang="fr-FR" sz="1400" dirty="0">
              <a:solidFill>
                <a:schemeClr val="tx1">
                  <a:lumMod val="65000"/>
                  <a:lumOff val="35000"/>
                </a:schemeClr>
              </a:solidFill>
            </a:endParaRPr>
          </a:p>
        </p:txBody>
      </p:sp>
      <p:sp>
        <p:nvSpPr>
          <p:cNvPr id="31" name="ZoneTexte 30"/>
          <p:cNvSpPr txBox="1"/>
          <p:nvPr/>
        </p:nvSpPr>
        <p:spPr>
          <a:xfrm>
            <a:off x="0" y="696885"/>
            <a:ext cx="12198786" cy="384721"/>
          </a:xfrm>
          <a:prstGeom prst="rect">
            <a:avLst/>
          </a:prstGeom>
          <a:noFill/>
        </p:spPr>
        <p:txBody>
          <a:bodyPr wrap="square" rtlCol="0">
            <a:spAutoFit/>
          </a:bodyPr>
          <a:lstStyle/>
          <a:p>
            <a:pPr algn="ctr"/>
            <a:r>
              <a:rPr lang="fr-FR" sz="1600" dirty="0">
                <a:solidFill>
                  <a:schemeClr val="bg1"/>
                </a:solidFill>
              </a:rPr>
              <a:t>Suivez-nous sur </a:t>
            </a:r>
            <a:r>
              <a:rPr lang="fr-FR" sz="1600" dirty="0" err="1">
                <a:solidFill>
                  <a:schemeClr val="bg1"/>
                </a:solidFill>
              </a:rPr>
              <a:t>LinkedIn</a:t>
            </a:r>
            <a:r>
              <a:rPr lang="fr-FR" sz="1600" dirty="0">
                <a:solidFill>
                  <a:schemeClr val="bg1"/>
                </a:solidFill>
              </a:rPr>
              <a:t>             </a:t>
            </a:r>
            <a:r>
              <a:rPr lang="fr-FR" sz="1600" dirty="0" err="1">
                <a:solidFill>
                  <a:schemeClr val="bg1"/>
                </a:solidFill>
              </a:rPr>
              <a:t>Twitter</a:t>
            </a:r>
            <a:r>
              <a:rPr lang="fr-FR" sz="1600" dirty="0">
                <a:solidFill>
                  <a:schemeClr val="bg1"/>
                </a:solidFill>
              </a:rPr>
              <a:t>       </a:t>
            </a:r>
            <a:r>
              <a:rPr lang="fr-FR" sz="1900" b="1" dirty="0">
                <a:solidFill>
                  <a:schemeClr val="bg1">
                    <a:lumMod val="95000"/>
                  </a:schemeClr>
                </a:solidFill>
              </a:rPr>
              <a:t>@</a:t>
            </a:r>
            <a:r>
              <a:rPr lang="fr-FR" sz="1900" b="1" dirty="0" err="1">
                <a:solidFill>
                  <a:schemeClr val="bg1">
                    <a:lumMod val="95000"/>
                  </a:schemeClr>
                </a:solidFill>
              </a:rPr>
              <a:t>Adrar_Numerique</a:t>
            </a:r>
            <a:r>
              <a:rPr lang="fr-FR" sz="1900" dirty="0">
                <a:solidFill>
                  <a:schemeClr val="bg1">
                    <a:lumMod val="95000"/>
                  </a:schemeClr>
                </a:solidFill>
              </a:rPr>
              <a:t>	… </a:t>
            </a:r>
            <a:r>
              <a:rPr lang="fr-FR" sz="1600" dirty="0">
                <a:solidFill>
                  <a:schemeClr val="bg1"/>
                </a:solidFill>
              </a:rPr>
              <a:t>et sur le web : </a:t>
            </a:r>
            <a:r>
              <a:rPr lang="fr-FR" sz="1900" b="1" dirty="0">
                <a:solidFill>
                  <a:schemeClr val="bg1">
                    <a:lumMod val="95000"/>
                  </a:schemeClr>
                </a:solidFill>
              </a:rPr>
              <a:t>www.adrar-numerique.com</a:t>
            </a:r>
          </a:p>
        </p:txBody>
      </p:sp>
      <p:pic>
        <p:nvPicPr>
          <p:cNvPr id="32" name="Image 31"/>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024648" y="762261"/>
            <a:ext cx="266667" cy="253968"/>
          </a:xfrm>
          <a:prstGeom prst="rect">
            <a:avLst/>
          </a:prstGeom>
        </p:spPr>
      </p:pic>
      <p:pic>
        <p:nvPicPr>
          <p:cNvPr id="33" name="Image 32" descr="logo-linkedin.png"/>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2899844" y="783165"/>
            <a:ext cx="285752" cy="285752"/>
          </a:xfrm>
          <a:prstGeom prst="rect">
            <a:avLst/>
          </a:prstGeom>
        </p:spPr>
      </p:pic>
      <p:grpSp>
        <p:nvGrpSpPr>
          <p:cNvPr id="34" name="Groupe 33"/>
          <p:cNvGrpSpPr/>
          <p:nvPr/>
        </p:nvGrpSpPr>
        <p:grpSpPr>
          <a:xfrm>
            <a:off x="70311" y="-41891"/>
            <a:ext cx="12056372" cy="746449"/>
            <a:chOff x="70311" y="-41891"/>
            <a:chExt cx="12056372" cy="746449"/>
          </a:xfrm>
        </p:grpSpPr>
        <p:grpSp>
          <p:nvGrpSpPr>
            <p:cNvPr id="35" name="Groupe 34"/>
            <p:cNvGrpSpPr/>
            <p:nvPr/>
          </p:nvGrpSpPr>
          <p:grpSpPr>
            <a:xfrm>
              <a:off x="70311" y="-41891"/>
              <a:ext cx="12056372" cy="746449"/>
              <a:chOff x="51808" y="-49564"/>
              <a:chExt cx="12056372" cy="746449"/>
            </a:xfrm>
          </p:grpSpPr>
          <p:pic>
            <p:nvPicPr>
              <p:cNvPr id="37" name="Image 36" descr="bien plus.jpg"/>
              <p:cNvPicPr>
                <a:picLocks noChangeAspect="1"/>
              </p:cNvPicPr>
              <p:nvPr/>
            </p:nvPicPr>
            <p:blipFill>
              <a:blip r:embed="rId6" cstate="print"/>
              <a:stretch>
                <a:fillRect/>
              </a:stretch>
            </p:blipFill>
            <p:spPr>
              <a:xfrm>
                <a:off x="4122599" y="228466"/>
                <a:ext cx="1289328" cy="364658"/>
              </a:xfrm>
              <a:prstGeom prst="rect">
                <a:avLst/>
              </a:prstGeom>
            </p:spPr>
          </p:pic>
          <p:pic>
            <p:nvPicPr>
              <p:cNvPr id="38" name="Image 37" descr="personnes-adrar-coul_1.jpg"/>
              <p:cNvPicPr>
                <a:picLocks noChangeAspect="1"/>
              </p:cNvPicPr>
              <p:nvPr/>
            </p:nvPicPr>
            <p:blipFill>
              <a:blip r:embed="rId7" cstate="print"/>
              <a:stretch>
                <a:fillRect/>
              </a:stretch>
            </p:blipFill>
            <p:spPr>
              <a:xfrm>
                <a:off x="5640032" y="95784"/>
                <a:ext cx="510617" cy="506565"/>
              </a:xfrm>
              <a:prstGeom prst="rect">
                <a:avLst/>
              </a:prstGeom>
            </p:spPr>
          </p:pic>
          <p:pic>
            <p:nvPicPr>
              <p:cNvPr id="39" name="Image 38" descr="personnes-adrar-coul_2.jpg"/>
              <p:cNvPicPr>
                <a:picLocks noChangeAspect="1"/>
              </p:cNvPicPr>
              <p:nvPr/>
            </p:nvPicPr>
            <p:blipFill>
              <a:blip r:embed="rId8" cstate="print"/>
              <a:stretch>
                <a:fillRect/>
              </a:stretch>
            </p:blipFill>
            <p:spPr>
              <a:xfrm>
                <a:off x="3441939" y="228467"/>
                <a:ext cx="346861" cy="352500"/>
              </a:xfrm>
              <a:prstGeom prst="rect">
                <a:avLst/>
              </a:prstGeom>
            </p:spPr>
          </p:pic>
          <p:pic>
            <p:nvPicPr>
              <p:cNvPr id="40" name="Image 39" descr="LOGO ADRAR 300dpi.jpg"/>
              <p:cNvPicPr>
                <a:picLocks noChangeAspect="1"/>
              </p:cNvPicPr>
              <p:nvPr/>
            </p:nvPicPr>
            <p:blipFill>
              <a:blip r:embed="rId9" cstate="print"/>
              <a:stretch>
                <a:fillRect/>
              </a:stretch>
            </p:blipFill>
            <p:spPr>
              <a:xfrm>
                <a:off x="51808" y="51259"/>
                <a:ext cx="432261" cy="574815"/>
              </a:xfrm>
              <a:prstGeom prst="rect">
                <a:avLst/>
              </a:prstGeom>
              <a:noFill/>
              <a:ln>
                <a:noFill/>
              </a:ln>
            </p:spPr>
          </p:pic>
          <p:pic>
            <p:nvPicPr>
              <p:cNvPr id="49" name="Image 48" descr="LOGO-ERN-GEN2017-1.png"/>
              <p:cNvPicPr>
                <a:picLocks noChangeAspect="1"/>
              </p:cNvPicPr>
              <p:nvPr/>
            </p:nvPicPr>
            <p:blipFill rotWithShape="1">
              <a:blip r:embed="rId10" cstate="print">
                <a:extLst>
                  <a:ext uri="{28A0092B-C50C-407E-A947-70E740481C1C}">
                    <a14:useLocalDpi xmlns:a14="http://schemas.microsoft.com/office/drawing/2010/main" val="0"/>
                  </a:ext>
                </a:extLst>
              </a:blip>
              <a:srcRect r="19245"/>
              <a:stretch/>
            </p:blipFill>
            <p:spPr>
              <a:xfrm>
                <a:off x="6708147" y="12191"/>
                <a:ext cx="2275425" cy="669355"/>
              </a:xfrm>
              <a:prstGeom prst="rect">
                <a:avLst/>
              </a:prstGeom>
            </p:spPr>
          </p:pic>
          <p:pic>
            <p:nvPicPr>
              <p:cNvPr id="50" name="Image 49" descr="redim-06.png"/>
              <p:cNvPicPr>
                <a:picLocks noChangeAspect="1"/>
              </p:cNvPicPr>
              <p:nvPr/>
            </p:nvPicPr>
            <p:blipFill rotWithShape="1">
              <a:blip r:embed="rId11" cstate="print">
                <a:extLst>
                  <a:ext uri="{28A0092B-C50C-407E-A947-70E740481C1C}">
                    <a14:useLocalDpi xmlns:a14="http://schemas.microsoft.com/office/drawing/2010/main" val="0"/>
                  </a:ext>
                </a:extLst>
              </a:blip>
              <a:srcRect t="28400" b="26267"/>
              <a:stretch/>
            </p:blipFill>
            <p:spPr>
              <a:xfrm>
                <a:off x="10739120" y="30480"/>
                <a:ext cx="1369060" cy="620641"/>
              </a:xfrm>
              <a:prstGeom prst="rect">
                <a:avLst/>
              </a:prstGeom>
            </p:spPr>
          </p:pic>
          <p:pic>
            <p:nvPicPr>
              <p:cNvPr id="51" name="Image 50"/>
              <p:cNvPicPr>
                <a:picLocks noChangeAspect="1"/>
              </p:cNvPicPr>
              <p:nvPr/>
            </p:nvPicPr>
            <p:blipFill rotWithShape="1">
              <a:blip r:embed="rId12" cstate="print">
                <a:extLst>
                  <a:ext uri="{28A0092B-C50C-407E-A947-70E740481C1C}">
                    <a14:useLocalDpi xmlns:a14="http://schemas.microsoft.com/office/drawing/2010/main" val="0"/>
                  </a:ext>
                </a:extLst>
              </a:blip>
              <a:srcRect l="16802" t="22888" r="16244" b="27236"/>
              <a:stretch/>
            </p:blipFill>
            <p:spPr>
              <a:xfrm>
                <a:off x="8974241" y="-49564"/>
                <a:ext cx="1502229" cy="746449"/>
              </a:xfrm>
              <a:prstGeom prst="rect">
                <a:avLst/>
              </a:prstGeom>
            </p:spPr>
          </p:pic>
        </p:grpSp>
        <p:pic>
          <p:nvPicPr>
            <p:cNvPr id="36" name="Image 35"/>
            <p:cNvPicPr>
              <a:picLocks noChangeAspect="1"/>
            </p:cNvPicPr>
            <p:nvPr/>
          </p:nvPicPr>
          <p:blipFill rotWithShape="1">
            <a:blip r:embed="rId13">
              <a:extLst>
                <a:ext uri="{28A0092B-C50C-407E-A947-70E740481C1C}">
                  <a14:useLocalDpi xmlns:a14="http://schemas.microsoft.com/office/drawing/2010/main" val="0"/>
                </a:ext>
              </a:extLst>
            </a:blip>
            <a:srcRect t="22863" b="24898"/>
            <a:stretch/>
          </p:blipFill>
          <p:spPr>
            <a:xfrm>
              <a:off x="680899" y="90649"/>
              <a:ext cx="2612643" cy="537329"/>
            </a:xfrm>
            <a:prstGeom prst="rect">
              <a:avLst/>
            </a:prstGeom>
          </p:spPr>
        </p:pic>
      </p:grpSp>
      <p:sp>
        <p:nvSpPr>
          <p:cNvPr id="21" name="ZoneTexte 20"/>
          <p:cNvSpPr txBox="1"/>
          <p:nvPr/>
        </p:nvSpPr>
        <p:spPr>
          <a:xfrm>
            <a:off x="169660" y="1219613"/>
            <a:ext cx="11488366" cy="923330"/>
          </a:xfrm>
          <a:prstGeom prst="rect">
            <a:avLst/>
          </a:prstGeom>
          <a:noFill/>
        </p:spPr>
        <p:txBody>
          <a:bodyPr wrap="square" rtlCol="0">
            <a:spAutoFit/>
          </a:bodyPr>
          <a:lstStyle/>
          <a:p>
            <a:r>
              <a:rPr lang="fr-FR" dirty="0" smtClean="0"/>
              <a:t>Ce que nous venons de faire dans le </a:t>
            </a:r>
            <a:r>
              <a:rPr lang="fr-FR" dirty="0" err="1" smtClean="0"/>
              <a:t>shell</a:t>
            </a:r>
            <a:r>
              <a:rPr lang="fr-FR" dirty="0" smtClean="0"/>
              <a:t> est totalement une procédure à réaliser dans un test automatiser. Pour se faire nous allons rédiger un fichier </a:t>
            </a:r>
            <a:r>
              <a:rPr lang="fr-FR" i="1" dirty="0" smtClean="0"/>
              <a:t>sondage/tests.py</a:t>
            </a:r>
            <a:r>
              <a:rPr lang="fr-FR" dirty="0" smtClean="0"/>
              <a:t>. Django va automatiquement trouver les tests dans tous les fichiers dont le nom commence par </a:t>
            </a:r>
            <a:r>
              <a:rPr lang="fr-FR" i="1" dirty="0" smtClean="0"/>
              <a:t>test</a:t>
            </a:r>
            <a:r>
              <a:rPr lang="fr-FR" dirty="0" smtClean="0"/>
              <a:t>. Voyons ce que nous rédigeons dans ce fichier :</a:t>
            </a:r>
            <a:endParaRPr lang="fr-FR" dirty="0"/>
          </a:p>
        </p:txBody>
      </p:sp>
      <p:sp>
        <p:nvSpPr>
          <p:cNvPr id="24" name="ZoneTexte 23"/>
          <p:cNvSpPr txBox="1"/>
          <p:nvPr/>
        </p:nvSpPr>
        <p:spPr>
          <a:xfrm>
            <a:off x="6169151" y="2142943"/>
            <a:ext cx="5822823" cy="4247317"/>
          </a:xfrm>
          <a:prstGeom prst="rect">
            <a:avLst/>
          </a:prstGeom>
          <a:noFill/>
        </p:spPr>
        <p:txBody>
          <a:bodyPr wrap="square" rtlCol="0">
            <a:spAutoFit/>
          </a:bodyPr>
          <a:lstStyle/>
          <a:p>
            <a:r>
              <a:rPr lang="fr-FR" dirty="0" smtClean="0"/>
              <a:t>Nous créons dans ce fichier une classe </a:t>
            </a:r>
            <a:r>
              <a:rPr lang="fr-FR" i="1" dirty="0" err="1" smtClean="0"/>
              <a:t>QuestionModelTests</a:t>
            </a:r>
            <a:r>
              <a:rPr lang="fr-FR" dirty="0" smtClean="0"/>
              <a:t> héritant de la classe </a:t>
            </a:r>
            <a:r>
              <a:rPr lang="fr-FR" i="1" dirty="0" err="1" smtClean="0"/>
              <a:t>TestCase</a:t>
            </a:r>
            <a:r>
              <a:rPr lang="fr-FR" dirty="0" smtClean="0"/>
              <a:t>. Nous placerons tous les test de notre modèle Question dedans. </a:t>
            </a:r>
          </a:p>
          <a:p>
            <a:r>
              <a:rPr lang="fr-FR" dirty="0" smtClean="0"/>
              <a:t>Nous définissons une méthode </a:t>
            </a:r>
            <a:r>
              <a:rPr lang="fr-FR" i="1" dirty="0" err="1" smtClean="0"/>
              <a:t>test_was_published_recently_with_future_question</a:t>
            </a:r>
            <a:r>
              <a:rPr lang="fr-FR" i="1" dirty="0" smtClean="0"/>
              <a:t>()</a:t>
            </a:r>
            <a:r>
              <a:rPr lang="fr-FR" dirty="0" smtClean="0"/>
              <a:t> en </a:t>
            </a:r>
            <a:r>
              <a:rPr lang="fr-FR" dirty="0" err="1" smtClean="0"/>
              <a:t>reseignant</a:t>
            </a:r>
            <a:r>
              <a:rPr lang="fr-FR" dirty="0" smtClean="0"/>
              <a:t> une </a:t>
            </a:r>
            <a:r>
              <a:rPr lang="fr-FR" dirty="0" err="1" smtClean="0"/>
              <a:t>docstring</a:t>
            </a:r>
            <a:r>
              <a:rPr lang="fr-FR" dirty="0" smtClean="0"/>
              <a:t> (représenté entre les triple guillemets) pour décrire sont utilisation.</a:t>
            </a:r>
          </a:p>
          <a:p>
            <a:r>
              <a:rPr lang="fr-FR" dirty="0" smtClean="0"/>
              <a:t>Nous commençons par créer un objet Question pour lequel la méthode </a:t>
            </a:r>
            <a:r>
              <a:rPr lang="fr-FR" i="1" dirty="0" err="1" smtClean="0"/>
              <a:t>was_published_recently</a:t>
            </a:r>
            <a:r>
              <a:rPr lang="fr-FR" i="1" dirty="0" smtClean="0"/>
              <a:t>()</a:t>
            </a:r>
            <a:r>
              <a:rPr lang="fr-FR" dirty="0" smtClean="0"/>
              <a:t> ne doit pas retourner </a:t>
            </a:r>
            <a:r>
              <a:rPr lang="fr-FR" i="1" dirty="0" err="1" smtClean="0"/>
              <a:t>True</a:t>
            </a:r>
            <a:r>
              <a:rPr lang="fr-FR" i="1" dirty="0" smtClean="0"/>
              <a:t>.</a:t>
            </a:r>
          </a:p>
          <a:p>
            <a:r>
              <a:rPr lang="fr-FR" dirty="0" smtClean="0"/>
              <a:t>Nous utilisons ensuite la méthode </a:t>
            </a:r>
            <a:r>
              <a:rPr lang="fr-FR" i="1" dirty="0" err="1" smtClean="0"/>
              <a:t>assertIs</a:t>
            </a:r>
            <a:r>
              <a:rPr lang="fr-FR" dirty="0" smtClean="0"/>
              <a:t>() pour indiquer que l’appel de la méthode </a:t>
            </a:r>
            <a:r>
              <a:rPr lang="fr-FR" i="1" dirty="0" err="1" smtClean="0"/>
              <a:t>was_published_recently</a:t>
            </a:r>
            <a:r>
              <a:rPr lang="fr-FR" i="1" dirty="0" smtClean="0"/>
              <a:t>()</a:t>
            </a:r>
            <a:r>
              <a:rPr lang="fr-FR" dirty="0" smtClean="0"/>
              <a:t> sur l’objet généré auparavant doit retourner </a:t>
            </a:r>
            <a:r>
              <a:rPr lang="fr-FR" i="1" dirty="0" smtClean="0"/>
              <a:t>False</a:t>
            </a:r>
            <a:r>
              <a:rPr lang="fr-FR" dirty="0" smtClean="0"/>
              <a:t>.</a:t>
            </a:r>
          </a:p>
          <a:p>
            <a:r>
              <a:rPr lang="fr-FR" dirty="0" smtClean="0"/>
              <a:t>Exécutons ensuite notre test. Pour cela nous allons une fois de plus utiliser le script </a:t>
            </a:r>
            <a:r>
              <a:rPr lang="fr-FR" i="1" dirty="0" smtClean="0"/>
              <a:t>manage.py</a:t>
            </a:r>
            <a:r>
              <a:rPr lang="fr-FR" dirty="0" smtClean="0"/>
              <a:t>.</a:t>
            </a:r>
            <a:endParaRPr lang="fr-FR" dirty="0"/>
          </a:p>
        </p:txBody>
      </p:sp>
      <p:pic>
        <p:nvPicPr>
          <p:cNvPr id="3" name="Image 2"/>
          <p:cNvPicPr>
            <a:picLocks noChangeAspect="1"/>
          </p:cNvPicPr>
          <p:nvPr/>
        </p:nvPicPr>
        <p:blipFill>
          <a:blip r:embed="rId14"/>
          <a:stretch>
            <a:fillRect/>
          </a:stretch>
        </p:blipFill>
        <p:spPr>
          <a:xfrm>
            <a:off x="169660" y="2123060"/>
            <a:ext cx="5926340" cy="4267200"/>
          </a:xfrm>
          <a:prstGeom prst="rect">
            <a:avLst/>
          </a:prstGeom>
        </p:spPr>
      </p:pic>
    </p:spTree>
    <p:extLst>
      <p:ext uri="{BB962C8B-B14F-4D97-AF65-F5344CB8AC3E}">
        <p14:creationId xmlns:p14="http://schemas.microsoft.com/office/powerpoint/2010/main" val="2291586881"/>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Rectangle 16"/>
          <p:cNvSpPr/>
          <p:nvPr/>
        </p:nvSpPr>
        <p:spPr>
          <a:xfrm>
            <a:off x="0" y="675503"/>
            <a:ext cx="12198786" cy="478582"/>
          </a:xfrm>
          <a:prstGeom prst="rect">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22" name="Image 2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002202" y="6540326"/>
            <a:ext cx="253968" cy="253968"/>
          </a:xfrm>
          <a:prstGeom prst="rect">
            <a:avLst/>
          </a:prstGeom>
        </p:spPr>
      </p:pic>
      <p:sp>
        <p:nvSpPr>
          <p:cNvPr id="23" name="ZoneTexte 22"/>
          <p:cNvSpPr txBox="1"/>
          <p:nvPr/>
        </p:nvSpPr>
        <p:spPr>
          <a:xfrm>
            <a:off x="5216109" y="6532276"/>
            <a:ext cx="2664700" cy="307777"/>
          </a:xfrm>
          <a:prstGeom prst="rect">
            <a:avLst/>
          </a:prstGeom>
          <a:noFill/>
        </p:spPr>
        <p:txBody>
          <a:bodyPr wrap="square" rtlCol="0">
            <a:spAutoFit/>
          </a:bodyPr>
          <a:lstStyle/>
          <a:p>
            <a:r>
              <a:rPr lang="fr-FR" sz="1400" dirty="0" smtClean="0">
                <a:solidFill>
                  <a:schemeClr val="tx1">
                    <a:lumMod val="65000"/>
                    <a:lumOff val="35000"/>
                  </a:schemeClr>
                </a:solidFill>
              </a:rPr>
              <a:t>ADRAR Pôle Numérique Occitanie</a:t>
            </a:r>
            <a:endParaRPr lang="fr-FR" sz="1400" dirty="0">
              <a:solidFill>
                <a:schemeClr val="tx1">
                  <a:lumMod val="65000"/>
                  <a:lumOff val="35000"/>
                </a:schemeClr>
              </a:solidFill>
            </a:endParaRPr>
          </a:p>
        </p:txBody>
      </p:sp>
      <p:sp>
        <p:nvSpPr>
          <p:cNvPr id="31" name="ZoneTexte 30"/>
          <p:cNvSpPr txBox="1"/>
          <p:nvPr/>
        </p:nvSpPr>
        <p:spPr>
          <a:xfrm>
            <a:off x="0" y="696885"/>
            <a:ext cx="12198786" cy="384721"/>
          </a:xfrm>
          <a:prstGeom prst="rect">
            <a:avLst/>
          </a:prstGeom>
          <a:noFill/>
        </p:spPr>
        <p:txBody>
          <a:bodyPr wrap="square" rtlCol="0">
            <a:spAutoFit/>
          </a:bodyPr>
          <a:lstStyle/>
          <a:p>
            <a:pPr algn="ctr"/>
            <a:r>
              <a:rPr lang="fr-FR" sz="1600" dirty="0">
                <a:solidFill>
                  <a:schemeClr val="bg1"/>
                </a:solidFill>
              </a:rPr>
              <a:t>Suivez-nous sur </a:t>
            </a:r>
            <a:r>
              <a:rPr lang="fr-FR" sz="1600" dirty="0" err="1">
                <a:solidFill>
                  <a:schemeClr val="bg1"/>
                </a:solidFill>
              </a:rPr>
              <a:t>LinkedIn</a:t>
            </a:r>
            <a:r>
              <a:rPr lang="fr-FR" sz="1600" dirty="0">
                <a:solidFill>
                  <a:schemeClr val="bg1"/>
                </a:solidFill>
              </a:rPr>
              <a:t>             </a:t>
            </a:r>
            <a:r>
              <a:rPr lang="fr-FR" sz="1600" dirty="0" err="1">
                <a:solidFill>
                  <a:schemeClr val="bg1"/>
                </a:solidFill>
              </a:rPr>
              <a:t>Twitter</a:t>
            </a:r>
            <a:r>
              <a:rPr lang="fr-FR" sz="1600" dirty="0">
                <a:solidFill>
                  <a:schemeClr val="bg1"/>
                </a:solidFill>
              </a:rPr>
              <a:t>       </a:t>
            </a:r>
            <a:r>
              <a:rPr lang="fr-FR" sz="1900" b="1" dirty="0">
                <a:solidFill>
                  <a:schemeClr val="bg1">
                    <a:lumMod val="95000"/>
                  </a:schemeClr>
                </a:solidFill>
              </a:rPr>
              <a:t>@</a:t>
            </a:r>
            <a:r>
              <a:rPr lang="fr-FR" sz="1900" b="1" dirty="0" err="1">
                <a:solidFill>
                  <a:schemeClr val="bg1">
                    <a:lumMod val="95000"/>
                  </a:schemeClr>
                </a:solidFill>
              </a:rPr>
              <a:t>Adrar_Numerique</a:t>
            </a:r>
            <a:r>
              <a:rPr lang="fr-FR" sz="1900" dirty="0">
                <a:solidFill>
                  <a:schemeClr val="bg1">
                    <a:lumMod val="95000"/>
                  </a:schemeClr>
                </a:solidFill>
              </a:rPr>
              <a:t>	… </a:t>
            </a:r>
            <a:r>
              <a:rPr lang="fr-FR" sz="1600" dirty="0">
                <a:solidFill>
                  <a:schemeClr val="bg1"/>
                </a:solidFill>
              </a:rPr>
              <a:t>et sur le web : </a:t>
            </a:r>
            <a:r>
              <a:rPr lang="fr-FR" sz="1900" b="1" dirty="0">
                <a:solidFill>
                  <a:schemeClr val="bg1">
                    <a:lumMod val="95000"/>
                  </a:schemeClr>
                </a:solidFill>
              </a:rPr>
              <a:t>www.adrar-numerique.com</a:t>
            </a:r>
          </a:p>
        </p:txBody>
      </p:sp>
      <p:pic>
        <p:nvPicPr>
          <p:cNvPr id="32" name="Image 31"/>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024648" y="762261"/>
            <a:ext cx="266667" cy="253968"/>
          </a:xfrm>
          <a:prstGeom prst="rect">
            <a:avLst/>
          </a:prstGeom>
        </p:spPr>
      </p:pic>
      <p:pic>
        <p:nvPicPr>
          <p:cNvPr id="33" name="Image 32" descr="logo-linkedin.png"/>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2899844" y="783165"/>
            <a:ext cx="285752" cy="285752"/>
          </a:xfrm>
          <a:prstGeom prst="rect">
            <a:avLst/>
          </a:prstGeom>
        </p:spPr>
      </p:pic>
      <p:grpSp>
        <p:nvGrpSpPr>
          <p:cNvPr id="34" name="Groupe 33"/>
          <p:cNvGrpSpPr/>
          <p:nvPr/>
        </p:nvGrpSpPr>
        <p:grpSpPr>
          <a:xfrm>
            <a:off x="70311" y="-41891"/>
            <a:ext cx="12056372" cy="746449"/>
            <a:chOff x="70311" y="-41891"/>
            <a:chExt cx="12056372" cy="746449"/>
          </a:xfrm>
        </p:grpSpPr>
        <p:grpSp>
          <p:nvGrpSpPr>
            <p:cNvPr id="35" name="Groupe 34"/>
            <p:cNvGrpSpPr/>
            <p:nvPr/>
          </p:nvGrpSpPr>
          <p:grpSpPr>
            <a:xfrm>
              <a:off x="70311" y="-41891"/>
              <a:ext cx="12056372" cy="746449"/>
              <a:chOff x="51808" y="-49564"/>
              <a:chExt cx="12056372" cy="746449"/>
            </a:xfrm>
          </p:grpSpPr>
          <p:pic>
            <p:nvPicPr>
              <p:cNvPr id="37" name="Image 36" descr="bien plus.jpg"/>
              <p:cNvPicPr>
                <a:picLocks noChangeAspect="1"/>
              </p:cNvPicPr>
              <p:nvPr/>
            </p:nvPicPr>
            <p:blipFill>
              <a:blip r:embed="rId6" cstate="print"/>
              <a:stretch>
                <a:fillRect/>
              </a:stretch>
            </p:blipFill>
            <p:spPr>
              <a:xfrm>
                <a:off x="4122599" y="228466"/>
                <a:ext cx="1289328" cy="364658"/>
              </a:xfrm>
              <a:prstGeom prst="rect">
                <a:avLst/>
              </a:prstGeom>
            </p:spPr>
          </p:pic>
          <p:pic>
            <p:nvPicPr>
              <p:cNvPr id="38" name="Image 37" descr="personnes-adrar-coul_1.jpg"/>
              <p:cNvPicPr>
                <a:picLocks noChangeAspect="1"/>
              </p:cNvPicPr>
              <p:nvPr/>
            </p:nvPicPr>
            <p:blipFill>
              <a:blip r:embed="rId7" cstate="print"/>
              <a:stretch>
                <a:fillRect/>
              </a:stretch>
            </p:blipFill>
            <p:spPr>
              <a:xfrm>
                <a:off x="5640032" y="95784"/>
                <a:ext cx="510617" cy="506565"/>
              </a:xfrm>
              <a:prstGeom prst="rect">
                <a:avLst/>
              </a:prstGeom>
            </p:spPr>
          </p:pic>
          <p:pic>
            <p:nvPicPr>
              <p:cNvPr id="39" name="Image 38" descr="personnes-adrar-coul_2.jpg"/>
              <p:cNvPicPr>
                <a:picLocks noChangeAspect="1"/>
              </p:cNvPicPr>
              <p:nvPr/>
            </p:nvPicPr>
            <p:blipFill>
              <a:blip r:embed="rId8" cstate="print"/>
              <a:stretch>
                <a:fillRect/>
              </a:stretch>
            </p:blipFill>
            <p:spPr>
              <a:xfrm>
                <a:off x="3441939" y="228467"/>
                <a:ext cx="346861" cy="352500"/>
              </a:xfrm>
              <a:prstGeom prst="rect">
                <a:avLst/>
              </a:prstGeom>
            </p:spPr>
          </p:pic>
          <p:pic>
            <p:nvPicPr>
              <p:cNvPr id="40" name="Image 39" descr="LOGO ADRAR 300dpi.jpg"/>
              <p:cNvPicPr>
                <a:picLocks noChangeAspect="1"/>
              </p:cNvPicPr>
              <p:nvPr/>
            </p:nvPicPr>
            <p:blipFill>
              <a:blip r:embed="rId9" cstate="print"/>
              <a:stretch>
                <a:fillRect/>
              </a:stretch>
            </p:blipFill>
            <p:spPr>
              <a:xfrm>
                <a:off x="51808" y="51259"/>
                <a:ext cx="432261" cy="574815"/>
              </a:xfrm>
              <a:prstGeom prst="rect">
                <a:avLst/>
              </a:prstGeom>
              <a:noFill/>
              <a:ln>
                <a:noFill/>
              </a:ln>
            </p:spPr>
          </p:pic>
          <p:pic>
            <p:nvPicPr>
              <p:cNvPr id="49" name="Image 48" descr="LOGO-ERN-GEN2017-1.png"/>
              <p:cNvPicPr>
                <a:picLocks noChangeAspect="1"/>
              </p:cNvPicPr>
              <p:nvPr/>
            </p:nvPicPr>
            <p:blipFill rotWithShape="1">
              <a:blip r:embed="rId10" cstate="print">
                <a:extLst>
                  <a:ext uri="{28A0092B-C50C-407E-A947-70E740481C1C}">
                    <a14:useLocalDpi xmlns:a14="http://schemas.microsoft.com/office/drawing/2010/main" val="0"/>
                  </a:ext>
                </a:extLst>
              </a:blip>
              <a:srcRect r="19245"/>
              <a:stretch/>
            </p:blipFill>
            <p:spPr>
              <a:xfrm>
                <a:off x="6708147" y="12191"/>
                <a:ext cx="2275425" cy="669355"/>
              </a:xfrm>
              <a:prstGeom prst="rect">
                <a:avLst/>
              </a:prstGeom>
            </p:spPr>
          </p:pic>
          <p:pic>
            <p:nvPicPr>
              <p:cNvPr id="50" name="Image 49" descr="redim-06.png"/>
              <p:cNvPicPr>
                <a:picLocks noChangeAspect="1"/>
              </p:cNvPicPr>
              <p:nvPr/>
            </p:nvPicPr>
            <p:blipFill rotWithShape="1">
              <a:blip r:embed="rId11" cstate="print">
                <a:extLst>
                  <a:ext uri="{28A0092B-C50C-407E-A947-70E740481C1C}">
                    <a14:useLocalDpi xmlns:a14="http://schemas.microsoft.com/office/drawing/2010/main" val="0"/>
                  </a:ext>
                </a:extLst>
              </a:blip>
              <a:srcRect t="28400" b="26267"/>
              <a:stretch/>
            </p:blipFill>
            <p:spPr>
              <a:xfrm>
                <a:off x="10739120" y="30480"/>
                <a:ext cx="1369060" cy="620641"/>
              </a:xfrm>
              <a:prstGeom prst="rect">
                <a:avLst/>
              </a:prstGeom>
            </p:spPr>
          </p:pic>
          <p:pic>
            <p:nvPicPr>
              <p:cNvPr id="51" name="Image 50"/>
              <p:cNvPicPr>
                <a:picLocks noChangeAspect="1"/>
              </p:cNvPicPr>
              <p:nvPr/>
            </p:nvPicPr>
            <p:blipFill rotWithShape="1">
              <a:blip r:embed="rId12" cstate="print">
                <a:extLst>
                  <a:ext uri="{28A0092B-C50C-407E-A947-70E740481C1C}">
                    <a14:useLocalDpi xmlns:a14="http://schemas.microsoft.com/office/drawing/2010/main" val="0"/>
                  </a:ext>
                </a:extLst>
              </a:blip>
              <a:srcRect l="16802" t="22888" r="16244" b="27236"/>
              <a:stretch/>
            </p:blipFill>
            <p:spPr>
              <a:xfrm>
                <a:off x="8974241" y="-49564"/>
                <a:ext cx="1502229" cy="746449"/>
              </a:xfrm>
              <a:prstGeom prst="rect">
                <a:avLst/>
              </a:prstGeom>
            </p:spPr>
          </p:pic>
        </p:grpSp>
        <p:pic>
          <p:nvPicPr>
            <p:cNvPr id="36" name="Image 35"/>
            <p:cNvPicPr>
              <a:picLocks noChangeAspect="1"/>
            </p:cNvPicPr>
            <p:nvPr/>
          </p:nvPicPr>
          <p:blipFill rotWithShape="1">
            <a:blip r:embed="rId13">
              <a:extLst>
                <a:ext uri="{28A0092B-C50C-407E-A947-70E740481C1C}">
                  <a14:useLocalDpi xmlns:a14="http://schemas.microsoft.com/office/drawing/2010/main" val="0"/>
                </a:ext>
              </a:extLst>
            </a:blip>
            <a:srcRect t="22863" b="24898"/>
            <a:stretch/>
          </p:blipFill>
          <p:spPr>
            <a:xfrm>
              <a:off x="680899" y="90649"/>
              <a:ext cx="2612643" cy="537329"/>
            </a:xfrm>
            <a:prstGeom prst="rect">
              <a:avLst/>
            </a:prstGeom>
          </p:spPr>
        </p:pic>
      </p:grpSp>
      <p:sp>
        <p:nvSpPr>
          <p:cNvPr id="19" name="ZoneTexte 18"/>
          <p:cNvSpPr txBox="1"/>
          <p:nvPr/>
        </p:nvSpPr>
        <p:spPr>
          <a:xfrm>
            <a:off x="169660" y="5571237"/>
            <a:ext cx="11488366" cy="646331"/>
          </a:xfrm>
          <a:prstGeom prst="rect">
            <a:avLst/>
          </a:prstGeom>
          <a:noFill/>
        </p:spPr>
        <p:txBody>
          <a:bodyPr wrap="square" rtlCol="0">
            <a:spAutoFit/>
          </a:bodyPr>
          <a:lstStyle/>
          <a:p>
            <a:r>
              <a:rPr lang="fr-FR" dirty="0" smtClean="0"/>
              <a:t>Le script exécute notre test et nous indique qu’il a échoué en levant une exception </a:t>
            </a:r>
            <a:r>
              <a:rPr lang="fr-FR" i="1" dirty="0" err="1" smtClean="0"/>
              <a:t>AssertionError</a:t>
            </a:r>
            <a:r>
              <a:rPr lang="fr-FR" dirty="0" smtClean="0"/>
              <a:t> car la méthode a return </a:t>
            </a:r>
            <a:r>
              <a:rPr lang="fr-FR" i="1" dirty="0" err="1" smtClean="0"/>
              <a:t>True</a:t>
            </a:r>
            <a:r>
              <a:rPr lang="fr-FR" dirty="0" smtClean="0"/>
              <a:t> alors qu’elle aurait du return </a:t>
            </a:r>
            <a:r>
              <a:rPr lang="fr-FR" i="1" dirty="0" smtClean="0"/>
              <a:t>False</a:t>
            </a:r>
            <a:r>
              <a:rPr lang="fr-FR" dirty="0" smtClean="0"/>
              <a:t>.</a:t>
            </a:r>
            <a:endParaRPr lang="fr-FR" dirty="0"/>
          </a:p>
        </p:txBody>
      </p:sp>
      <p:pic>
        <p:nvPicPr>
          <p:cNvPr id="3" name="Image 2"/>
          <p:cNvPicPr>
            <a:picLocks noChangeAspect="1"/>
          </p:cNvPicPr>
          <p:nvPr/>
        </p:nvPicPr>
        <p:blipFill>
          <a:blip r:embed="rId14"/>
          <a:stretch>
            <a:fillRect/>
          </a:stretch>
        </p:blipFill>
        <p:spPr>
          <a:xfrm>
            <a:off x="462974" y="1350055"/>
            <a:ext cx="11272838" cy="4136014"/>
          </a:xfrm>
          <a:prstGeom prst="rect">
            <a:avLst/>
          </a:prstGeom>
        </p:spPr>
      </p:pic>
    </p:spTree>
    <p:extLst>
      <p:ext uri="{BB962C8B-B14F-4D97-AF65-F5344CB8AC3E}">
        <p14:creationId xmlns:p14="http://schemas.microsoft.com/office/powerpoint/2010/main" val="978969082"/>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Rectangle 16"/>
          <p:cNvSpPr/>
          <p:nvPr/>
        </p:nvSpPr>
        <p:spPr>
          <a:xfrm>
            <a:off x="0" y="675503"/>
            <a:ext cx="12198786" cy="478582"/>
          </a:xfrm>
          <a:prstGeom prst="rect">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22" name="Image 2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002202" y="6540326"/>
            <a:ext cx="253968" cy="253968"/>
          </a:xfrm>
          <a:prstGeom prst="rect">
            <a:avLst/>
          </a:prstGeom>
        </p:spPr>
      </p:pic>
      <p:sp>
        <p:nvSpPr>
          <p:cNvPr id="23" name="ZoneTexte 22"/>
          <p:cNvSpPr txBox="1"/>
          <p:nvPr/>
        </p:nvSpPr>
        <p:spPr>
          <a:xfrm>
            <a:off x="5216109" y="6532276"/>
            <a:ext cx="2664700" cy="307777"/>
          </a:xfrm>
          <a:prstGeom prst="rect">
            <a:avLst/>
          </a:prstGeom>
          <a:noFill/>
        </p:spPr>
        <p:txBody>
          <a:bodyPr wrap="square" rtlCol="0">
            <a:spAutoFit/>
          </a:bodyPr>
          <a:lstStyle/>
          <a:p>
            <a:r>
              <a:rPr lang="fr-FR" sz="1400" dirty="0" smtClean="0">
                <a:solidFill>
                  <a:schemeClr val="tx1">
                    <a:lumMod val="65000"/>
                    <a:lumOff val="35000"/>
                  </a:schemeClr>
                </a:solidFill>
              </a:rPr>
              <a:t>ADRAR Pôle Numérique Occitanie</a:t>
            </a:r>
            <a:endParaRPr lang="fr-FR" sz="1400" dirty="0">
              <a:solidFill>
                <a:schemeClr val="tx1">
                  <a:lumMod val="65000"/>
                  <a:lumOff val="35000"/>
                </a:schemeClr>
              </a:solidFill>
            </a:endParaRPr>
          </a:p>
        </p:txBody>
      </p:sp>
      <p:sp>
        <p:nvSpPr>
          <p:cNvPr id="31" name="ZoneTexte 30"/>
          <p:cNvSpPr txBox="1"/>
          <p:nvPr/>
        </p:nvSpPr>
        <p:spPr>
          <a:xfrm>
            <a:off x="0" y="696885"/>
            <a:ext cx="12198786" cy="384721"/>
          </a:xfrm>
          <a:prstGeom prst="rect">
            <a:avLst/>
          </a:prstGeom>
          <a:noFill/>
        </p:spPr>
        <p:txBody>
          <a:bodyPr wrap="square" rtlCol="0">
            <a:spAutoFit/>
          </a:bodyPr>
          <a:lstStyle/>
          <a:p>
            <a:pPr algn="ctr"/>
            <a:r>
              <a:rPr lang="fr-FR" sz="1600" dirty="0">
                <a:solidFill>
                  <a:schemeClr val="bg1"/>
                </a:solidFill>
              </a:rPr>
              <a:t>Suivez-nous sur </a:t>
            </a:r>
            <a:r>
              <a:rPr lang="fr-FR" sz="1600" dirty="0" err="1">
                <a:solidFill>
                  <a:schemeClr val="bg1"/>
                </a:solidFill>
              </a:rPr>
              <a:t>LinkedIn</a:t>
            </a:r>
            <a:r>
              <a:rPr lang="fr-FR" sz="1600" dirty="0">
                <a:solidFill>
                  <a:schemeClr val="bg1"/>
                </a:solidFill>
              </a:rPr>
              <a:t>             </a:t>
            </a:r>
            <a:r>
              <a:rPr lang="fr-FR" sz="1600" dirty="0" err="1">
                <a:solidFill>
                  <a:schemeClr val="bg1"/>
                </a:solidFill>
              </a:rPr>
              <a:t>Twitter</a:t>
            </a:r>
            <a:r>
              <a:rPr lang="fr-FR" sz="1600" dirty="0">
                <a:solidFill>
                  <a:schemeClr val="bg1"/>
                </a:solidFill>
              </a:rPr>
              <a:t>       </a:t>
            </a:r>
            <a:r>
              <a:rPr lang="fr-FR" sz="1900" b="1" dirty="0">
                <a:solidFill>
                  <a:schemeClr val="bg1">
                    <a:lumMod val="95000"/>
                  </a:schemeClr>
                </a:solidFill>
              </a:rPr>
              <a:t>@</a:t>
            </a:r>
            <a:r>
              <a:rPr lang="fr-FR" sz="1900" b="1" dirty="0" err="1">
                <a:solidFill>
                  <a:schemeClr val="bg1">
                    <a:lumMod val="95000"/>
                  </a:schemeClr>
                </a:solidFill>
              </a:rPr>
              <a:t>Adrar_Numerique</a:t>
            </a:r>
            <a:r>
              <a:rPr lang="fr-FR" sz="1900" dirty="0">
                <a:solidFill>
                  <a:schemeClr val="bg1">
                    <a:lumMod val="95000"/>
                  </a:schemeClr>
                </a:solidFill>
              </a:rPr>
              <a:t>	… </a:t>
            </a:r>
            <a:r>
              <a:rPr lang="fr-FR" sz="1600" dirty="0">
                <a:solidFill>
                  <a:schemeClr val="bg1"/>
                </a:solidFill>
              </a:rPr>
              <a:t>et sur le web : </a:t>
            </a:r>
            <a:r>
              <a:rPr lang="fr-FR" sz="1900" b="1" dirty="0">
                <a:solidFill>
                  <a:schemeClr val="bg1">
                    <a:lumMod val="95000"/>
                  </a:schemeClr>
                </a:solidFill>
              </a:rPr>
              <a:t>www.adrar-numerique.com</a:t>
            </a:r>
          </a:p>
        </p:txBody>
      </p:sp>
      <p:pic>
        <p:nvPicPr>
          <p:cNvPr id="32" name="Image 31"/>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024648" y="762261"/>
            <a:ext cx="266667" cy="253968"/>
          </a:xfrm>
          <a:prstGeom prst="rect">
            <a:avLst/>
          </a:prstGeom>
        </p:spPr>
      </p:pic>
      <p:pic>
        <p:nvPicPr>
          <p:cNvPr id="33" name="Image 32" descr="logo-linkedin.png"/>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2899844" y="783165"/>
            <a:ext cx="285752" cy="285752"/>
          </a:xfrm>
          <a:prstGeom prst="rect">
            <a:avLst/>
          </a:prstGeom>
        </p:spPr>
      </p:pic>
      <p:grpSp>
        <p:nvGrpSpPr>
          <p:cNvPr id="34" name="Groupe 33"/>
          <p:cNvGrpSpPr/>
          <p:nvPr/>
        </p:nvGrpSpPr>
        <p:grpSpPr>
          <a:xfrm>
            <a:off x="70311" y="-41891"/>
            <a:ext cx="12056372" cy="746449"/>
            <a:chOff x="70311" y="-41891"/>
            <a:chExt cx="12056372" cy="746449"/>
          </a:xfrm>
        </p:grpSpPr>
        <p:grpSp>
          <p:nvGrpSpPr>
            <p:cNvPr id="35" name="Groupe 34"/>
            <p:cNvGrpSpPr/>
            <p:nvPr/>
          </p:nvGrpSpPr>
          <p:grpSpPr>
            <a:xfrm>
              <a:off x="70311" y="-41891"/>
              <a:ext cx="12056372" cy="746449"/>
              <a:chOff x="51808" y="-49564"/>
              <a:chExt cx="12056372" cy="746449"/>
            </a:xfrm>
          </p:grpSpPr>
          <p:pic>
            <p:nvPicPr>
              <p:cNvPr id="37" name="Image 36" descr="bien plus.jpg"/>
              <p:cNvPicPr>
                <a:picLocks noChangeAspect="1"/>
              </p:cNvPicPr>
              <p:nvPr/>
            </p:nvPicPr>
            <p:blipFill>
              <a:blip r:embed="rId6" cstate="print"/>
              <a:stretch>
                <a:fillRect/>
              </a:stretch>
            </p:blipFill>
            <p:spPr>
              <a:xfrm>
                <a:off x="4122599" y="228466"/>
                <a:ext cx="1289328" cy="364658"/>
              </a:xfrm>
              <a:prstGeom prst="rect">
                <a:avLst/>
              </a:prstGeom>
            </p:spPr>
          </p:pic>
          <p:pic>
            <p:nvPicPr>
              <p:cNvPr id="38" name="Image 37" descr="personnes-adrar-coul_1.jpg"/>
              <p:cNvPicPr>
                <a:picLocks noChangeAspect="1"/>
              </p:cNvPicPr>
              <p:nvPr/>
            </p:nvPicPr>
            <p:blipFill>
              <a:blip r:embed="rId7" cstate="print"/>
              <a:stretch>
                <a:fillRect/>
              </a:stretch>
            </p:blipFill>
            <p:spPr>
              <a:xfrm>
                <a:off x="5640032" y="95784"/>
                <a:ext cx="510617" cy="506565"/>
              </a:xfrm>
              <a:prstGeom prst="rect">
                <a:avLst/>
              </a:prstGeom>
            </p:spPr>
          </p:pic>
          <p:pic>
            <p:nvPicPr>
              <p:cNvPr id="39" name="Image 38" descr="personnes-adrar-coul_2.jpg"/>
              <p:cNvPicPr>
                <a:picLocks noChangeAspect="1"/>
              </p:cNvPicPr>
              <p:nvPr/>
            </p:nvPicPr>
            <p:blipFill>
              <a:blip r:embed="rId8" cstate="print"/>
              <a:stretch>
                <a:fillRect/>
              </a:stretch>
            </p:blipFill>
            <p:spPr>
              <a:xfrm>
                <a:off x="3441939" y="228467"/>
                <a:ext cx="346861" cy="352500"/>
              </a:xfrm>
              <a:prstGeom prst="rect">
                <a:avLst/>
              </a:prstGeom>
            </p:spPr>
          </p:pic>
          <p:pic>
            <p:nvPicPr>
              <p:cNvPr id="40" name="Image 39" descr="LOGO ADRAR 300dpi.jpg"/>
              <p:cNvPicPr>
                <a:picLocks noChangeAspect="1"/>
              </p:cNvPicPr>
              <p:nvPr/>
            </p:nvPicPr>
            <p:blipFill>
              <a:blip r:embed="rId9" cstate="print"/>
              <a:stretch>
                <a:fillRect/>
              </a:stretch>
            </p:blipFill>
            <p:spPr>
              <a:xfrm>
                <a:off x="51808" y="51259"/>
                <a:ext cx="432261" cy="574815"/>
              </a:xfrm>
              <a:prstGeom prst="rect">
                <a:avLst/>
              </a:prstGeom>
              <a:noFill/>
              <a:ln>
                <a:noFill/>
              </a:ln>
            </p:spPr>
          </p:pic>
          <p:pic>
            <p:nvPicPr>
              <p:cNvPr id="49" name="Image 48" descr="LOGO-ERN-GEN2017-1.png"/>
              <p:cNvPicPr>
                <a:picLocks noChangeAspect="1"/>
              </p:cNvPicPr>
              <p:nvPr/>
            </p:nvPicPr>
            <p:blipFill rotWithShape="1">
              <a:blip r:embed="rId10" cstate="print">
                <a:extLst>
                  <a:ext uri="{28A0092B-C50C-407E-A947-70E740481C1C}">
                    <a14:useLocalDpi xmlns:a14="http://schemas.microsoft.com/office/drawing/2010/main" val="0"/>
                  </a:ext>
                </a:extLst>
              </a:blip>
              <a:srcRect r="19245"/>
              <a:stretch/>
            </p:blipFill>
            <p:spPr>
              <a:xfrm>
                <a:off x="6708147" y="12191"/>
                <a:ext cx="2275425" cy="669355"/>
              </a:xfrm>
              <a:prstGeom prst="rect">
                <a:avLst/>
              </a:prstGeom>
            </p:spPr>
          </p:pic>
          <p:pic>
            <p:nvPicPr>
              <p:cNvPr id="50" name="Image 49" descr="redim-06.png"/>
              <p:cNvPicPr>
                <a:picLocks noChangeAspect="1"/>
              </p:cNvPicPr>
              <p:nvPr/>
            </p:nvPicPr>
            <p:blipFill rotWithShape="1">
              <a:blip r:embed="rId11" cstate="print">
                <a:extLst>
                  <a:ext uri="{28A0092B-C50C-407E-A947-70E740481C1C}">
                    <a14:useLocalDpi xmlns:a14="http://schemas.microsoft.com/office/drawing/2010/main" val="0"/>
                  </a:ext>
                </a:extLst>
              </a:blip>
              <a:srcRect t="28400" b="26267"/>
              <a:stretch/>
            </p:blipFill>
            <p:spPr>
              <a:xfrm>
                <a:off x="10739120" y="30480"/>
                <a:ext cx="1369060" cy="620641"/>
              </a:xfrm>
              <a:prstGeom prst="rect">
                <a:avLst/>
              </a:prstGeom>
            </p:spPr>
          </p:pic>
          <p:pic>
            <p:nvPicPr>
              <p:cNvPr id="51" name="Image 50"/>
              <p:cNvPicPr>
                <a:picLocks noChangeAspect="1"/>
              </p:cNvPicPr>
              <p:nvPr/>
            </p:nvPicPr>
            <p:blipFill rotWithShape="1">
              <a:blip r:embed="rId12" cstate="print">
                <a:extLst>
                  <a:ext uri="{28A0092B-C50C-407E-A947-70E740481C1C}">
                    <a14:useLocalDpi xmlns:a14="http://schemas.microsoft.com/office/drawing/2010/main" val="0"/>
                  </a:ext>
                </a:extLst>
              </a:blip>
              <a:srcRect l="16802" t="22888" r="16244" b="27236"/>
              <a:stretch/>
            </p:blipFill>
            <p:spPr>
              <a:xfrm>
                <a:off x="8974241" y="-49564"/>
                <a:ext cx="1502229" cy="746449"/>
              </a:xfrm>
              <a:prstGeom prst="rect">
                <a:avLst/>
              </a:prstGeom>
            </p:spPr>
          </p:pic>
        </p:grpSp>
        <p:pic>
          <p:nvPicPr>
            <p:cNvPr id="36" name="Image 35"/>
            <p:cNvPicPr>
              <a:picLocks noChangeAspect="1"/>
            </p:cNvPicPr>
            <p:nvPr/>
          </p:nvPicPr>
          <p:blipFill rotWithShape="1">
            <a:blip r:embed="rId13">
              <a:extLst>
                <a:ext uri="{28A0092B-C50C-407E-A947-70E740481C1C}">
                  <a14:useLocalDpi xmlns:a14="http://schemas.microsoft.com/office/drawing/2010/main" val="0"/>
                </a:ext>
              </a:extLst>
            </a:blip>
            <a:srcRect t="22863" b="24898"/>
            <a:stretch/>
          </p:blipFill>
          <p:spPr>
            <a:xfrm>
              <a:off x="680899" y="90649"/>
              <a:ext cx="2612643" cy="537329"/>
            </a:xfrm>
            <a:prstGeom prst="rect">
              <a:avLst/>
            </a:prstGeom>
          </p:spPr>
        </p:pic>
      </p:grpSp>
      <p:sp>
        <p:nvSpPr>
          <p:cNvPr id="18" name="ZoneTexte 17"/>
          <p:cNvSpPr txBox="1"/>
          <p:nvPr/>
        </p:nvSpPr>
        <p:spPr>
          <a:xfrm>
            <a:off x="169660" y="1325091"/>
            <a:ext cx="11488366" cy="369332"/>
          </a:xfrm>
          <a:prstGeom prst="rect">
            <a:avLst/>
          </a:prstGeom>
          <a:noFill/>
        </p:spPr>
        <p:txBody>
          <a:bodyPr wrap="square" rtlCol="0">
            <a:spAutoFit/>
          </a:bodyPr>
          <a:lstStyle/>
          <a:p>
            <a:r>
              <a:rPr lang="fr-FR" dirty="0" smtClean="0"/>
              <a:t>Corrigeons donc notre méthode pour qu’elle passe notre test.</a:t>
            </a:r>
            <a:endParaRPr lang="fr-FR" dirty="0"/>
          </a:p>
        </p:txBody>
      </p:sp>
      <p:pic>
        <p:nvPicPr>
          <p:cNvPr id="2" name="Image 1"/>
          <p:cNvPicPr>
            <a:picLocks noChangeAspect="1"/>
          </p:cNvPicPr>
          <p:nvPr/>
        </p:nvPicPr>
        <p:blipFill>
          <a:blip r:embed="rId14"/>
          <a:stretch>
            <a:fillRect/>
          </a:stretch>
        </p:blipFill>
        <p:spPr>
          <a:xfrm>
            <a:off x="231993" y="1752751"/>
            <a:ext cx="5867400" cy="809625"/>
          </a:xfrm>
          <a:prstGeom prst="rect">
            <a:avLst/>
          </a:prstGeom>
        </p:spPr>
      </p:pic>
      <p:sp>
        <p:nvSpPr>
          <p:cNvPr id="20" name="ZoneTexte 19"/>
          <p:cNvSpPr txBox="1"/>
          <p:nvPr/>
        </p:nvSpPr>
        <p:spPr>
          <a:xfrm>
            <a:off x="6133668" y="1661473"/>
            <a:ext cx="5993015" cy="923330"/>
          </a:xfrm>
          <a:prstGeom prst="rect">
            <a:avLst/>
          </a:prstGeom>
          <a:noFill/>
        </p:spPr>
        <p:txBody>
          <a:bodyPr wrap="square" rtlCol="0">
            <a:spAutoFit/>
          </a:bodyPr>
          <a:lstStyle/>
          <a:p>
            <a:r>
              <a:rPr lang="fr-FR" dirty="0" smtClean="0"/>
              <a:t>Cette fois notre méthode return </a:t>
            </a:r>
            <a:r>
              <a:rPr lang="fr-FR" dirty="0" err="1" smtClean="0"/>
              <a:t>True</a:t>
            </a:r>
            <a:r>
              <a:rPr lang="fr-FR" dirty="0" smtClean="0"/>
              <a:t> si la date de publication est comprise entre hier et aujourd’hui. Nous pouvons relancer notre test.</a:t>
            </a:r>
            <a:endParaRPr lang="fr-FR" dirty="0"/>
          </a:p>
        </p:txBody>
      </p:sp>
      <p:pic>
        <p:nvPicPr>
          <p:cNvPr id="3" name="Image 2"/>
          <p:cNvPicPr>
            <a:picLocks noChangeAspect="1"/>
          </p:cNvPicPr>
          <p:nvPr/>
        </p:nvPicPr>
        <p:blipFill>
          <a:blip r:embed="rId15"/>
          <a:stretch>
            <a:fillRect/>
          </a:stretch>
        </p:blipFill>
        <p:spPr>
          <a:xfrm>
            <a:off x="233681" y="2888235"/>
            <a:ext cx="7848600" cy="2000250"/>
          </a:xfrm>
          <a:prstGeom prst="rect">
            <a:avLst/>
          </a:prstGeom>
        </p:spPr>
      </p:pic>
      <p:sp>
        <p:nvSpPr>
          <p:cNvPr id="24" name="ZoneTexte 23"/>
          <p:cNvSpPr txBox="1"/>
          <p:nvPr/>
        </p:nvSpPr>
        <p:spPr>
          <a:xfrm>
            <a:off x="171237" y="5101558"/>
            <a:ext cx="11488366" cy="923330"/>
          </a:xfrm>
          <a:prstGeom prst="rect">
            <a:avLst/>
          </a:prstGeom>
          <a:noFill/>
        </p:spPr>
        <p:txBody>
          <a:bodyPr wrap="square" rtlCol="0">
            <a:spAutoFit/>
          </a:bodyPr>
          <a:lstStyle/>
          <a:p>
            <a:r>
              <a:rPr lang="fr-FR" dirty="0" smtClean="0"/>
              <a:t>Suite à la modification de la méthode notre test est réussi.</a:t>
            </a:r>
          </a:p>
          <a:p>
            <a:endParaRPr lang="fr-FR" dirty="0"/>
          </a:p>
          <a:p>
            <a:r>
              <a:rPr lang="fr-FR" dirty="0" smtClean="0"/>
              <a:t>Nous pouvons maintenant aller un peu plus loin dans le test de notre méthode.</a:t>
            </a:r>
            <a:endParaRPr lang="fr-FR" dirty="0"/>
          </a:p>
        </p:txBody>
      </p:sp>
    </p:spTree>
    <p:extLst>
      <p:ext uri="{BB962C8B-B14F-4D97-AF65-F5344CB8AC3E}">
        <p14:creationId xmlns:p14="http://schemas.microsoft.com/office/powerpoint/2010/main" val="4173935243"/>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Rectangle 16"/>
          <p:cNvSpPr/>
          <p:nvPr/>
        </p:nvSpPr>
        <p:spPr>
          <a:xfrm>
            <a:off x="0" y="675503"/>
            <a:ext cx="12198786" cy="478582"/>
          </a:xfrm>
          <a:prstGeom prst="rect">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22" name="Image 2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002202" y="6540326"/>
            <a:ext cx="253968" cy="253968"/>
          </a:xfrm>
          <a:prstGeom prst="rect">
            <a:avLst/>
          </a:prstGeom>
        </p:spPr>
      </p:pic>
      <p:sp>
        <p:nvSpPr>
          <p:cNvPr id="23" name="ZoneTexte 22"/>
          <p:cNvSpPr txBox="1"/>
          <p:nvPr/>
        </p:nvSpPr>
        <p:spPr>
          <a:xfrm>
            <a:off x="5216109" y="6532276"/>
            <a:ext cx="2664700" cy="307777"/>
          </a:xfrm>
          <a:prstGeom prst="rect">
            <a:avLst/>
          </a:prstGeom>
          <a:noFill/>
        </p:spPr>
        <p:txBody>
          <a:bodyPr wrap="square" rtlCol="0">
            <a:spAutoFit/>
          </a:bodyPr>
          <a:lstStyle/>
          <a:p>
            <a:r>
              <a:rPr lang="fr-FR" sz="1400" dirty="0" smtClean="0">
                <a:solidFill>
                  <a:schemeClr val="tx1">
                    <a:lumMod val="65000"/>
                    <a:lumOff val="35000"/>
                  </a:schemeClr>
                </a:solidFill>
              </a:rPr>
              <a:t>ADRAR Pôle Numérique Occitanie</a:t>
            </a:r>
            <a:endParaRPr lang="fr-FR" sz="1400" dirty="0">
              <a:solidFill>
                <a:schemeClr val="tx1">
                  <a:lumMod val="65000"/>
                  <a:lumOff val="35000"/>
                </a:schemeClr>
              </a:solidFill>
            </a:endParaRPr>
          </a:p>
        </p:txBody>
      </p:sp>
      <p:sp>
        <p:nvSpPr>
          <p:cNvPr id="31" name="ZoneTexte 30"/>
          <p:cNvSpPr txBox="1"/>
          <p:nvPr/>
        </p:nvSpPr>
        <p:spPr>
          <a:xfrm>
            <a:off x="0" y="696885"/>
            <a:ext cx="12198786" cy="384721"/>
          </a:xfrm>
          <a:prstGeom prst="rect">
            <a:avLst/>
          </a:prstGeom>
          <a:noFill/>
        </p:spPr>
        <p:txBody>
          <a:bodyPr wrap="square" rtlCol="0">
            <a:spAutoFit/>
          </a:bodyPr>
          <a:lstStyle/>
          <a:p>
            <a:pPr algn="ctr"/>
            <a:r>
              <a:rPr lang="fr-FR" sz="1600" dirty="0">
                <a:solidFill>
                  <a:schemeClr val="bg1"/>
                </a:solidFill>
              </a:rPr>
              <a:t>Suivez-nous sur </a:t>
            </a:r>
            <a:r>
              <a:rPr lang="fr-FR" sz="1600" dirty="0" err="1">
                <a:solidFill>
                  <a:schemeClr val="bg1"/>
                </a:solidFill>
              </a:rPr>
              <a:t>LinkedIn</a:t>
            </a:r>
            <a:r>
              <a:rPr lang="fr-FR" sz="1600" dirty="0">
                <a:solidFill>
                  <a:schemeClr val="bg1"/>
                </a:solidFill>
              </a:rPr>
              <a:t>             </a:t>
            </a:r>
            <a:r>
              <a:rPr lang="fr-FR" sz="1600" dirty="0" err="1">
                <a:solidFill>
                  <a:schemeClr val="bg1"/>
                </a:solidFill>
              </a:rPr>
              <a:t>Twitter</a:t>
            </a:r>
            <a:r>
              <a:rPr lang="fr-FR" sz="1600" dirty="0">
                <a:solidFill>
                  <a:schemeClr val="bg1"/>
                </a:solidFill>
              </a:rPr>
              <a:t>       </a:t>
            </a:r>
            <a:r>
              <a:rPr lang="fr-FR" sz="1900" b="1" dirty="0">
                <a:solidFill>
                  <a:schemeClr val="bg1">
                    <a:lumMod val="95000"/>
                  </a:schemeClr>
                </a:solidFill>
              </a:rPr>
              <a:t>@</a:t>
            </a:r>
            <a:r>
              <a:rPr lang="fr-FR" sz="1900" b="1" dirty="0" err="1">
                <a:solidFill>
                  <a:schemeClr val="bg1">
                    <a:lumMod val="95000"/>
                  </a:schemeClr>
                </a:solidFill>
              </a:rPr>
              <a:t>Adrar_Numerique</a:t>
            </a:r>
            <a:r>
              <a:rPr lang="fr-FR" sz="1900" dirty="0">
                <a:solidFill>
                  <a:schemeClr val="bg1">
                    <a:lumMod val="95000"/>
                  </a:schemeClr>
                </a:solidFill>
              </a:rPr>
              <a:t>	… </a:t>
            </a:r>
            <a:r>
              <a:rPr lang="fr-FR" sz="1600" dirty="0">
                <a:solidFill>
                  <a:schemeClr val="bg1"/>
                </a:solidFill>
              </a:rPr>
              <a:t>et sur le web : </a:t>
            </a:r>
            <a:r>
              <a:rPr lang="fr-FR" sz="1900" b="1" dirty="0">
                <a:solidFill>
                  <a:schemeClr val="bg1">
                    <a:lumMod val="95000"/>
                  </a:schemeClr>
                </a:solidFill>
              </a:rPr>
              <a:t>www.adrar-numerique.com</a:t>
            </a:r>
          </a:p>
        </p:txBody>
      </p:sp>
      <p:pic>
        <p:nvPicPr>
          <p:cNvPr id="32" name="Image 31"/>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024648" y="762261"/>
            <a:ext cx="266667" cy="253968"/>
          </a:xfrm>
          <a:prstGeom prst="rect">
            <a:avLst/>
          </a:prstGeom>
        </p:spPr>
      </p:pic>
      <p:pic>
        <p:nvPicPr>
          <p:cNvPr id="33" name="Image 32" descr="logo-linkedin.png"/>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2899844" y="783165"/>
            <a:ext cx="285752" cy="285752"/>
          </a:xfrm>
          <a:prstGeom prst="rect">
            <a:avLst/>
          </a:prstGeom>
        </p:spPr>
      </p:pic>
      <p:grpSp>
        <p:nvGrpSpPr>
          <p:cNvPr id="34" name="Groupe 33"/>
          <p:cNvGrpSpPr/>
          <p:nvPr/>
        </p:nvGrpSpPr>
        <p:grpSpPr>
          <a:xfrm>
            <a:off x="70311" y="-41891"/>
            <a:ext cx="12056372" cy="746449"/>
            <a:chOff x="70311" y="-41891"/>
            <a:chExt cx="12056372" cy="746449"/>
          </a:xfrm>
        </p:grpSpPr>
        <p:grpSp>
          <p:nvGrpSpPr>
            <p:cNvPr id="35" name="Groupe 34"/>
            <p:cNvGrpSpPr/>
            <p:nvPr/>
          </p:nvGrpSpPr>
          <p:grpSpPr>
            <a:xfrm>
              <a:off x="70311" y="-41891"/>
              <a:ext cx="12056372" cy="746449"/>
              <a:chOff x="51808" y="-49564"/>
              <a:chExt cx="12056372" cy="746449"/>
            </a:xfrm>
          </p:grpSpPr>
          <p:pic>
            <p:nvPicPr>
              <p:cNvPr id="37" name="Image 36" descr="bien plus.jpg"/>
              <p:cNvPicPr>
                <a:picLocks noChangeAspect="1"/>
              </p:cNvPicPr>
              <p:nvPr/>
            </p:nvPicPr>
            <p:blipFill>
              <a:blip r:embed="rId6" cstate="print"/>
              <a:stretch>
                <a:fillRect/>
              </a:stretch>
            </p:blipFill>
            <p:spPr>
              <a:xfrm>
                <a:off x="4122599" y="228466"/>
                <a:ext cx="1289328" cy="364658"/>
              </a:xfrm>
              <a:prstGeom prst="rect">
                <a:avLst/>
              </a:prstGeom>
            </p:spPr>
          </p:pic>
          <p:pic>
            <p:nvPicPr>
              <p:cNvPr id="38" name="Image 37" descr="personnes-adrar-coul_1.jpg"/>
              <p:cNvPicPr>
                <a:picLocks noChangeAspect="1"/>
              </p:cNvPicPr>
              <p:nvPr/>
            </p:nvPicPr>
            <p:blipFill>
              <a:blip r:embed="rId7" cstate="print"/>
              <a:stretch>
                <a:fillRect/>
              </a:stretch>
            </p:blipFill>
            <p:spPr>
              <a:xfrm>
                <a:off x="5640032" y="95784"/>
                <a:ext cx="510617" cy="506565"/>
              </a:xfrm>
              <a:prstGeom prst="rect">
                <a:avLst/>
              </a:prstGeom>
            </p:spPr>
          </p:pic>
          <p:pic>
            <p:nvPicPr>
              <p:cNvPr id="39" name="Image 38" descr="personnes-adrar-coul_2.jpg"/>
              <p:cNvPicPr>
                <a:picLocks noChangeAspect="1"/>
              </p:cNvPicPr>
              <p:nvPr/>
            </p:nvPicPr>
            <p:blipFill>
              <a:blip r:embed="rId8" cstate="print"/>
              <a:stretch>
                <a:fillRect/>
              </a:stretch>
            </p:blipFill>
            <p:spPr>
              <a:xfrm>
                <a:off x="3441939" y="228467"/>
                <a:ext cx="346861" cy="352500"/>
              </a:xfrm>
              <a:prstGeom prst="rect">
                <a:avLst/>
              </a:prstGeom>
            </p:spPr>
          </p:pic>
          <p:pic>
            <p:nvPicPr>
              <p:cNvPr id="40" name="Image 39" descr="LOGO ADRAR 300dpi.jpg"/>
              <p:cNvPicPr>
                <a:picLocks noChangeAspect="1"/>
              </p:cNvPicPr>
              <p:nvPr/>
            </p:nvPicPr>
            <p:blipFill>
              <a:blip r:embed="rId9" cstate="print"/>
              <a:stretch>
                <a:fillRect/>
              </a:stretch>
            </p:blipFill>
            <p:spPr>
              <a:xfrm>
                <a:off x="51808" y="51259"/>
                <a:ext cx="432261" cy="574815"/>
              </a:xfrm>
              <a:prstGeom prst="rect">
                <a:avLst/>
              </a:prstGeom>
              <a:noFill/>
              <a:ln>
                <a:noFill/>
              </a:ln>
            </p:spPr>
          </p:pic>
          <p:pic>
            <p:nvPicPr>
              <p:cNvPr id="49" name="Image 48" descr="LOGO-ERN-GEN2017-1.png"/>
              <p:cNvPicPr>
                <a:picLocks noChangeAspect="1"/>
              </p:cNvPicPr>
              <p:nvPr/>
            </p:nvPicPr>
            <p:blipFill rotWithShape="1">
              <a:blip r:embed="rId10" cstate="print">
                <a:extLst>
                  <a:ext uri="{28A0092B-C50C-407E-A947-70E740481C1C}">
                    <a14:useLocalDpi xmlns:a14="http://schemas.microsoft.com/office/drawing/2010/main" val="0"/>
                  </a:ext>
                </a:extLst>
              </a:blip>
              <a:srcRect r="19245"/>
              <a:stretch/>
            </p:blipFill>
            <p:spPr>
              <a:xfrm>
                <a:off x="6708147" y="12191"/>
                <a:ext cx="2275425" cy="669355"/>
              </a:xfrm>
              <a:prstGeom prst="rect">
                <a:avLst/>
              </a:prstGeom>
            </p:spPr>
          </p:pic>
          <p:pic>
            <p:nvPicPr>
              <p:cNvPr id="50" name="Image 49" descr="redim-06.png"/>
              <p:cNvPicPr>
                <a:picLocks noChangeAspect="1"/>
              </p:cNvPicPr>
              <p:nvPr/>
            </p:nvPicPr>
            <p:blipFill rotWithShape="1">
              <a:blip r:embed="rId11" cstate="print">
                <a:extLst>
                  <a:ext uri="{28A0092B-C50C-407E-A947-70E740481C1C}">
                    <a14:useLocalDpi xmlns:a14="http://schemas.microsoft.com/office/drawing/2010/main" val="0"/>
                  </a:ext>
                </a:extLst>
              </a:blip>
              <a:srcRect t="28400" b="26267"/>
              <a:stretch/>
            </p:blipFill>
            <p:spPr>
              <a:xfrm>
                <a:off x="10739120" y="30480"/>
                <a:ext cx="1369060" cy="620641"/>
              </a:xfrm>
              <a:prstGeom prst="rect">
                <a:avLst/>
              </a:prstGeom>
            </p:spPr>
          </p:pic>
          <p:pic>
            <p:nvPicPr>
              <p:cNvPr id="51" name="Image 50"/>
              <p:cNvPicPr>
                <a:picLocks noChangeAspect="1"/>
              </p:cNvPicPr>
              <p:nvPr/>
            </p:nvPicPr>
            <p:blipFill rotWithShape="1">
              <a:blip r:embed="rId12" cstate="print">
                <a:extLst>
                  <a:ext uri="{28A0092B-C50C-407E-A947-70E740481C1C}">
                    <a14:useLocalDpi xmlns:a14="http://schemas.microsoft.com/office/drawing/2010/main" val="0"/>
                  </a:ext>
                </a:extLst>
              </a:blip>
              <a:srcRect l="16802" t="22888" r="16244" b="27236"/>
              <a:stretch/>
            </p:blipFill>
            <p:spPr>
              <a:xfrm>
                <a:off x="8974241" y="-49564"/>
                <a:ext cx="1502229" cy="746449"/>
              </a:xfrm>
              <a:prstGeom prst="rect">
                <a:avLst/>
              </a:prstGeom>
            </p:spPr>
          </p:pic>
        </p:grpSp>
        <p:pic>
          <p:nvPicPr>
            <p:cNvPr id="36" name="Image 35"/>
            <p:cNvPicPr>
              <a:picLocks noChangeAspect="1"/>
            </p:cNvPicPr>
            <p:nvPr/>
          </p:nvPicPr>
          <p:blipFill rotWithShape="1">
            <a:blip r:embed="rId13">
              <a:extLst>
                <a:ext uri="{28A0092B-C50C-407E-A947-70E740481C1C}">
                  <a14:useLocalDpi xmlns:a14="http://schemas.microsoft.com/office/drawing/2010/main" val="0"/>
                </a:ext>
              </a:extLst>
            </a:blip>
            <a:srcRect t="22863" b="24898"/>
            <a:stretch/>
          </p:blipFill>
          <p:spPr>
            <a:xfrm>
              <a:off x="680899" y="90649"/>
              <a:ext cx="2612643" cy="537329"/>
            </a:xfrm>
            <a:prstGeom prst="rect">
              <a:avLst/>
            </a:prstGeom>
          </p:spPr>
        </p:pic>
      </p:grpSp>
      <p:pic>
        <p:nvPicPr>
          <p:cNvPr id="2" name="Image 1"/>
          <p:cNvPicPr>
            <a:picLocks noChangeAspect="1"/>
          </p:cNvPicPr>
          <p:nvPr/>
        </p:nvPicPr>
        <p:blipFill>
          <a:blip r:embed="rId14"/>
          <a:stretch>
            <a:fillRect/>
          </a:stretch>
        </p:blipFill>
        <p:spPr>
          <a:xfrm>
            <a:off x="310434" y="1704975"/>
            <a:ext cx="7581900" cy="3829050"/>
          </a:xfrm>
          <a:prstGeom prst="rect">
            <a:avLst/>
          </a:prstGeom>
        </p:spPr>
      </p:pic>
      <p:sp>
        <p:nvSpPr>
          <p:cNvPr id="19" name="ZoneTexte 18"/>
          <p:cNvSpPr txBox="1"/>
          <p:nvPr/>
        </p:nvSpPr>
        <p:spPr>
          <a:xfrm>
            <a:off x="7880809" y="1704975"/>
            <a:ext cx="4099640" cy="3693319"/>
          </a:xfrm>
          <a:prstGeom prst="rect">
            <a:avLst/>
          </a:prstGeom>
          <a:noFill/>
        </p:spPr>
        <p:txBody>
          <a:bodyPr wrap="square" rtlCol="0">
            <a:spAutoFit/>
          </a:bodyPr>
          <a:lstStyle/>
          <a:p>
            <a:r>
              <a:rPr lang="fr-FR" dirty="0" smtClean="0"/>
              <a:t>Nos deux nouvelles méthodes de tests vérifient que notre méthode </a:t>
            </a:r>
            <a:r>
              <a:rPr lang="fr-FR" i="1" dirty="0" err="1" smtClean="0"/>
              <a:t>was_published_recently</a:t>
            </a:r>
            <a:r>
              <a:rPr lang="fr-FR" i="1" dirty="0" smtClean="0"/>
              <a:t>() </a:t>
            </a:r>
            <a:r>
              <a:rPr lang="fr-FR" dirty="0" smtClean="0"/>
              <a:t>return bien la valeur souhaité en fonction de la date de publication :</a:t>
            </a:r>
          </a:p>
          <a:p>
            <a:r>
              <a:rPr lang="fr-FR" i="1" dirty="0" smtClean="0"/>
              <a:t>False</a:t>
            </a:r>
            <a:r>
              <a:rPr lang="fr-FR" dirty="0" smtClean="0"/>
              <a:t> si la question est plus vieille d’un jour et d’une seconde</a:t>
            </a:r>
            <a:endParaRPr lang="fr-FR" i="1" dirty="0"/>
          </a:p>
          <a:p>
            <a:r>
              <a:rPr lang="fr-FR" i="1" dirty="0" err="1" smtClean="0"/>
              <a:t>True</a:t>
            </a:r>
            <a:r>
              <a:rPr lang="fr-FR" dirty="0" smtClean="0"/>
              <a:t> si la question est bien d’aujourd’hui</a:t>
            </a:r>
          </a:p>
          <a:p>
            <a:endParaRPr lang="fr-FR" i="1" dirty="0"/>
          </a:p>
          <a:p>
            <a:r>
              <a:rPr lang="fr-FR" dirty="0" smtClean="0"/>
              <a:t>Vue que nos méthodes de tests commencent toutes par </a:t>
            </a:r>
            <a:r>
              <a:rPr lang="fr-FR" i="1" dirty="0" smtClean="0"/>
              <a:t>test</a:t>
            </a:r>
            <a:r>
              <a:rPr lang="fr-FR" dirty="0" smtClean="0"/>
              <a:t>, </a:t>
            </a:r>
            <a:r>
              <a:rPr lang="fr-FR" dirty="0" err="1" smtClean="0"/>
              <a:t>django</a:t>
            </a:r>
            <a:r>
              <a:rPr lang="fr-FR" dirty="0" smtClean="0"/>
              <a:t> va toute les </a:t>
            </a:r>
            <a:r>
              <a:rPr lang="fr-FR" dirty="0" err="1" smtClean="0"/>
              <a:t>éxecuter</a:t>
            </a:r>
            <a:r>
              <a:rPr lang="fr-FR" dirty="0" smtClean="0"/>
              <a:t> lors de l’appel du script </a:t>
            </a:r>
            <a:r>
              <a:rPr lang="fr-FR" i="1" dirty="0" smtClean="0"/>
              <a:t>manage.py </a:t>
            </a:r>
            <a:r>
              <a:rPr lang="fr-FR" dirty="0" smtClean="0"/>
              <a:t>avec l’argument </a:t>
            </a:r>
            <a:r>
              <a:rPr lang="fr-FR" i="1" dirty="0" smtClean="0"/>
              <a:t>test sondage</a:t>
            </a:r>
            <a:endParaRPr lang="fr-FR" dirty="0"/>
          </a:p>
        </p:txBody>
      </p:sp>
    </p:spTree>
    <p:extLst>
      <p:ext uri="{BB962C8B-B14F-4D97-AF65-F5344CB8AC3E}">
        <p14:creationId xmlns:p14="http://schemas.microsoft.com/office/powerpoint/2010/main" val="2283707970"/>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Rectangle 16"/>
          <p:cNvSpPr/>
          <p:nvPr/>
        </p:nvSpPr>
        <p:spPr>
          <a:xfrm>
            <a:off x="0" y="675503"/>
            <a:ext cx="12198786" cy="478582"/>
          </a:xfrm>
          <a:prstGeom prst="rect">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22" name="Image 2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002202" y="6540326"/>
            <a:ext cx="253968" cy="253968"/>
          </a:xfrm>
          <a:prstGeom prst="rect">
            <a:avLst/>
          </a:prstGeom>
        </p:spPr>
      </p:pic>
      <p:sp>
        <p:nvSpPr>
          <p:cNvPr id="23" name="ZoneTexte 22"/>
          <p:cNvSpPr txBox="1"/>
          <p:nvPr/>
        </p:nvSpPr>
        <p:spPr>
          <a:xfrm>
            <a:off x="5216109" y="6532276"/>
            <a:ext cx="2664700" cy="307777"/>
          </a:xfrm>
          <a:prstGeom prst="rect">
            <a:avLst/>
          </a:prstGeom>
          <a:noFill/>
        </p:spPr>
        <p:txBody>
          <a:bodyPr wrap="square" rtlCol="0">
            <a:spAutoFit/>
          </a:bodyPr>
          <a:lstStyle/>
          <a:p>
            <a:r>
              <a:rPr lang="fr-FR" sz="1400" dirty="0" smtClean="0">
                <a:solidFill>
                  <a:schemeClr val="tx1">
                    <a:lumMod val="65000"/>
                    <a:lumOff val="35000"/>
                  </a:schemeClr>
                </a:solidFill>
              </a:rPr>
              <a:t>ADRAR Pôle Numérique Occitanie</a:t>
            </a:r>
            <a:endParaRPr lang="fr-FR" sz="1400" dirty="0">
              <a:solidFill>
                <a:schemeClr val="tx1">
                  <a:lumMod val="65000"/>
                  <a:lumOff val="35000"/>
                </a:schemeClr>
              </a:solidFill>
            </a:endParaRPr>
          </a:p>
        </p:txBody>
      </p:sp>
      <p:sp>
        <p:nvSpPr>
          <p:cNvPr id="31" name="ZoneTexte 30"/>
          <p:cNvSpPr txBox="1"/>
          <p:nvPr/>
        </p:nvSpPr>
        <p:spPr>
          <a:xfrm>
            <a:off x="0" y="696885"/>
            <a:ext cx="12198786" cy="384721"/>
          </a:xfrm>
          <a:prstGeom prst="rect">
            <a:avLst/>
          </a:prstGeom>
          <a:noFill/>
        </p:spPr>
        <p:txBody>
          <a:bodyPr wrap="square" rtlCol="0">
            <a:spAutoFit/>
          </a:bodyPr>
          <a:lstStyle/>
          <a:p>
            <a:pPr algn="ctr"/>
            <a:r>
              <a:rPr lang="fr-FR" sz="1600" dirty="0">
                <a:solidFill>
                  <a:schemeClr val="bg1"/>
                </a:solidFill>
              </a:rPr>
              <a:t>Suivez-nous sur </a:t>
            </a:r>
            <a:r>
              <a:rPr lang="fr-FR" sz="1600" dirty="0" err="1">
                <a:solidFill>
                  <a:schemeClr val="bg1"/>
                </a:solidFill>
              </a:rPr>
              <a:t>LinkedIn</a:t>
            </a:r>
            <a:r>
              <a:rPr lang="fr-FR" sz="1600" dirty="0">
                <a:solidFill>
                  <a:schemeClr val="bg1"/>
                </a:solidFill>
              </a:rPr>
              <a:t>             </a:t>
            </a:r>
            <a:r>
              <a:rPr lang="fr-FR" sz="1600" dirty="0" err="1">
                <a:solidFill>
                  <a:schemeClr val="bg1"/>
                </a:solidFill>
              </a:rPr>
              <a:t>Twitter</a:t>
            </a:r>
            <a:r>
              <a:rPr lang="fr-FR" sz="1600" dirty="0">
                <a:solidFill>
                  <a:schemeClr val="bg1"/>
                </a:solidFill>
              </a:rPr>
              <a:t>       </a:t>
            </a:r>
            <a:r>
              <a:rPr lang="fr-FR" sz="1900" b="1" dirty="0">
                <a:solidFill>
                  <a:schemeClr val="bg1">
                    <a:lumMod val="95000"/>
                  </a:schemeClr>
                </a:solidFill>
              </a:rPr>
              <a:t>@</a:t>
            </a:r>
            <a:r>
              <a:rPr lang="fr-FR" sz="1900" b="1" dirty="0" err="1">
                <a:solidFill>
                  <a:schemeClr val="bg1">
                    <a:lumMod val="95000"/>
                  </a:schemeClr>
                </a:solidFill>
              </a:rPr>
              <a:t>Adrar_Numerique</a:t>
            </a:r>
            <a:r>
              <a:rPr lang="fr-FR" sz="1900" dirty="0">
                <a:solidFill>
                  <a:schemeClr val="bg1">
                    <a:lumMod val="95000"/>
                  </a:schemeClr>
                </a:solidFill>
              </a:rPr>
              <a:t>	… </a:t>
            </a:r>
            <a:r>
              <a:rPr lang="fr-FR" sz="1600" dirty="0">
                <a:solidFill>
                  <a:schemeClr val="bg1"/>
                </a:solidFill>
              </a:rPr>
              <a:t>et sur le web : </a:t>
            </a:r>
            <a:r>
              <a:rPr lang="fr-FR" sz="1900" b="1" dirty="0">
                <a:solidFill>
                  <a:schemeClr val="bg1">
                    <a:lumMod val="95000"/>
                  </a:schemeClr>
                </a:solidFill>
              </a:rPr>
              <a:t>www.adrar-numerique.com</a:t>
            </a:r>
          </a:p>
        </p:txBody>
      </p:sp>
      <p:pic>
        <p:nvPicPr>
          <p:cNvPr id="32" name="Image 31"/>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024648" y="762261"/>
            <a:ext cx="266667" cy="253968"/>
          </a:xfrm>
          <a:prstGeom prst="rect">
            <a:avLst/>
          </a:prstGeom>
        </p:spPr>
      </p:pic>
      <p:pic>
        <p:nvPicPr>
          <p:cNvPr id="33" name="Image 32" descr="logo-linkedin.png"/>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2899844" y="783165"/>
            <a:ext cx="285752" cy="285752"/>
          </a:xfrm>
          <a:prstGeom prst="rect">
            <a:avLst/>
          </a:prstGeom>
        </p:spPr>
      </p:pic>
      <p:grpSp>
        <p:nvGrpSpPr>
          <p:cNvPr id="34" name="Groupe 33"/>
          <p:cNvGrpSpPr/>
          <p:nvPr/>
        </p:nvGrpSpPr>
        <p:grpSpPr>
          <a:xfrm>
            <a:off x="70311" y="-41891"/>
            <a:ext cx="12056372" cy="746449"/>
            <a:chOff x="70311" y="-41891"/>
            <a:chExt cx="12056372" cy="746449"/>
          </a:xfrm>
        </p:grpSpPr>
        <p:grpSp>
          <p:nvGrpSpPr>
            <p:cNvPr id="35" name="Groupe 34"/>
            <p:cNvGrpSpPr/>
            <p:nvPr/>
          </p:nvGrpSpPr>
          <p:grpSpPr>
            <a:xfrm>
              <a:off x="70311" y="-41891"/>
              <a:ext cx="12056372" cy="746449"/>
              <a:chOff x="51808" y="-49564"/>
              <a:chExt cx="12056372" cy="746449"/>
            </a:xfrm>
          </p:grpSpPr>
          <p:pic>
            <p:nvPicPr>
              <p:cNvPr id="37" name="Image 36" descr="bien plus.jpg"/>
              <p:cNvPicPr>
                <a:picLocks noChangeAspect="1"/>
              </p:cNvPicPr>
              <p:nvPr/>
            </p:nvPicPr>
            <p:blipFill>
              <a:blip r:embed="rId6" cstate="print"/>
              <a:stretch>
                <a:fillRect/>
              </a:stretch>
            </p:blipFill>
            <p:spPr>
              <a:xfrm>
                <a:off x="4122599" y="228466"/>
                <a:ext cx="1289328" cy="364658"/>
              </a:xfrm>
              <a:prstGeom prst="rect">
                <a:avLst/>
              </a:prstGeom>
            </p:spPr>
          </p:pic>
          <p:pic>
            <p:nvPicPr>
              <p:cNvPr id="38" name="Image 37" descr="personnes-adrar-coul_1.jpg"/>
              <p:cNvPicPr>
                <a:picLocks noChangeAspect="1"/>
              </p:cNvPicPr>
              <p:nvPr/>
            </p:nvPicPr>
            <p:blipFill>
              <a:blip r:embed="rId7" cstate="print"/>
              <a:stretch>
                <a:fillRect/>
              </a:stretch>
            </p:blipFill>
            <p:spPr>
              <a:xfrm>
                <a:off x="5640032" y="95784"/>
                <a:ext cx="510617" cy="506565"/>
              </a:xfrm>
              <a:prstGeom prst="rect">
                <a:avLst/>
              </a:prstGeom>
            </p:spPr>
          </p:pic>
          <p:pic>
            <p:nvPicPr>
              <p:cNvPr id="39" name="Image 38" descr="personnes-adrar-coul_2.jpg"/>
              <p:cNvPicPr>
                <a:picLocks noChangeAspect="1"/>
              </p:cNvPicPr>
              <p:nvPr/>
            </p:nvPicPr>
            <p:blipFill>
              <a:blip r:embed="rId8" cstate="print"/>
              <a:stretch>
                <a:fillRect/>
              </a:stretch>
            </p:blipFill>
            <p:spPr>
              <a:xfrm>
                <a:off x="3441939" y="228467"/>
                <a:ext cx="346861" cy="352500"/>
              </a:xfrm>
              <a:prstGeom prst="rect">
                <a:avLst/>
              </a:prstGeom>
            </p:spPr>
          </p:pic>
          <p:pic>
            <p:nvPicPr>
              <p:cNvPr id="40" name="Image 39" descr="LOGO ADRAR 300dpi.jpg"/>
              <p:cNvPicPr>
                <a:picLocks noChangeAspect="1"/>
              </p:cNvPicPr>
              <p:nvPr/>
            </p:nvPicPr>
            <p:blipFill>
              <a:blip r:embed="rId9" cstate="print"/>
              <a:stretch>
                <a:fillRect/>
              </a:stretch>
            </p:blipFill>
            <p:spPr>
              <a:xfrm>
                <a:off x="51808" y="51259"/>
                <a:ext cx="432261" cy="574815"/>
              </a:xfrm>
              <a:prstGeom prst="rect">
                <a:avLst/>
              </a:prstGeom>
              <a:noFill/>
              <a:ln>
                <a:noFill/>
              </a:ln>
            </p:spPr>
          </p:pic>
          <p:pic>
            <p:nvPicPr>
              <p:cNvPr id="49" name="Image 48" descr="LOGO-ERN-GEN2017-1.png"/>
              <p:cNvPicPr>
                <a:picLocks noChangeAspect="1"/>
              </p:cNvPicPr>
              <p:nvPr/>
            </p:nvPicPr>
            <p:blipFill rotWithShape="1">
              <a:blip r:embed="rId10" cstate="print">
                <a:extLst>
                  <a:ext uri="{28A0092B-C50C-407E-A947-70E740481C1C}">
                    <a14:useLocalDpi xmlns:a14="http://schemas.microsoft.com/office/drawing/2010/main" val="0"/>
                  </a:ext>
                </a:extLst>
              </a:blip>
              <a:srcRect r="19245"/>
              <a:stretch/>
            </p:blipFill>
            <p:spPr>
              <a:xfrm>
                <a:off x="6708147" y="12191"/>
                <a:ext cx="2275425" cy="669355"/>
              </a:xfrm>
              <a:prstGeom prst="rect">
                <a:avLst/>
              </a:prstGeom>
            </p:spPr>
          </p:pic>
          <p:pic>
            <p:nvPicPr>
              <p:cNvPr id="50" name="Image 49" descr="redim-06.png"/>
              <p:cNvPicPr>
                <a:picLocks noChangeAspect="1"/>
              </p:cNvPicPr>
              <p:nvPr/>
            </p:nvPicPr>
            <p:blipFill rotWithShape="1">
              <a:blip r:embed="rId11" cstate="print">
                <a:extLst>
                  <a:ext uri="{28A0092B-C50C-407E-A947-70E740481C1C}">
                    <a14:useLocalDpi xmlns:a14="http://schemas.microsoft.com/office/drawing/2010/main" val="0"/>
                  </a:ext>
                </a:extLst>
              </a:blip>
              <a:srcRect t="28400" b="26267"/>
              <a:stretch/>
            </p:blipFill>
            <p:spPr>
              <a:xfrm>
                <a:off x="10739120" y="30480"/>
                <a:ext cx="1369060" cy="620641"/>
              </a:xfrm>
              <a:prstGeom prst="rect">
                <a:avLst/>
              </a:prstGeom>
            </p:spPr>
          </p:pic>
          <p:pic>
            <p:nvPicPr>
              <p:cNvPr id="51" name="Image 50"/>
              <p:cNvPicPr>
                <a:picLocks noChangeAspect="1"/>
              </p:cNvPicPr>
              <p:nvPr/>
            </p:nvPicPr>
            <p:blipFill rotWithShape="1">
              <a:blip r:embed="rId12" cstate="print">
                <a:extLst>
                  <a:ext uri="{28A0092B-C50C-407E-A947-70E740481C1C}">
                    <a14:useLocalDpi xmlns:a14="http://schemas.microsoft.com/office/drawing/2010/main" val="0"/>
                  </a:ext>
                </a:extLst>
              </a:blip>
              <a:srcRect l="16802" t="22888" r="16244" b="27236"/>
              <a:stretch/>
            </p:blipFill>
            <p:spPr>
              <a:xfrm>
                <a:off x="8974241" y="-49564"/>
                <a:ext cx="1502229" cy="746449"/>
              </a:xfrm>
              <a:prstGeom prst="rect">
                <a:avLst/>
              </a:prstGeom>
            </p:spPr>
          </p:pic>
        </p:grpSp>
        <p:pic>
          <p:nvPicPr>
            <p:cNvPr id="36" name="Image 35"/>
            <p:cNvPicPr>
              <a:picLocks noChangeAspect="1"/>
            </p:cNvPicPr>
            <p:nvPr/>
          </p:nvPicPr>
          <p:blipFill rotWithShape="1">
            <a:blip r:embed="rId13">
              <a:extLst>
                <a:ext uri="{28A0092B-C50C-407E-A947-70E740481C1C}">
                  <a14:useLocalDpi xmlns:a14="http://schemas.microsoft.com/office/drawing/2010/main" val="0"/>
                </a:ext>
              </a:extLst>
            </a:blip>
            <a:srcRect t="22863" b="24898"/>
            <a:stretch/>
          </p:blipFill>
          <p:spPr>
            <a:xfrm>
              <a:off x="680899" y="90649"/>
              <a:ext cx="2612643" cy="537329"/>
            </a:xfrm>
            <a:prstGeom prst="rect">
              <a:avLst/>
            </a:prstGeom>
          </p:spPr>
        </p:pic>
      </p:grpSp>
      <p:sp>
        <p:nvSpPr>
          <p:cNvPr id="18" name="ZoneTexte 17"/>
          <p:cNvSpPr txBox="1"/>
          <p:nvPr/>
        </p:nvSpPr>
        <p:spPr>
          <a:xfrm>
            <a:off x="70311" y="3979021"/>
            <a:ext cx="11488366" cy="1477328"/>
          </a:xfrm>
          <a:prstGeom prst="rect">
            <a:avLst/>
          </a:prstGeom>
          <a:noFill/>
        </p:spPr>
        <p:txBody>
          <a:bodyPr wrap="square" rtlCol="0">
            <a:spAutoFit/>
          </a:bodyPr>
          <a:lstStyle/>
          <a:p>
            <a:r>
              <a:rPr lang="fr-FR" dirty="0" smtClean="0"/>
              <a:t>Django effectue donc nos 3 tests et nous dit que notre méthode renvoie bien la valeur souhaitée. Notre sondage est une application très limité, c’est pourquoi nous n’avons que peu de tests mais pensez bien que plus le projet grandit plus vous aurez de tests (il n’est même pas incohérent d’avoir plus de lignes de tests que de lignes de codes). Même si cela vous parait fastidieux ca reste un aspect </a:t>
            </a:r>
            <a:r>
              <a:rPr lang="fr-FR" dirty="0"/>
              <a:t>e</a:t>
            </a:r>
            <a:r>
              <a:rPr lang="fr-FR" dirty="0" smtClean="0"/>
              <a:t>ssentiel d’un projet de développement qu’il faut faire de la manière la plus rigoureuse possible.</a:t>
            </a:r>
          </a:p>
        </p:txBody>
      </p:sp>
      <p:pic>
        <p:nvPicPr>
          <p:cNvPr id="2" name="Image 1"/>
          <p:cNvPicPr>
            <a:picLocks noChangeAspect="1"/>
          </p:cNvPicPr>
          <p:nvPr/>
        </p:nvPicPr>
        <p:blipFill>
          <a:blip r:embed="rId14"/>
          <a:stretch>
            <a:fillRect/>
          </a:stretch>
        </p:blipFill>
        <p:spPr>
          <a:xfrm>
            <a:off x="1880669" y="1693999"/>
            <a:ext cx="7867650" cy="1990725"/>
          </a:xfrm>
          <a:prstGeom prst="rect">
            <a:avLst/>
          </a:prstGeom>
        </p:spPr>
      </p:pic>
    </p:spTree>
    <p:extLst>
      <p:ext uri="{BB962C8B-B14F-4D97-AF65-F5344CB8AC3E}">
        <p14:creationId xmlns:p14="http://schemas.microsoft.com/office/powerpoint/2010/main" val="2670909257"/>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Rectangle 16"/>
          <p:cNvSpPr/>
          <p:nvPr/>
        </p:nvSpPr>
        <p:spPr>
          <a:xfrm>
            <a:off x="0" y="675503"/>
            <a:ext cx="12198786" cy="478582"/>
          </a:xfrm>
          <a:prstGeom prst="rect">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22" name="Image 2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002202" y="6540326"/>
            <a:ext cx="253968" cy="253968"/>
          </a:xfrm>
          <a:prstGeom prst="rect">
            <a:avLst/>
          </a:prstGeom>
        </p:spPr>
      </p:pic>
      <p:sp>
        <p:nvSpPr>
          <p:cNvPr id="23" name="ZoneTexte 22"/>
          <p:cNvSpPr txBox="1"/>
          <p:nvPr/>
        </p:nvSpPr>
        <p:spPr>
          <a:xfrm>
            <a:off x="5216109" y="6532276"/>
            <a:ext cx="2664700" cy="307777"/>
          </a:xfrm>
          <a:prstGeom prst="rect">
            <a:avLst/>
          </a:prstGeom>
          <a:noFill/>
        </p:spPr>
        <p:txBody>
          <a:bodyPr wrap="square" rtlCol="0">
            <a:spAutoFit/>
          </a:bodyPr>
          <a:lstStyle/>
          <a:p>
            <a:r>
              <a:rPr lang="fr-FR" sz="1400" dirty="0" smtClean="0">
                <a:solidFill>
                  <a:schemeClr val="tx1">
                    <a:lumMod val="65000"/>
                    <a:lumOff val="35000"/>
                  </a:schemeClr>
                </a:solidFill>
              </a:rPr>
              <a:t>ADRAR Pôle Numérique Occitanie</a:t>
            </a:r>
            <a:endParaRPr lang="fr-FR" sz="1400" dirty="0">
              <a:solidFill>
                <a:schemeClr val="tx1">
                  <a:lumMod val="65000"/>
                  <a:lumOff val="35000"/>
                </a:schemeClr>
              </a:solidFill>
            </a:endParaRPr>
          </a:p>
        </p:txBody>
      </p:sp>
      <p:sp>
        <p:nvSpPr>
          <p:cNvPr id="31" name="ZoneTexte 30"/>
          <p:cNvSpPr txBox="1"/>
          <p:nvPr/>
        </p:nvSpPr>
        <p:spPr>
          <a:xfrm>
            <a:off x="0" y="696885"/>
            <a:ext cx="12198786" cy="384721"/>
          </a:xfrm>
          <a:prstGeom prst="rect">
            <a:avLst/>
          </a:prstGeom>
          <a:noFill/>
        </p:spPr>
        <p:txBody>
          <a:bodyPr wrap="square" rtlCol="0">
            <a:spAutoFit/>
          </a:bodyPr>
          <a:lstStyle/>
          <a:p>
            <a:pPr algn="ctr"/>
            <a:r>
              <a:rPr lang="fr-FR" sz="1600" dirty="0">
                <a:solidFill>
                  <a:schemeClr val="bg1"/>
                </a:solidFill>
              </a:rPr>
              <a:t>Suivez-nous sur </a:t>
            </a:r>
            <a:r>
              <a:rPr lang="fr-FR" sz="1600" dirty="0" err="1">
                <a:solidFill>
                  <a:schemeClr val="bg1"/>
                </a:solidFill>
              </a:rPr>
              <a:t>LinkedIn</a:t>
            </a:r>
            <a:r>
              <a:rPr lang="fr-FR" sz="1600" dirty="0">
                <a:solidFill>
                  <a:schemeClr val="bg1"/>
                </a:solidFill>
              </a:rPr>
              <a:t>             </a:t>
            </a:r>
            <a:r>
              <a:rPr lang="fr-FR" sz="1600" dirty="0" err="1">
                <a:solidFill>
                  <a:schemeClr val="bg1"/>
                </a:solidFill>
              </a:rPr>
              <a:t>Twitter</a:t>
            </a:r>
            <a:r>
              <a:rPr lang="fr-FR" sz="1600" dirty="0">
                <a:solidFill>
                  <a:schemeClr val="bg1"/>
                </a:solidFill>
              </a:rPr>
              <a:t>       </a:t>
            </a:r>
            <a:r>
              <a:rPr lang="fr-FR" sz="1900" b="1" dirty="0">
                <a:solidFill>
                  <a:schemeClr val="bg1">
                    <a:lumMod val="95000"/>
                  </a:schemeClr>
                </a:solidFill>
              </a:rPr>
              <a:t>@</a:t>
            </a:r>
            <a:r>
              <a:rPr lang="fr-FR" sz="1900" b="1" dirty="0" err="1">
                <a:solidFill>
                  <a:schemeClr val="bg1">
                    <a:lumMod val="95000"/>
                  </a:schemeClr>
                </a:solidFill>
              </a:rPr>
              <a:t>Adrar_Numerique</a:t>
            </a:r>
            <a:r>
              <a:rPr lang="fr-FR" sz="1900" dirty="0">
                <a:solidFill>
                  <a:schemeClr val="bg1">
                    <a:lumMod val="95000"/>
                  </a:schemeClr>
                </a:solidFill>
              </a:rPr>
              <a:t>	… </a:t>
            </a:r>
            <a:r>
              <a:rPr lang="fr-FR" sz="1600" dirty="0">
                <a:solidFill>
                  <a:schemeClr val="bg1"/>
                </a:solidFill>
              </a:rPr>
              <a:t>et sur le web : </a:t>
            </a:r>
            <a:r>
              <a:rPr lang="fr-FR" sz="1900" b="1" dirty="0">
                <a:solidFill>
                  <a:schemeClr val="bg1">
                    <a:lumMod val="95000"/>
                  </a:schemeClr>
                </a:solidFill>
              </a:rPr>
              <a:t>www.adrar-numerique.com</a:t>
            </a:r>
          </a:p>
        </p:txBody>
      </p:sp>
      <p:pic>
        <p:nvPicPr>
          <p:cNvPr id="32" name="Image 31"/>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024648" y="762261"/>
            <a:ext cx="266667" cy="253968"/>
          </a:xfrm>
          <a:prstGeom prst="rect">
            <a:avLst/>
          </a:prstGeom>
        </p:spPr>
      </p:pic>
      <p:pic>
        <p:nvPicPr>
          <p:cNvPr id="33" name="Image 32" descr="logo-linkedin.png"/>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2899844" y="783165"/>
            <a:ext cx="285752" cy="285752"/>
          </a:xfrm>
          <a:prstGeom prst="rect">
            <a:avLst/>
          </a:prstGeom>
        </p:spPr>
      </p:pic>
      <p:grpSp>
        <p:nvGrpSpPr>
          <p:cNvPr id="34" name="Groupe 33"/>
          <p:cNvGrpSpPr/>
          <p:nvPr/>
        </p:nvGrpSpPr>
        <p:grpSpPr>
          <a:xfrm>
            <a:off x="70311" y="-41891"/>
            <a:ext cx="12056372" cy="746449"/>
            <a:chOff x="70311" y="-41891"/>
            <a:chExt cx="12056372" cy="746449"/>
          </a:xfrm>
        </p:grpSpPr>
        <p:grpSp>
          <p:nvGrpSpPr>
            <p:cNvPr id="35" name="Groupe 34"/>
            <p:cNvGrpSpPr/>
            <p:nvPr/>
          </p:nvGrpSpPr>
          <p:grpSpPr>
            <a:xfrm>
              <a:off x="70311" y="-41891"/>
              <a:ext cx="12056372" cy="746449"/>
              <a:chOff x="51808" y="-49564"/>
              <a:chExt cx="12056372" cy="746449"/>
            </a:xfrm>
          </p:grpSpPr>
          <p:pic>
            <p:nvPicPr>
              <p:cNvPr id="37" name="Image 36" descr="bien plus.jpg"/>
              <p:cNvPicPr>
                <a:picLocks noChangeAspect="1"/>
              </p:cNvPicPr>
              <p:nvPr/>
            </p:nvPicPr>
            <p:blipFill>
              <a:blip r:embed="rId6" cstate="print"/>
              <a:stretch>
                <a:fillRect/>
              </a:stretch>
            </p:blipFill>
            <p:spPr>
              <a:xfrm>
                <a:off x="4122599" y="228466"/>
                <a:ext cx="1289328" cy="364658"/>
              </a:xfrm>
              <a:prstGeom prst="rect">
                <a:avLst/>
              </a:prstGeom>
            </p:spPr>
          </p:pic>
          <p:pic>
            <p:nvPicPr>
              <p:cNvPr id="38" name="Image 37" descr="personnes-adrar-coul_1.jpg"/>
              <p:cNvPicPr>
                <a:picLocks noChangeAspect="1"/>
              </p:cNvPicPr>
              <p:nvPr/>
            </p:nvPicPr>
            <p:blipFill>
              <a:blip r:embed="rId7" cstate="print"/>
              <a:stretch>
                <a:fillRect/>
              </a:stretch>
            </p:blipFill>
            <p:spPr>
              <a:xfrm>
                <a:off x="5640032" y="95784"/>
                <a:ext cx="510617" cy="506565"/>
              </a:xfrm>
              <a:prstGeom prst="rect">
                <a:avLst/>
              </a:prstGeom>
            </p:spPr>
          </p:pic>
          <p:pic>
            <p:nvPicPr>
              <p:cNvPr id="39" name="Image 38" descr="personnes-adrar-coul_2.jpg"/>
              <p:cNvPicPr>
                <a:picLocks noChangeAspect="1"/>
              </p:cNvPicPr>
              <p:nvPr/>
            </p:nvPicPr>
            <p:blipFill>
              <a:blip r:embed="rId8" cstate="print"/>
              <a:stretch>
                <a:fillRect/>
              </a:stretch>
            </p:blipFill>
            <p:spPr>
              <a:xfrm>
                <a:off x="3441939" y="228467"/>
                <a:ext cx="346861" cy="352500"/>
              </a:xfrm>
              <a:prstGeom prst="rect">
                <a:avLst/>
              </a:prstGeom>
            </p:spPr>
          </p:pic>
          <p:pic>
            <p:nvPicPr>
              <p:cNvPr id="40" name="Image 39" descr="LOGO ADRAR 300dpi.jpg"/>
              <p:cNvPicPr>
                <a:picLocks noChangeAspect="1"/>
              </p:cNvPicPr>
              <p:nvPr/>
            </p:nvPicPr>
            <p:blipFill>
              <a:blip r:embed="rId9" cstate="print"/>
              <a:stretch>
                <a:fillRect/>
              </a:stretch>
            </p:blipFill>
            <p:spPr>
              <a:xfrm>
                <a:off x="51808" y="51259"/>
                <a:ext cx="432261" cy="574815"/>
              </a:xfrm>
              <a:prstGeom prst="rect">
                <a:avLst/>
              </a:prstGeom>
              <a:noFill/>
              <a:ln>
                <a:noFill/>
              </a:ln>
            </p:spPr>
          </p:pic>
          <p:pic>
            <p:nvPicPr>
              <p:cNvPr id="49" name="Image 48" descr="LOGO-ERN-GEN2017-1.png"/>
              <p:cNvPicPr>
                <a:picLocks noChangeAspect="1"/>
              </p:cNvPicPr>
              <p:nvPr/>
            </p:nvPicPr>
            <p:blipFill rotWithShape="1">
              <a:blip r:embed="rId10" cstate="print">
                <a:extLst>
                  <a:ext uri="{28A0092B-C50C-407E-A947-70E740481C1C}">
                    <a14:useLocalDpi xmlns:a14="http://schemas.microsoft.com/office/drawing/2010/main" val="0"/>
                  </a:ext>
                </a:extLst>
              </a:blip>
              <a:srcRect r="19245"/>
              <a:stretch/>
            </p:blipFill>
            <p:spPr>
              <a:xfrm>
                <a:off x="6708147" y="12191"/>
                <a:ext cx="2275425" cy="669355"/>
              </a:xfrm>
              <a:prstGeom prst="rect">
                <a:avLst/>
              </a:prstGeom>
            </p:spPr>
          </p:pic>
          <p:pic>
            <p:nvPicPr>
              <p:cNvPr id="50" name="Image 49" descr="redim-06.png"/>
              <p:cNvPicPr>
                <a:picLocks noChangeAspect="1"/>
              </p:cNvPicPr>
              <p:nvPr/>
            </p:nvPicPr>
            <p:blipFill rotWithShape="1">
              <a:blip r:embed="rId11" cstate="print">
                <a:extLst>
                  <a:ext uri="{28A0092B-C50C-407E-A947-70E740481C1C}">
                    <a14:useLocalDpi xmlns:a14="http://schemas.microsoft.com/office/drawing/2010/main" val="0"/>
                  </a:ext>
                </a:extLst>
              </a:blip>
              <a:srcRect t="28400" b="26267"/>
              <a:stretch/>
            </p:blipFill>
            <p:spPr>
              <a:xfrm>
                <a:off x="10739120" y="30480"/>
                <a:ext cx="1369060" cy="620641"/>
              </a:xfrm>
              <a:prstGeom prst="rect">
                <a:avLst/>
              </a:prstGeom>
            </p:spPr>
          </p:pic>
          <p:pic>
            <p:nvPicPr>
              <p:cNvPr id="51" name="Image 50"/>
              <p:cNvPicPr>
                <a:picLocks noChangeAspect="1"/>
              </p:cNvPicPr>
              <p:nvPr/>
            </p:nvPicPr>
            <p:blipFill rotWithShape="1">
              <a:blip r:embed="rId12" cstate="print">
                <a:extLst>
                  <a:ext uri="{28A0092B-C50C-407E-A947-70E740481C1C}">
                    <a14:useLocalDpi xmlns:a14="http://schemas.microsoft.com/office/drawing/2010/main" val="0"/>
                  </a:ext>
                </a:extLst>
              </a:blip>
              <a:srcRect l="16802" t="22888" r="16244" b="27236"/>
              <a:stretch/>
            </p:blipFill>
            <p:spPr>
              <a:xfrm>
                <a:off x="8974241" y="-49564"/>
                <a:ext cx="1502229" cy="746449"/>
              </a:xfrm>
              <a:prstGeom prst="rect">
                <a:avLst/>
              </a:prstGeom>
            </p:spPr>
          </p:pic>
        </p:grpSp>
        <p:pic>
          <p:nvPicPr>
            <p:cNvPr id="36" name="Image 35"/>
            <p:cNvPicPr>
              <a:picLocks noChangeAspect="1"/>
            </p:cNvPicPr>
            <p:nvPr/>
          </p:nvPicPr>
          <p:blipFill rotWithShape="1">
            <a:blip r:embed="rId13">
              <a:extLst>
                <a:ext uri="{28A0092B-C50C-407E-A947-70E740481C1C}">
                  <a14:useLocalDpi xmlns:a14="http://schemas.microsoft.com/office/drawing/2010/main" val="0"/>
                </a:ext>
              </a:extLst>
            </a:blip>
            <a:srcRect t="22863" b="24898"/>
            <a:stretch/>
          </p:blipFill>
          <p:spPr>
            <a:xfrm>
              <a:off x="680899" y="90649"/>
              <a:ext cx="2612643" cy="537329"/>
            </a:xfrm>
            <a:prstGeom prst="rect">
              <a:avLst/>
            </a:prstGeom>
          </p:spPr>
        </p:pic>
      </p:grpSp>
      <p:sp>
        <p:nvSpPr>
          <p:cNvPr id="18" name="ZoneTexte 17"/>
          <p:cNvSpPr txBox="1"/>
          <p:nvPr/>
        </p:nvSpPr>
        <p:spPr>
          <a:xfrm>
            <a:off x="169660" y="1325091"/>
            <a:ext cx="11488366" cy="646331"/>
          </a:xfrm>
          <a:prstGeom prst="rect">
            <a:avLst/>
          </a:prstGeom>
          <a:noFill/>
        </p:spPr>
        <p:txBody>
          <a:bodyPr wrap="square" rtlCol="0">
            <a:spAutoFit/>
          </a:bodyPr>
          <a:lstStyle/>
          <a:p>
            <a:r>
              <a:rPr lang="fr-FR" dirty="0" smtClean="0"/>
              <a:t>En plus de tester nos méthodes de modèles nous avons la possibilité de tester nos vues afin de s’assurer qu’elles nous affichent biens ce que l’on désire. On va commencer par voir nos possibilités par le </a:t>
            </a:r>
            <a:r>
              <a:rPr lang="fr-FR" dirty="0" err="1" smtClean="0"/>
              <a:t>shell</a:t>
            </a:r>
            <a:r>
              <a:rPr lang="fr-FR" dirty="0" smtClean="0"/>
              <a:t> interactif du script </a:t>
            </a:r>
            <a:r>
              <a:rPr lang="fr-FR" i="1" dirty="0" smtClean="0"/>
              <a:t>manage.py</a:t>
            </a:r>
            <a:endParaRPr lang="fr-FR" dirty="0"/>
          </a:p>
        </p:txBody>
      </p:sp>
      <p:pic>
        <p:nvPicPr>
          <p:cNvPr id="2" name="Image 1"/>
          <p:cNvPicPr>
            <a:picLocks noChangeAspect="1"/>
          </p:cNvPicPr>
          <p:nvPr/>
        </p:nvPicPr>
        <p:blipFill>
          <a:blip r:embed="rId14"/>
          <a:stretch>
            <a:fillRect/>
          </a:stretch>
        </p:blipFill>
        <p:spPr>
          <a:xfrm>
            <a:off x="286441" y="2164138"/>
            <a:ext cx="4733925" cy="504825"/>
          </a:xfrm>
          <a:prstGeom prst="rect">
            <a:avLst/>
          </a:prstGeom>
        </p:spPr>
      </p:pic>
      <p:sp>
        <p:nvSpPr>
          <p:cNvPr id="20" name="ZoneTexte 19"/>
          <p:cNvSpPr txBox="1"/>
          <p:nvPr/>
        </p:nvSpPr>
        <p:spPr>
          <a:xfrm>
            <a:off x="5800879" y="2093384"/>
            <a:ext cx="5857147" cy="646331"/>
          </a:xfrm>
          <a:prstGeom prst="rect">
            <a:avLst/>
          </a:prstGeom>
          <a:noFill/>
        </p:spPr>
        <p:txBody>
          <a:bodyPr wrap="square" rtlCol="0">
            <a:spAutoFit/>
          </a:bodyPr>
          <a:lstStyle/>
          <a:p>
            <a:r>
              <a:rPr lang="fr-FR" dirty="0" smtClean="0"/>
              <a:t>On commence par démarrer notre environnement de tests de gabarits.</a:t>
            </a:r>
            <a:endParaRPr lang="fr-FR" dirty="0"/>
          </a:p>
        </p:txBody>
      </p:sp>
      <p:pic>
        <p:nvPicPr>
          <p:cNvPr id="3" name="Image 2"/>
          <p:cNvPicPr>
            <a:picLocks noChangeAspect="1"/>
          </p:cNvPicPr>
          <p:nvPr/>
        </p:nvPicPr>
        <p:blipFill>
          <a:blip r:embed="rId15"/>
          <a:stretch>
            <a:fillRect/>
          </a:stretch>
        </p:blipFill>
        <p:spPr>
          <a:xfrm>
            <a:off x="272153" y="3135578"/>
            <a:ext cx="4762500" cy="514350"/>
          </a:xfrm>
          <a:prstGeom prst="rect">
            <a:avLst/>
          </a:prstGeom>
        </p:spPr>
      </p:pic>
      <p:sp>
        <p:nvSpPr>
          <p:cNvPr id="24" name="ZoneTexte 23"/>
          <p:cNvSpPr txBox="1"/>
          <p:nvPr/>
        </p:nvSpPr>
        <p:spPr>
          <a:xfrm>
            <a:off x="5693347" y="3038867"/>
            <a:ext cx="5857147" cy="646331"/>
          </a:xfrm>
          <a:prstGeom prst="rect">
            <a:avLst/>
          </a:prstGeom>
          <a:noFill/>
        </p:spPr>
        <p:txBody>
          <a:bodyPr wrap="square" rtlCol="0">
            <a:spAutoFit/>
          </a:bodyPr>
          <a:lstStyle/>
          <a:p>
            <a:r>
              <a:rPr lang="fr-FR" dirty="0" smtClean="0"/>
              <a:t>On crée ensuite une instance de client pour tester l’accès à nos pages.</a:t>
            </a:r>
            <a:endParaRPr lang="fr-FR" dirty="0"/>
          </a:p>
        </p:txBody>
      </p:sp>
      <p:pic>
        <p:nvPicPr>
          <p:cNvPr id="4" name="Image 3"/>
          <p:cNvPicPr>
            <a:picLocks noChangeAspect="1"/>
          </p:cNvPicPr>
          <p:nvPr/>
        </p:nvPicPr>
        <p:blipFill>
          <a:blip r:embed="rId16"/>
          <a:stretch>
            <a:fillRect/>
          </a:stretch>
        </p:blipFill>
        <p:spPr>
          <a:xfrm>
            <a:off x="286441" y="3889482"/>
            <a:ext cx="4705350" cy="962025"/>
          </a:xfrm>
          <a:prstGeom prst="rect">
            <a:avLst/>
          </a:prstGeom>
        </p:spPr>
      </p:pic>
      <p:sp>
        <p:nvSpPr>
          <p:cNvPr id="25" name="ZoneTexte 24"/>
          <p:cNvSpPr txBox="1"/>
          <p:nvPr/>
        </p:nvSpPr>
        <p:spPr>
          <a:xfrm>
            <a:off x="5585006" y="4001163"/>
            <a:ext cx="5857147" cy="369332"/>
          </a:xfrm>
          <a:prstGeom prst="rect">
            <a:avLst/>
          </a:prstGeom>
          <a:noFill/>
        </p:spPr>
        <p:txBody>
          <a:bodyPr wrap="square" rtlCol="0">
            <a:spAutoFit/>
          </a:bodyPr>
          <a:lstStyle/>
          <a:p>
            <a:r>
              <a:rPr lang="fr-FR" dirty="0" smtClean="0"/>
              <a:t>On effectue ensuite différents tests de réponse HTTP.</a:t>
            </a:r>
            <a:endParaRPr lang="fr-FR" dirty="0"/>
          </a:p>
        </p:txBody>
      </p:sp>
      <p:pic>
        <p:nvPicPr>
          <p:cNvPr id="5" name="Image 4"/>
          <p:cNvPicPr>
            <a:picLocks noChangeAspect="1"/>
          </p:cNvPicPr>
          <p:nvPr/>
        </p:nvPicPr>
        <p:blipFill>
          <a:blip r:embed="rId17"/>
          <a:stretch>
            <a:fillRect/>
          </a:stretch>
        </p:blipFill>
        <p:spPr>
          <a:xfrm>
            <a:off x="272153" y="4973185"/>
            <a:ext cx="10218839" cy="1567141"/>
          </a:xfrm>
          <a:prstGeom prst="rect">
            <a:avLst/>
          </a:prstGeom>
        </p:spPr>
      </p:pic>
    </p:spTree>
    <p:extLst>
      <p:ext uri="{BB962C8B-B14F-4D97-AF65-F5344CB8AC3E}">
        <p14:creationId xmlns:p14="http://schemas.microsoft.com/office/powerpoint/2010/main" val="3933669316"/>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Rectangle 16"/>
          <p:cNvSpPr/>
          <p:nvPr/>
        </p:nvSpPr>
        <p:spPr>
          <a:xfrm>
            <a:off x="0" y="675503"/>
            <a:ext cx="12198786" cy="478582"/>
          </a:xfrm>
          <a:prstGeom prst="rect">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22" name="Image 2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002202" y="6540326"/>
            <a:ext cx="253968" cy="253968"/>
          </a:xfrm>
          <a:prstGeom prst="rect">
            <a:avLst/>
          </a:prstGeom>
        </p:spPr>
      </p:pic>
      <p:sp>
        <p:nvSpPr>
          <p:cNvPr id="23" name="ZoneTexte 22"/>
          <p:cNvSpPr txBox="1"/>
          <p:nvPr/>
        </p:nvSpPr>
        <p:spPr>
          <a:xfrm>
            <a:off x="5216109" y="6532276"/>
            <a:ext cx="2664700" cy="307777"/>
          </a:xfrm>
          <a:prstGeom prst="rect">
            <a:avLst/>
          </a:prstGeom>
          <a:noFill/>
        </p:spPr>
        <p:txBody>
          <a:bodyPr wrap="square" rtlCol="0">
            <a:spAutoFit/>
          </a:bodyPr>
          <a:lstStyle/>
          <a:p>
            <a:r>
              <a:rPr lang="fr-FR" sz="1400" dirty="0" smtClean="0">
                <a:solidFill>
                  <a:schemeClr val="tx1">
                    <a:lumMod val="65000"/>
                    <a:lumOff val="35000"/>
                  </a:schemeClr>
                </a:solidFill>
              </a:rPr>
              <a:t>ADRAR Pôle Numérique Occitanie</a:t>
            </a:r>
            <a:endParaRPr lang="fr-FR" sz="1400" dirty="0">
              <a:solidFill>
                <a:schemeClr val="tx1">
                  <a:lumMod val="65000"/>
                  <a:lumOff val="35000"/>
                </a:schemeClr>
              </a:solidFill>
            </a:endParaRPr>
          </a:p>
        </p:txBody>
      </p:sp>
      <p:sp>
        <p:nvSpPr>
          <p:cNvPr id="31" name="ZoneTexte 30"/>
          <p:cNvSpPr txBox="1"/>
          <p:nvPr/>
        </p:nvSpPr>
        <p:spPr>
          <a:xfrm>
            <a:off x="0" y="696885"/>
            <a:ext cx="12198786" cy="384721"/>
          </a:xfrm>
          <a:prstGeom prst="rect">
            <a:avLst/>
          </a:prstGeom>
          <a:noFill/>
        </p:spPr>
        <p:txBody>
          <a:bodyPr wrap="square" rtlCol="0">
            <a:spAutoFit/>
          </a:bodyPr>
          <a:lstStyle/>
          <a:p>
            <a:pPr algn="ctr"/>
            <a:r>
              <a:rPr lang="fr-FR" sz="1600" dirty="0">
                <a:solidFill>
                  <a:schemeClr val="bg1"/>
                </a:solidFill>
              </a:rPr>
              <a:t>Suivez-nous sur </a:t>
            </a:r>
            <a:r>
              <a:rPr lang="fr-FR" sz="1600" dirty="0" err="1">
                <a:solidFill>
                  <a:schemeClr val="bg1"/>
                </a:solidFill>
              </a:rPr>
              <a:t>LinkedIn</a:t>
            </a:r>
            <a:r>
              <a:rPr lang="fr-FR" sz="1600" dirty="0">
                <a:solidFill>
                  <a:schemeClr val="bg1"/>
                </a:solidFill>
              </a:rPr>
              <a:t>             </a:t>
            </a:r>
            <a:r>
              <a:rPr lang="fr-FR" sz="1600" dirty="0" err="1">
                <a:solidFill>
                  <a:schemeClr val="bg1"/>
                </a:solidFill>
              </a:rPr>
              <a:t>Twitter</a:t>
            </a:r>
            <a:r>
              <a:rPr lang="fr-FR" sz="1600" dirty="0">
                <a:solidFill>
                  <a:schemeClr val="bg1"/>
                </a:solidFill>
              </a:rPr>
              <a:t>       </a:t>
            </a:r>
            <a:r>
              <a:rPr lang="fr-FR" sz="1900" b="1" dirty="0">
                <a:solidFill>
                  <a:schemeClr val="bg1">
                    <a:lumMod val="95000"/>
                  </a:schemeClr>
                </a:solidFill>
              </a:rPr>
              <a:t>@</a:t>
            </a:r>
            <a:r>
              <a:rPr lang="fr-FR" sz="1900" b="1" dirty="0" err="1">
                <a:solidFill>
                  <a:schemeClr val="bg1">
                    <a:lumMod val="95000"/>
                  </a:schemeClr>
                </a:solidFill>
              </a:rPr>
              <a:t>Adrar_Numerique</a:t>
            </a:r>
            <a:r>
              <a:rPr lang="fr-FR" sz="1900" dirty="0">
                <a:solidFill>
                  <a:schemeClr val="bg1">
                    <a:lumMod val="95000"/>
                  </a:schemeClr>
                </a:solidFill>
              </a:rPr>
              <a:t>	… </a:t>
            </a:r>
            <a:r>
              <a:rPr lang="fr-FR" sz="1600" dirty="0">
                <a:solidFill>
                  <a:schemeClr val="bg1"/>
                </a:solidFill>
              </a:rPr>
              <a:t>et sur le web : </a:t>
            </a:r>
            <a:r>
              <a:rPr lang="fr-FR" sz="1900" b="1" dirty="0">
                <a:solidFill>
                  <a:schemeClr val="bg1">
                    <a:lumMod val="95000"/>
                  </a:schemeClr>
                </a:solidFill>
              </a:rPr>
              <a:t>www.adrar-numerique.com</a:t>
            </a:r>
          </a:p>
        </p:txBody>
      </p:sp>
      <p:pic>
        <p:nvPicPr>
          <p:cNvPr id="32" name="Image 31"/>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024648" y="762261"/>
            <a:ext cx="266667" cy="253968"/>
          </a:xfrm>
          <a:prstGeom prst="rect">
            <a:avLst/>
          </a:prstGeom>
        </p:spPr>
      </p:pic>
      <p:pic>
        <p:nvPicPr>
          <p:cNvPr id="33" name="Image 32" descr="logo-linkedin.png"/>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2899844" y="783165"/>
            <a:ext cx="285752" cy="285752"/>
          </a:xfrm>
          <a:prstGeom prst="rect">
            <a:avLst/>
          </a:prstGeom>
        </p:spPr>
      </p:pic>
      <p:grpSp>
        <p:nvGrpSpPr>
          <p:cNvPr id="34" name="Groupe 33"/>
          <p:cNvGrpSpPr/>
          <p:nvPr/>
        </p:nvGrpSpPr>
        <p:grpSpPr>
          <a:xfrm>
            <a:off x="70311" y="-41891"/>
            <a:ext cx="12056372" cy="746449"/>
            <a:chOff x="70311" y="-41891"/>
            <a:chExt cx="12056372" cy="746449"/>
          </a:xfrm>
        </p:grpSpPr>
        <p:grpSp>
          <p:nvGrpSpPr>
            <p:cNvPr id="35" name="Groupe 34"/>
            <p:cNvGrpSpPr/>
            <p:nvPr/>
          </p:nvGrpSpPr>
          <p:grpSpPr>
            <a:xfrm>
              <a:off x="70311" y="-41891"/>
              <a:ext cx="12056372" cy="746449"/>
              <a:chOff x="51808" y="-49564"/>
              <a:chExt cx="12056372" cy="746449"/>
            </a:xfrm>
          </p:grpSpPr>
          <p:pic>
            <p:nvPicPr>
              <p:cNvPr id="37" name="Image 36" descr="bien plus.jpg"/>
              <p:cNvPicPr>
                <a:picLocks noChangeAspect="1"/>
              </p:cNvPicPr>
              <p:nvPr/>
            </p:nvPicPr>
            <p:blipFill>
              <a:blip r:embed="rId6" cstate="print"/>
              <a:stretch>
                <a:fillRect/>
              </a:stretch>
            </p:blipFill>
            <p:spPr>
              <a:xfrm>
                <a:off x="4122599" y="228466"/>
                <a:ext cx="1289328" cy="364658"/>
              </a:xfrm>
              <a:prstGeom prst="rect">
                <a:avLst/>
              </a:prstGeom>
            </p:spPr>
          </p:pic>
          <p:pic>
            <p:nvPicPr>
              <p:cNvPr id="38" name="Image 37" descr="personnes-adrar-coul_1.jpg"/>
              <p:cNvPicPr>
                <a:picLocks noChangeAspect="1"/>
              </p:cNvPicPr>
              <p:nvPr/>
            </p:nvPicPr>
            <p:blipFill>
              <a:blip r:embed="rId7" cstate="print"/>
              <a:stretch>
                <a:fillRect/>
              </a:stretch>
            </p:blipFill>
            <p:spPr>
              <a:xfrm>
                <a:off x="5640032" y="95784"/>
                <a:ext cx="510617" cy="506565"/>
              </a:xfrm>
              <a:prstGeom prst="rect">
                <a:avLst/>
              </a:prstGeom>
            </p:spPr>
          </p:pic>
          <p:pic>
            <p:nvPicPr>
              <p:cNvPr id="39" name="Image 38" descr="personnes-adrar-coul_2.jpg"/>
              <p:cNvPicPr>
                <a:picLocks noChangeAspect="1"/>
              </p:cNvPicPr>
              <p:nvPr/>
            </p:nvPicPr>
            <p:blipFill>
              <a:blip r:embed="rId8" cstate="print"/>
              <a:stretch>
                <a:fillRect/>
              </a:stretch>
            </p:blipFill>
            <p:spPr>
              <a:xfrm>
                <a:off x="3441939" y="228467"/>
                <a:ext cx="346861" cy="352500"/>
              </a:xfrm>
              <a:prstGeom prst="rect">
                <a:avLst/>
              </a:prstGeom>
            </p:spPr>
          </p:pic>
          <p:pic>
            <p:nvPicPr>
              <p:cNvPr id="40" name="Image 39" descr="LOGO ADRAR 300dpi.jpg"/>
              <p:cNvPicPr>
                <a:picLocks noChangeAspect="1"/>
              </p:cNvPicPr>
              <p:nvPr/>
            </p:nvPicPr>
            <p:blipFill>
              <a:blip r:embed="rId9" cstate="print"/>
              <a:stretch>
                <a:fillRect/>
              </a:stretch>
            </p:blipFill>
            <p:spPr>
              <a:xfrm>
                <a:off x="51808" y="51259"/>
                <a:ext cx="432261" cy="574815"/>
              </a:xfrm>
              <a:prstGeom prst="rect">
                <a:avLst/>
              </a:prstGeom>
              <a:noFill/>
              <a:ln>
                <a:noFill/>
              </a:ln>
            </p:spPr>
          </p:pic>
          <p:pic>
            <p:nvPicPr>
              <p:cNvPr id="49" name="Image 48" descr="LOGO-ERN-GEN2017-1.png"/>
              <p:cNvPicPr>
                <a:picLocks noChangeAspect="1"/>
              </p:cNvPicPr>
              <p:nvPr/>
            </p:nvPicPr>
            <p:blipFill rotWithShape="1">
              <a:blip r:embed="rId10" cstate="print">
                <a:extLst>
                  <a:ext uri="{28A0092B-C50C-407E-A947-70E740481C1C}">
                    <a14:useLocalDpi xmlns:a14="http://schemas.microsoft.com/office/drawing/2010/main" val="0"/>
                  </a:ext>
                </a:extLst>
              </a:blip>
              <a:srcRect r="19245"/>
              <a:stretch/>
            </p:blipFill>
            <p:spPr>
              <a:xfrm>
                <a:off x="6708147" y="12191"/>
                <a:ext cx="2275425" cy="669355"/>
              </a:xfrm>
              <a:prstGeom prst="rect">
                <a:avLst/>
              </a:prstGeom>
            </p:spPr>
          </p:pic>
          <p:pic>
            <p:nvPicPr>
              <p:cNvPr id="50" name="Image 49" descr="redim-06.png"/>
              <p:cNvPicPr>
                <a:picLocks noChangeAspect="1"/>
              </p:cNvPicPr>
              <p:nvPr/>
            </p:nvPicPr>
            <p:blipFill rotWithShape="1">
              <a:blip r:embed="rId11" cstate="print">
                <a:extLst>
                  <a:ext uri="{28A0092B-C50C-407E-A947-70E740481C1C}">
                    <a14:useLocalDpi xmlns:a14="http://schemas.microsoft.com/office/drawing/2010/main" val="0"/>
                  </a:ext>
                </a:extLst>
              </a:blip>
              <a:srcRect t="28400" b="26267"/>
              <a:stretch/>
            </p:blipFill>
            <p:spPr>
              <a:xfrm>
                <a:off x="10739120" y="30480"/>
                <a:ext cx="1369060" cy="620641"/>
              </a:xfrm>
              <a:prstGeom prst="rect">
                <a:avLst/>
              </a:prstGeom>
            </p:spPr>
          </p:pic>
          <p:pic>
            <p:nvPicPr>
              <p:cNvPr id="51" name="Image 50"/>
              <p:cNvPicPr>
                <a:picLocks noChangeAspect="1"/>
              </p:cNvPicPr>
              <p:nvPr/>
            </p:nvPicPr>
            <p:blipFill rotWithShape="1">
              <a:blip r:embed="rId12" cstate="print">
                <a:extLst>
                  <a:ext uri="{28A0092B-C50C-407E-A947-70E740481C1C}">
                    <a14:useLocalDpi xmlns:a14="http://schemas.microsoft.com/office/drawing/2010/main" val="0"/>
                  </a:ext>
                </a:extLst>
              </a:blip>
              <a:srcRect l="16802" t="22888" r="16244" b="27236"/>
              <a:stretch/>
            </p:blipFill>
            <p:spPr>
              <a:xfrm>
                <a:off x="8974241" y="-49564"/>
                <a:ext cx="1502229" cy="746449"/>
              </a:xfrm>
              <a:prstGeom prst="rect">
                <a:avLst/>
              </a:prstGeom>
            </p:spPr>
          </p:pic>
        </p:grpSp>
        <p:pic>
          <p:nvPicPr>
            <p:cNvPr id="36" name="Image 35"/>
            <p:cNvPicPr>
              <a:picLocks noChangeAspect="1"/>
            </p:cNvPicPr>
            <p:nvPr/>
          </p:nvPicPr>
          <p:blipFill rotWithShape="1">
            <a:blip r:embed="rId13">
              <a:extLst>
                <a:ext uri="{28A0092B-C50C-407E-A947-70E740481C1C}">
                  <a14:useLocalDpi xmlns:a14="http://schemas.microsoft.com/office/drawing/2010/main" val="0"/>
                </a:ext>
              </a:extLst>
            </a:blip>
            <a:srcRect t="22863" b="24898"/>
            <a:stretch/>
          </p:blipFill>
          <p:spPr>
            <a:xfrm>
              <a:off x="680899" y="90649"/>
              <a:ext cx="2612643" cy="537329"/>
            </a:xfrm>
            <a:prstGeom prst="rect">
              <a:avLst/>
            </a:prstGeom>
          </p:spPr>
        </p:pic>
      </p:grpSp>
      <p:sp>
        <p:nvSpPr>
          <p:cNvPr id="18" name="ZoneTexte 17"/>
          <p:cNvSpPr txBox="1"/>
          <p:nvPr/>
        </p:nvSpPr>
        <p:spPr>
          <a:xfrm>
            <a:off x="169660" y="1325091"/>
            <a:ext cx="11488366" cy="3139321"/>
          </a:xfrm>
          <a:prstGeom prst="rect">
            <a:avLst/>
          </a:prstGeom>
          <a:noFill/>
        </p:spPr>
        <p:txBody>
          <a:bodyPr wrap="square" rtlCol="0">
            <a:spAutoFit/>
          </a:bodyPr>
          <a:lstStyle/>
          <a:p>
            <a:r>
              <a:rPr lang="fr-FR" dirty="0" smtClean="0"/>
              <a:t>L’attribut </a:t>
            </a:r>
            <a:r>
              <a:rPr lang="fr-FR" i="1" dirty="0" err="1" smtClean="0"/>
              <a:t>status_code</a:t>
            </a:r>
            <a:r>
              <a:rPr lang="fr-FR" dirty="0" smtClean="0"/>
              <a:t> de notre objet </a:t>
            </a:r>
            <a:r>
              <a:rPr lang="fr-FR" i="1" dirty="0" err="1" smtClean="0"/>
              <a:t>response</a:t>
            </a:r>
            <a:r>
              <a:rPr lang="fr-FR" dirty="0" smtClean="0"/>
              <a:t> est un code de </a:t>
            </a:r>
            <a:r>
              <a:rPr lang="fr-FR" dirty="0" err="1" smtClean="0"/>
              <a:t>status</a:t>
            </a:r>
            <a:r>
              <a:rPr lang="fr-FR" dirty="0" smtClean="0"/>
              <a:t> HTTP. Voici une liste des codes erreurs les plus rependues (mais il en existe plein d’autre).</a:t>
            </a:r>
          </a:p>
          <a:p>
            <a:endParaRPr lang="fr-FR" dirty="0" smtClean="0"/>
          </a:p>
          <a:p>
            <a:r>
              <a:rPr lang="fr-FR" dirty="0" smtClean="0"/>
              <a:t>200</a:t>
            </a:r>
            <a:r>
              <a:rPr lang="fr-FR" dirty="0"/>
              <a:t> : succès de la requête </a:t>
            </a:r>
          </a:p>
          <a:p>
            <a:r>
              <a:rPr lang="fr-FR" dirty="0"/>
              <a:t>301 et 302 : redirection, respectivement permanente et temporaire </a:t>
            </a:r>
          </a:p>
          <a:p>
            <a:r>
              <a:rPr lang="fr-FR" dirty="0"/>
              <a:t>401 : utilisateur non authentifié </a:t>
            </a:r>
          </a:p>
          <a:p>
            <a:r>
              <a:rPr lang="fr-FR" dirty="0"/>
              <a:t>403 : accès refusé </a:t>
            </a:r>
          </a:p>
          <a:p>
            <a:r>
              <a:rPr lang="fr-FR" dirty="0"/>
              <a:t>404 : ressource non trouvée </a:t>
            </a:r>
          </a:p>
          <a:p>
            <a:r>
              <a:rPr lang="fr-FR" dirty="0"/>
              <a:t>500 et 503 : erreur serveur </a:t>
            </a:r>
          </a:p>
          <a:p>
            <a:r>
              <a:rPr lang="fr-FR" dirty="0"/>
              <a:t>504 : le serveur n'a pas répondu.</a:t>
            </a:r>
          </a:p>
          <a:p>
            <a:endParaRPr lang="fr-FR" dirty="0"/>
          </a:p>
        </p:txBody>
      </p:sp>
    </p:spTree>
    <p:extLst>
      <p:ext uri="{BB962C8B-B14F-4D97-AF65-F5344CB8AC3E}">
        <p14:creationId xmlns:p14="http://schemas.microsoft.com/office/powerpoint/2010/main" val="3247113927"/>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Rectangle 16"/>
          <p:cNvSpPr/>
          <p:nvPr/>
        </p:nvSpPr>
        <p:spPr>
          <a:xfrm>
            <a:off x="0" y="675503"/>
            <a:ext cx="12198786" cy="478582"/>
          </a:xfrm>
          <a:prstGeom prst="rect">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22" name="Image 2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002202" y="6540326"/>
            <a:ext cx="253968" cy="253968"/>
          </a:xfrm>
          <a:prstGeom prst="rect">
            <a:avLst/>
          </a:prstGeom>
        </p:spPr>
      </p:pic>
      <p:sp>
        <p:nvSpPr>
          <p:cNvPr id="23" name="ZoneTexte 22"/>
          <p:cNvSpPr txBox="1"/>
          <p:nvPr/>
        </p:nvSpPr>
        <p:spPr>
          <a:xfrm>
            <a:off x="5216109" y="6532276"/>
            <a:ext cx="2664700" cy="307777"/>
          </a:xfrm>
          <a:prstGeom prst="rect">
            <a:avLst/>
          </a:prstGeom>
          <a:noFill/>
        </p:spPr>
        <p:txBody>
          <a:bodyPr wrap="square" rtlCol="0">
            <a:spAutoFit/>
          </a:bodyPr>
          <a:lstStyle/>
          <a:p>
            <a:r>
              <a:rPr lang="fr-FR" sz="1400" dirty="0" smtClean="0">
                <a:solidFill>
                  <a:schemeClr val="tx1">
                    <a:lumMod val="65000"/>
                    <a:lumOff val="35000"/>
                  </a:schemeClr>
                </a:solidFill>
              </a:rPr>
              <a:t>ADRAR Pôle Numérique Occitanie</a:t>
            </a:r>
            <a:endParaRPr lang="fr-FR" sz="1400" dirty="0">
              <a:solidFill>
                <a:schemeClr val="tx1">
                  <a:lumMod val="65000"/>
                  <a:lumOff val="35000"/>
                </a:schemeClr>
              </a:solidFill>
            </a:endParaRPr>
          </a:p>
        </p:txBody>
      </p:sp>
      <p:sp>
        <p:nvSpPr>
          <p:cNvPr id="31" name="ZoneTexte 30"/>
          <p:cNvSpPr txBox="1"/>
          <p:nvPr/>
        </p:nvSpPr>
        <p:spPr>
          <a:xfrm>
            <a:off x="0" y="696885"/>
            <a:ext cx="12198786" cy="384721"/>
          </a:xfrm>
          <a:prstGeom prst="rect">
            <a:avLst/>
          </a:prstGeom>
          <a:noFill/>
        </p:spPr>
        <p:txBody>
          <a:bodyPr wrap="square" rtlCol="0">
            <a:spAutoFit/>
          </a:bodyPr>
          <a:lstStyle/>
          <a:p>
            <a:pPr algn="ctr"/>
            <a:r>
              <a:rPr lang="fr-FR" sz="1600" dirty="0">
                <a:solidFill>
                  <a:schemeClr val="bg1"/>
                </a:solidFill>
              </a:rPr>
              <a:t>Suivez-nous sur </a:t>
            </a:r>
            <a:r>
              <a:rPr lang="fr-FR" sz="1600" dirty="0" err="1">
                <a:solidFill>
                  <a:schemeClr val="bg1"/>
                </a:solidFill>
              </a:rPr>
              <a:t>LinkedIn</a:t>
            </a:r>
            <a:r>
              <a:rPr lang="fr-FR" sz="1600" dirty="0">
                <a:solidFill>
                  <a:schemeClr val="bg1"/>
                </a:solidFill>
              </a:rPr>
              <a:t>             </a:t>
            </a:r>
            <a:r>
              <a:rPr lang="fr-FR" sz="1600" dirty="0" err="1">
                <a:solidFill>
                  <a:schemeClr val="bg1"/>
                </a:solidFill>
              </a:rPr>
              <a:t>Twitter</a:t>
            </a:r>
            <a:r>
              <a:rPr lang="fr-FR" sz="1600" dirty="0">
                <a:solidFill>
                  <a:schemeClr val="bg1"/>
                </a:solidFill>
              </a:rPr>
              <a:t>       </a:t>
            </a:r>
            <a:r>
              <a:rPr lang="fr-FR" sz="1900" b="1" dirty="0">
                <a:solidFill>
                  <a:schemeClr val="bg1">
                    <a:lumMod val="95000"/>
                  </a:schemeClr>
                </a:solidFill>
              </a:rPr>
              <a:t>@</a:t>
            </a:r>
            <a:r>
              <a:rPr lang="fr-FR" sz="1900" b="1" dirty="0" err="1">
                <a:solidFill>
                  <a:schemeClr val="bg1">
                    <a:lumMod val="95000"/>
                  </a:schemeClr>
                </a:solidFill>
              </a:rPr>
              <a:t>Adrar_Numerique</a:t>
            </a:r>
            <a:r>
              <a:rPr lang="fr-FR" sz="1900" dirty="0">
                <a:solidFill>
                  <a:schemeClr val="bg1">
                    <a:lumMod val="95000"/>
                  </a:schemeClr>
                </a:solidFill>
              </a:rPr>
              <a:t>	… </a:t>
            </a:r>
            <a:r>
              <a:rPr lang="fr-FR" sz="1600" dirty="0">
                <a:solidFill>
                  <a:schemeClr val="bg1"/>
                </a:solidFill>
              </a:rPr>
              <a:t>et sur le web : </a:t>
            </a:r>
            <a:r>
              <a:rPr lang="fr-FR" sz="1900" b="1" dirty="0">
                <a:solidFill>
                  <a:schemeClr val="bg1">
                    <a:lumMod val="95000"/>
                  </a:schemeClr>
                </a:solidFill>
              </a:rPr>
              <a:t>www.adrar-numerique.com</a:t>
            </a:r>
          </a:p>
        </p:txBody>
      </p:sp>
      <p:pic>
        <p:nvPicPr>
          <p:cNvPr id="32" name="Image 31"/>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024648" y="762261"/>
            <a:ext cx="266667" cy="253968"/>
          </a:xfrm>
          <a:prstGeom prst="rect">
            <a:avLst/>
          </a:prstGeom>
        </p:spPr>
      </p:pic>
      <p:pic>
        <p:nvPicPr>
          <p:cNvPr id="33" name="Image 32" descr="logo-linkedin.png"/>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2899844" y="783165"/>
            <a:ext cx="285752" cy="285752"/>
          </a:xfrm>
          <a:prstGeom prst="rect">
            <a:avLst/>
          </a:prstGeom>
        </p:spPr>
      </p:pic>
      <p:grpSp>
        <p:nvGrpSpPr>
          <p:cNvPr id="34" name="Groupe 33"/>
          <p:cNvGrpSpPr/>
          <p:nvPr/>
        </p:nvGrpSpPr>
        <p:grpSpPr>
          <a:xfrm>
            <a:off x="70311" y="-41891"/>
            <a:ext cx="12056372" cy="746449"/>
            <a:chOff x="70311" y="-41891"/>
            <a:chExt cx="12056372" cy="746449"/>
          </a:xfrm>
        </p:grpSpPr>
        <p:grpSp>
          <p:nvGrpSpPr>
            <p:cNvPr id="35" name="Groupe 34"/>
            <p:cNvGrpSpPr/>
            <p:nvPr/>
          </p:nvGrpSpPr>
          <p:grpSpPr>
            <a:xfrm>
              <a:off x="70311" y="-41891"/>
              <a:ext cx="12056372" cy="746449"/>
              <a:chOff x="51808" y="-49564"/>
              <a:chExt cx="12056372" cy="746449"/>
            </a:xfrm>
          </p:grpSpPr>
          <p:pic>
            <p:nvPicPr>
              <p:cNvPr id="37" name="Image 36" descr="bien plus.jpg"/>
              <p:cNvPicPr>
                <a:picLocks noChangeAspect="1"/>
              </p:cNvPicPr>
              <p:nvPr/>
            </p:nvPicPr>
            <p:blipFill>
              <a:blip r:embed="rId6" cstate="print"/>
              <a:stretch>
                <a:fillRect/>
              </a:stretch>
            </p:blipFill>
            <p:spPr>
              <a:xfrm>
                <a:off x="4122599" y="228466"/>
                <a:ext cx="1289328" cy="364658"/>
              </a:xfrm>
              <a:prstGeom prst="rect">
                <a:avLst/>
              </a:prstGeom>
            </p:spPr>
          </p:pic>
          <p:pic>
            <p:nvPicPr>
              <p:cNvPr id="38" name="Image 37" descr="personnes-adrar-coul_1.jpg"/>
              <p:cNvPicPr>
                <a:picLocks noChangeAspect="1"/>
              </p:cNvPicPr>
              <p:nvPr/>
            </p:nvPicPr>
            <p:blipFill>
              <a:blip r:embed="rId7" cstate="print"/>
              <a:stretch>
                <a:fillRect/>
              </a:stretch>
            </p:blipFill>
            <p:spPr>
              <a:xfrm>
                <a:off x="5640032" y="95784"/>
                <a:ext cx="510617" cy="506565"/>
              </a:xfrm>
              <a:prstGeom prst="rect">
                <a:avLst/>
              </a:prstGeom>
            </p:spPr>
          </p:pic>
          <p:pic>
            <p:nvPicPr>
              <p:cNvPr id="39" name="Image 38" descr="personnes-adrar-coul_2.jpg"/>
              <p:cNvPicPr>
                <a:picLocks noChangeAspect="1"/>
              </p:cNvPicPr>
              <p:nvPr/>
            </p:nvPicPr>
            <p:blipFill>
              <a:blip r:embed="rId8" cstate="print"/>
              <a:stretch>
                <a:fillRect/>
              </a:stretch>
            </p:blipFill>
            <p:spPr>
              <a:xfrm>
                <a:off x="3441939" y="228467"/>
                <a:ext cx="346861" cy="352500"/>
              </a:xfrm>
              <a:prstGeom prst="rect">
                <a:avLst/>
              </a:prstGeom>
            </p:spPr>
          </p:pic>
          <p:pic>
            <p:nvPicPr>
              <p:cNvPr id="40" name="Image 39" descr="LOGO ADRAR 300dpi.jpg"/>
              <p:cNvPicPr>
                <a:picLocks noChangeAspect="1"/>
              </p:cNvPicPr>
              <p:nvPr/>
            </p:nvPicPr>
            <p:blipFill>
              <a:blip r:embed="rId9" cstate="print"/>
              <a:stretch>
                <a:fillRect/>
              </a:stretch>
            </p:blipFill>
            <p:spPr>
              <a:xfrm>
                <a:off x="51808" y="51259"/>
                <a:ext cx="432261" cy="574815"/>
              </a:xfrm>
              <a:prstGeom prst="rect">
                <a:avLst/>
              </a:prstGeom>
              <a:noFill/>
              <a:ln>
                <a:noFill/>
              </a:ln>
            </p:spPr>
          </p:pic>
          <p:pic>
            <p:nvPicPr>
              <p:cNvPr id="49" name="Image 48" descr="LOGO-ERN-GEN2017-1.png"/>
              <p:cNvPicPr>
                <a:picLocks noChangeAspect="1"/>
              </p:cNvPicPr>
              <p:nvPr/>
            </p:nvPicPr>
            <p:blipFill rotWithShape="1">
              <a:blip r:embed="rId10" cstate="print">
                <a:extLst>
                  <a:ext uri="{28A0092B-C50C-407E-A947-70E740481C1C}">
                    <a14:useLocalDpi xmlns:a14="http://schemas.microsoft.com/office/drawing/2010/main" val="0"/>
                  </a:ext>
                </a:extLst>
              </a:blip>
              <a:srcRect r="19245"/>
              <a:stretch/>
            </p:blipFill>
            <p:spPr>
              <a:xfrm>
                <a:off x="6708147" y="12191"/>
                <a:ext cx="2275425" cy="669355"/>
              </a:xfrm>
              <a:prstGeom prst="rect">
                <a:avLst/>
              </a:prstGeom>
            </p:spPr>
          </p:pic>
          <p:pic>
            <p:nvPicPr>
              <p:cNvPr id="50" name="Image 49" descr="redim-06.png"/>
              <p:cNvPicPr>
                <a:picLocks noChangeAspect="1"/>
              </p:cNvPicPr>
              <p:nvPr/>
            </p:nvPicPr>
            <p:blipFill rotWithShape="1">
              <a:blip r:embed="rId11" cstate="print">
                <a:extLst>
                  <a:ext uri="{28A0092B-C50C-407E-A947-70E740481C1C}">
                    <a14:useLocalDpi xmlns:a14="http://schemas.microsoft.com/office/drawing/2010/main" val="0"/>
                  </a:ext>
                </a:extLst>
              </a:blip>
              <a:srcRect t="28400" b="26267"/>
              <a:stretch/>
            </p:blipFill>
            <p:spPr>
              <a:xfrm>
                <a:off x="10739120" y="30480"/>
                <a:ext cx="1369060" cy="620641"/>
              </a:xfrm>
              <a:prstGeom prst="rect">
                <a:avLst/>
              </a:prstGeom>
            </p:spPr>
          </p:pic>
          <p:pic>
            <p:nvPicPr>
              <p:cNvPr id="51" name="Image 50"/>
              <p:cNvPicPr>
                <a:picLocks noChangeAspect="1"/>
              </p:cNvPicPr>
              <p:nvPr/>
            </p:nvPicPr>
            <p:blipFill rotWithShape="1">
              <a:blip r:embed="rId12" cstate="print">
                <a:extLst>
                  <a:ext uri="{28A0092B-C50C-407E-A947-70E740481C1C}">
                    <a14:useLocalDpi xmlns:a14="http://schemas.microsoft.com/office/drawing/2010/main" val="0"/>
                  </a:ext>
                </a:extLst>
              </a:blip>
              <a:srcRect l="16802" t="22888" r="16244" b="27236"/>
              <a:stretch/>
            </p:blipFill>
            <p:spPr>
              <a:xfrm>
                <a:off x="8974241" y="-49564"/>
                <a:ext cx="1502229" cy="746449"/>
              </a:xfrm>
              <a:prstGeom prst="rect">
                <a:avLst/>
              </a:prstGeom>
            </p:spPr>
          </p:pic>
        </p:grpSp>
        <p:pic>
          <p:nvPicPr>
            <p:cNvPr id="36" name="Image 35"/>
            <p:cNvPicPr>
              <a:picLocks noChangeAspect="1"/>
            </p:cNvPicPr>
            <p:nvPr/>
          </p:nvPicPr>
          <p:blipFill rotWithShape="1">
            <a:blip r:embed="rId13">
              <a:extLst>
                <a:ext uri="{28A0092B-C50C-407E-A947-70E740481C1C}">
                  <a14:useLocalDpi xmlns:a14="http://schemas.microsoft.com/office/drawing/2010/main" val="0"/>
                </a:ext>
              </a:extLst>
            </a:blip>
            <a:srcRect t="22863" b="24898"/>
            <a:stretch/>
          </p:blipFill>
          <p:spPr>
            <a:xfrm>
              <a:off x="680899" y="90649"/>
              <a:ext cx="2612643" cy="537329"/>
            </a:xfrm>
            <a:prstGeom prst="rect">
              <a:avLst/>
            </a:prstGeom>
          </p:spPr>
        </p:pic>
      </p:grpSp>
      <p:sp>
        <p:nvSpPr>
          <p:cNvPr id="18" name="ZoneTexte 17"/>
          <p:cNvSpPr txBox="1"/>
          <p:nvPr/>
        </p:nvSpPr>
        <p:spPr>
          <a:xfrm>
            <a:off x="169660" y="1325091"/>
            <a:ext cx="11488366" cy="369332"/>
          </a:xfrm>
          <a:prstGeom prst="rect">
            <a:avLst/>
          </a:prstGeom>
          <a:noFill/>
        </p:spPr>
        <p:txBody>
          <a:bodyPr wrap="square" rtlCol="0">
            <a:spAutoFit/>
          </a:bodyPr>
          <a:lstStyle/>
          <a:p>
            <a:r>
              <a:rPr lang="fr-FR" dirty="0" smtClean="0"/>
              <a:t>Modifions maintenant notre vue d’index pour s’assurer qu’elle n’affiche pas de question publié dans le futur.</a:t>
            </a:r>
            <a:endParaRPr lang="fr-FR" dirty="0"/>
          </a:p>
        </p:txBody>
      </p:sp>
      <p:pic>
        <p:nvPicPr>
          <p:cNvPr id="2" name="Image 1"/>
          <p:cNvPicPr>
            <a:picLocks noChangeAspect="1"/>
          </p:cNvPicPr>
          <p:nvPr/>
        </p:nvPicPr>
        <p:blipFill>
          <a:blip r:embed="rId14"/>
          <a:stretch>
            <a:fillRect/>
          </a:stretch>
        </p:blipFill>
        <p:spPr>
          <a:xfrm>
            <a:off x="286441" y="1809724"/>
            <a:ext cx="4991100" cy="1657350"/>
          </a:xfrm>
          <a:prstGeom prst="rect">
            <a:avLst/>
          </a:prstGeom>
        </p:spPr>
      </p:pic>
      <p:pic>
        <p:nvPicPr>
          <p:cNvPr id="3" name="Image 2"/>
          <p:cNvPicPr>
            <a:picLocks noChangeAspect="1"/>
          </p:cNvPicPr>
          <p:nvPr/>
        </p:nvPicPr>
        <p:blipFill>
          <a:blip r:embed="rId15"/>
          <a:stretch>
            <a:fillRect/>
          </a:stretch>
        </p:blipFill>
        <p:spPr>
          <a:xfrm>
            <a:off x="286441" y="3582375"/>
            <a:ext cx="7810500" cy="590550"/>
          </a:xfrm>
          <a:prstGeom prst="rect">
            <a:avLst/>
          </a:prstGeom>
        </p:spPr>
      </p:pic>
      <p:sp>
        <p:nvSpPr>
          <p:cNvPr id="21" name="ZoneTexte 20"/>
          <p:cNvSpPr txBox="1"/>
          <p:nvPr/>
        </p:nvSpPr>
        <p:spPr>
          <a:xfrm>
            <a:off x="286441" y="4455149"/>
            <a:ext cx="11488366" cy="1200329"/>
          </a:xfrm>
          <a:prstGeom prst="rect">
            <a:avLst/>
          </a:prstGeom>
          <a:noFill/>
        </p:spPr>
        <p:txBody>
          <a:bodyPr wrap="square" rtlCol="0">
            <a:spAutoFit/>
          </a:bodyPr>
          <a:lstStyle/>
          <a:p>
            <a:r>
              <a:rPr lang="fr-FR" dirty="0" smtClean="0"/>
              <a:t>Nous modifions donc le retour de notre méthode </a:t>
            </a:r>
            <a:r>
              <a:rPr lang="fr-FR" i="1" dirty="0" err="1" smtClean="0"/>
              <a:t>get_queryset</a:t>
            </a:r>
            <a:r>
              <a:rPr lang="fr-FR" i="1" dirty="0" smtClean="0"/>
              <a:t>()</a:t>
            </a:r>
            <a:r>
              <a:rPr lang="fr-FR" dirty="0" smtClean="0"/>
              <a:t> pour y appliquer un filtre indiquant que la date de publication doit être inférieur ou égal (</a:t>
            </a:r>
            <a:r>
              <a:rPr lang="fr-FR" dirty="0" err="1" smtClean="0"/>
              <a:t>lte</a:t>
            </a:r>
            <a:r>
              <a:rPr lang="fr-FR" dirty="0"/>
              <a:t> </a:t>
            </a:r>
            <a:r>
              <a:rPr lang="fr-FR" dirty="0" smtClean="0"/>
              <a:t>veut dire </a:t>
            </a:r>
            <a:r>
              <a:rPr lang="fr-FR" i="1" dirty="0" err="1" smtClean="0"/>
              <a:t>less</a:t>
            </a:r>
            <a:r>
              <a:rPr lang="fr-FR" i="1" dirty="0" smtClean="0"/>
              <a:t> </a:t>
            </a:r>
            <a:r>
              <a:rPr lang="fr-FR" i="1" dirty="0" err="1" smtClean="0"/>
              <a:t>than</a:t>
            </a:r>
            <a:r>
              <a:rPr lang="fr-FR" i="1" dirty="0" smtClean="0"/>
              <a:t> or </a:t>
            </a:r>
            <a:r>
              <a:rPr lang="fr-FR" i="1" dirty="0" err="1" smtClean="0"/>
              <a:t>equal</a:t>
            </a:r>
            <a:r>
              <a:rPr lang="fr-FR" dirty="0" smtClean="0"/>
              <a:t>) à la date du jours.</a:t>
            </a:r>
          </a:p>
          <a:p>
            <a:endParaRPr lang="fr-FR" dirty="0"/>
          </a:p>
          <a:p>
            <a:r>
              <a:rPr lang="fr-FR" dirty="0" smtClean="0"/>
              <a:t>Nous pouvons ensuite rédiger notre tests pour s’assurer du bon fonctionnement.</a:t>
            </a:r>
            <a:endParaRPr lang="fr-FR" dirty="0"/>
          </a:p>
        </p:txBody>
      </p:sp>
    </p:spTree>
    <p:extLst>
      <p:ext uri="{BB962C8B-B14F-4D97-AF65-F5344CB8AC3E}">
        <p14:creationId xmlns:p14="http://schemas.microsoft.com/office/powerpoint/2010/main" val="2474723033"/>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Rectangle 16"/>
          <p:cNvSpPr/>
          <p:nvPr/>
        </p:nvSpPr>
        <p:spPr>
          <a:xfrm>
            <a:off x="0" y="675503"/>
            <a:ext cx="12198786" cy="478582"/>
          </a:xfrm>
          <a:prstGeom prst="rect">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22" name="Image 2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002202" y="6540326"/>
            <a:ext cx="253968" cy="253968"/>
          </a:xfrm>
          <a:prstGeom prst="rect">
            <a:avLst/>
          </a:prstGeom>
        </p:spPr>
      </p:pic>
      <p:sp>
        <p:nvSpPr>
          <p:cNvPr id="23" name="ZoneTexte 22"/>
          <p:cNvSpPr txBox="1"/>
          <p:nvPr/>
        </p:nvSpPr>
        <p:spPr>
          <a:xfrm>
            <a:off x="5216109" y="6532276"/>
            <a:ext cx="2664700" cy="307777"/>
          </a:xfrm>
          <a:prstGeom prst="rect">
            <a:avLst/>
          </a:prstGeom>
          <a:noFill/>
        </p:spPr>
        <p:txBody>
          <a:bodyPr wrap="square" rtlCol="0">
            <a:spAutoFit/>
          </a:bodyPr>
          <a:lstStyle/>
          <a:p>
            <a:r>
              <a:rPr lang="fr-FR" sz="1400" dirty="0" smtClean="0">
                <a:solidFill>
                  <a:schemeClr val="tx1">
                    <a:lumMod val="65000"/>
                    <a:lumOff val="35000"/>
                  </a:schemeClr>
                </a:solidFill>
              </a:rPr>
              <a:t>ADRAR Pôle Numérique Occitanie</a:t>
            </a:r>
            <a:endParaRPr lang="fr-FR" sz="1400" dirty="0">
              <a:solidFill>
                <a:schemeClr val="tx1">
                  <a:lumMod val="65000"/>
                  <a:lumOff val="35000"/>
                </a:schemeClr>
              </a:solidFill>
            </a:endParaRPr>
          </a:p>
        </p:txBody>
      </p:sp>
      <p:sp>
        <p:nvSpPr>
          <p:cNvPr id="31" name="ZoneTexte 30"/>
          <p:cNvSpPr txBox="1"/>
          <p:nvPr/>
        </p:nvSpPr>
        <p:spPr>
          <a:xfrm>
            <a:off x="0" y="696885"/>
            <a:ext cx="12198786" cy="384721"/>
          </a:xfrm>
          <a:prstGeom prst="rect">
            <a:avLst/>
          </a:prstGeom>
          <a:noFill/>
        </p:spPr>
        <p:txBody>
          <a:bodyPr wrap="square" rtlCol="0">
            <a:spAutoFit/>
          </a:bodyPr>
          <a:lstStyle/>
          <a:p>
            <a:pPr algn="ctr"/>
            <a:r>
              <a:rPr lang="fr-FR" sz="1600" dirty="0">
                <a:solidFill>
                  <a:schemeClr val="bg1"/>
                </a:solidFill>
              </a:rPr>
              <a:t>Suivez-nous sur </a:t>
            </a:r>
            <a:r>
              <a:rPr lang="fr-FR" sz="1600" dirty="0" err="1">
                <a:solidFill>
                  <a:schemeClr val="bg1"/>
                </a:solidFill>
              </a:rPr>
              <a:t>LinkedIn</a:t>
            </a:r>
            <a:r>
              <a:rPr lang="fr-FR" sz="1600" dirty="0">
                <a:solidFill>
                  <a:schemeClr val="bg1"/>
                </a:solidFill>
              </a:rPr>
              <a:t>             </a:t>
            </a:r>
            <a:r>
              <a:rPr lang="fr-FR" sz="1600" dirty="0" err="1">
                <a:solidFill>
                  <a:schemeClr val="bg1"/>
                </a:solidFill>
              </a:rPr>
              <a:t>Twitter</a:t>
            </a:r>
            <a:r>
              <a:rPr lang="fr-FR" sz="1600" dirty="0">
                <a:solidFill>
                  <a:schemeClr val="bg1"/>
                </a:solidFill>
              </a:rPr>
              <a:t>       </a:t>
            </a:r>
            <a:r>
              <a:rPr lang="fr-FR" sz="1900" b="1" dirty="0">
                <a:solidFill>
                  <a:schemeClr val="bg1">
                    <a:lumMod val="95000"/>
                  </a:schemeClr>
                </a:solidFill>
              </a:rPr>
              <a:t>@</a:t>
            </a:r>
            <a:r>
              <a:rPr lang="fr-FR" sz="1900" b="1" dirty="0" err="1">
                <a:solidFill>
                  <a:schemeClr val="bg1">
                    <a:lumMod val="95000"/>
                  </a:schemeClr>
                </a:solidFill>
              </a:rPr>
              <a:t>Adrar_Numerique</a:t>
            </a:r>
            <a:r>
              <a:rPr lang="fr-FR" sz="1900" dirty="0">
                <a:solidFill>
                  <a:schemeClr val="bg1">
                    <a:lumMod val="95000"/>
                  </a:schemeClr>
                </a:solidFill>
              </a:rPr>
              <a:t>	… </a:t>
            </a:r>
            <a:r>
              <a:rPr lang="fr-FR" sz="1600" dirty="0">
                <a:solidFill>
                  <a:schemeClr val="bg1"/>
                </a:solidFill>
              </a:rPr>
              <a:t>et sur le web : </a:t>
            </a:r>
            <a:r>
              <a:rPr lang="fr-FR" sz="1900" b="1" dirty="0">
                <a:solidFill>
                  <a:schemeClr val="bg1">
                    <a:lumMod val="95000"/>
                  </a:schemeClr>
                </a:solidFill>
              </a:rPr>
              <a:t>www.adrar-numerique.com</a:t>
            </a:r>
          </a:p>
        </p:txBody>
      </p:sp>
      <p:pic>
        <p:nvPicPr>
          <p:cNvPr id="32" name="Image 31"/>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024648" y="762261"/>
            <a:ext cx="266667" cy="253968"/>
          </a:xfrm>
          <a:prstGeom prst="rect">
            <a:avLst/>
          </a:prstGeom>
        </p:spPr>
      </p:pic>
      <p:pic>
        <p:nvPicPr>
          <p:cNvPr id="33" name="Image 32" descr="logo-linkedin.png"/>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2899844" y="783165"/>
            <a:ext cx="285752" cy="285752"/>
          </a:xfrm>
          <a:prstGeom prst="rect">
            <a:avLst/>
          </a:prstGeom>
        </p:spPr>
      </p:pic>
      <p:grpSp>
        <p:nvGrpSpPr>
          <p:cNvPr id="34" name="Groupe 33"/>
          <p:cNvGrpSpPr/>
          <p:nvPr/>
        </p:nvGrpSpPr>
        <p:grpSpPr>
          <a:xfrm>
            <a:off x="70311" y="-41891"/>
            <a:ext cx="12056372" cy="746449"/>
            <a:chOff x="70311" y="-41891"/>
            <a:chExt cx="12056372" cy="746449"/>
          </a:xfrm>
        </p:grpSpPr>
        <p:grpSp>
          <p:nvGrpSpPr>
            <p:cNvPr id="35" name="Groupe 34"/>
            <p:cNvGrpSpPr/>
            <p:nvPr/>
          </p:nvGrpSpPr>
          <p:grpSpPr>
            <a:xfrm>
              <a:off x="70311" y="-41891"/>
              <a:ext cx="12056372" cy="746449"/>
              <a:chOff x="51808" y="-49564"/>
              <a:chExt cx="12056372" cy="746449"/>
            </a:xfrm>
          </p:grpSpPr>
          <p:pic>
            <p:nvPicPr>
              <p:cNvPr id="37" name="Image 36" descr="bien plus.jpg"/>
              <p:cNvPicPr>
                <a:picLocks noChangeAspect="1"/>
              </p:cNvPicPr>
              <p:nvPr/>
            </p:nvPicPr>
            <p:blipFill>
              <a:blip r:embed="rId6" cstate="print"/>
              <a:stretch>
                <a:fillRect/>
              </a:stretch>
            </p:blipFill>
            <p:spPr>
              <a:xfrm>
                <a:off x="4122599" y="228466"/>
                <a:ext cx="1289328" cy="364658"/>
              </a:xfrm>
              <a:prstGeom prst="rect">
                <a:avLst/>
              </a:prstGeom>
            </p:spPr>
          </p:pic>
          <p:pic>
            <p:nvPicPr>
              <p:cNvPr id="38" name="Image 37" descr="personnes-adrar-coul_1.jpg"/>
              <p:cNvPicPr>
                <a:picLocks noChangeAspect="1"/>
              </p:cNvPicPr>
              <p:nvPr/>
            </p:nvPicPr>
            <p:blipFill>
              <a:blip r:embed="rId7" cstate="print"/>
              <a:stretch>
                <a:fillRect/>
              </a:stretch>
            </p:blipFill>
            <p:spPr>
              <a:xfrm>
                <a:off x="5640032" y="95784"/>
                <a:ext cx="510617" cy="506565"/>
              </a:xfrm>
              <a:prstGeom prst="rect">
                <a:avLst/>
              </a:prstGeom>
            </p:spPr>
          </p:pic>
          <p:pic>
            <p:nvPicPr>
              <p:cNvPr id="39" name="Image 38" descr="personnes-adrar-coul_2.jpg"/>
              <p:cNvPicPr>
                <a:picLocks noChangeAspect="1"/>
              </p:cNvPicPr>
              <p:nvPr/>
            </p:nvPicPr>
            <p:blipFill>
              <a:blip r:embed="rId8" cstate="print"/>
              <a:stretch>
                <a:fillRect/>
              </a:stretch>
            </p:blipFill>
            <p:spPr>
              <a:xfrm>
                <a:off x="3441939" y="228467"/>
                <a:ext cx="346861" cy="352500"/>
              </a:xfrm>
              <a:prstGeom prst="rect">
                <a:avLst/>
              </a:prstGeom>
            </p:spPr>
          </p:pic>
          <p:pic>
            <p:nvPicPr>
              <p:cNvPr id="40" name="Image 39" descr="LOGO ADRAR 300dpi.jpg"/>
              <p:cNvPicPr>
                <a:picLocks noChangeAspect="1"/>
              </p:cNvPicPr>
              <p:nvPr/>
            </p:nvPicPr>
            <p:blipFill>
              <a:blip r:embed="rId9" cstate="print"/>
              <a:stretch>
                <a:fillRect/>
              </a:stretch>
            </p:blipFill>
            <p:spPr>
              <a:xfrm>
                <a:off x="51808" y="51259"/>
                <a:ext cx="432261" cy="574815"/>
              </a:xfrm>
              <a:prstGeom prst="rect">
                <a:avLst/>
              </a:prstGeom>
              <a:noFill/>
              <a:ln>
                <a:noFill/>
              </a:ln>
            </p:spPr>
          </p:pic>
          <p:pic>
            <p:nvPicPr>
              <p:cNvPr id="49" name="Image 48" descr="LOGO-ERN-GEN2017-1.png"/>
              <p:cNvPicPr>
                <a:picLocks noChangeAspect="1"/>
              </p:cNvPicPr>
              <p:nvPr/>
            </p:nvPicPr>
            <p:blipFill rotWithShape="1">
              <a:blip r:embed="rId10" cstate="print">
                <a:extLst>
                  <a:ext uri="{28A0092B-C50C-407E-A947-70E740481C1C}">
                    <a14:useLocalDpi xmlns:a14="http://schemas.microsoft.com/office/drawing/2010/main" val="0"/>
                  </a:ext>
                </a:extLst>
              </a:blip>
              <a:srcRect r="19245"/>
              <a:stretch/>
            </p:blipFill>
            <p:spPr>
              <a:xfrm>
                <a:off x="6708147" y="12191"/>
                <a:ext cx="2275425" cy="669355"/>
              </a:xfrm>
              <a:prstGeom prst="rect">
                <a:avLst/>
              </a:prstGeom>
            </p:spPr>
          </p:pic>
          <p:pic>
            <p:nvPicPr>
              <p:cNvPr id="50" name="Image 49" descr="redim-06.png"/>
              <p:cNvPicPr>
                <a:picLocks noChangeAspect="1"/>
              </p:cNvPicPr>
              <p:nvPr/>
            </p:nvPicPr>
            <p:blipFill rotWithShape="1">
              <a:blip r:embed="rId11" cstate="print">
                <a:extLst>
                  <a:ext uri="{28A0092B-C50C-407E-A947-70E740481C1C}">
                    <a14:useLocalDpi xmlns:a14="http://schemas.microsoft.com/office/drawing/2010/main" val="0"/>
                  </a:ext>
                </a:extLst>
              </a:blip>
              <a:srcRect t="28400" b="26267"/>
              <a:stretch/>
            </p:blipFill>
            <p:spPr>
              <a:xfrm>
                <a:off x="10739120" y="30480"/>
                <a:ext cx="1369060" cy="620641"/>
              </a:xfrm>
              <a:prstGeom prst="rect">
                <a:avLst/>
              </a:prstGeom>
            </p:spPr>
          </p:pic>
          <p:pic>
            <p:nvPicPr>
              <p:cNvPr id="51" name="Image 50"/>
              <p:cNvPicPr>
                <a:picLocks noChangeAspect="1"/>
              </p:cNvPicPr>
              <p:nvPr/>
            </p:nvPicPr>
            <p:blipFill rotWithShape="1">
              <a:blip r:embed="rId12" cstate="print">
                <a:extLst>
                  <a:ext uri="{28A0092B-C50C-407E-A947-70E740481C1C}">
                    <a14:useLocalDpi xmlns:a14="http://schemas.microsoft.com/office/drawing/2010/main" val="0"/>
                  </a:ext>
                </a:extLst>
              </a:blip>
              <a:srcRect l="16802" t="22888" r="16244" b="27236"/>
              <a:stretch/>
            </p:blipFill>
            <p:spPr>
              <a:xfrm>
                <a:off x="8974241" y="-49564"/>
                <a:ext cx="1502229" cy="746449"/>
              </a:xfrm>
              <a:prstGeom prst="rect">
                <a:avLst/>
              </a:prstGeom>
            </p:spPr>
          </p:pic>
        </p:grpSp>
        <p:pic>
          <p:nvPicPr>
            <p:cNvPr id="36" name="Image 35"/>
            <p:cNvPicPr>
              <a:picLocks noChangeAspect="1"/>
            </p:cNvPicPr>
            <p:nvPr/>
          </p:nvPicPr>
          <p:blipFill rotWithShape="1">
            <a:blip r:embed="rId13">
              <a:extLst>
                <a:ext uri="{28A0092B-C50C-407E-A947-70E740481C1C}">
                  <a14:useLocalDpi xmlns:a14="http://schemas.microsoft.com/office/drawing/2010/main" val="0"/>
                </a:ext>
              </a:extLst>
            </a:blip>
            <a:srcRect t="22863" b="24898"/>
            <a:stretch/>
          </p:blipFill>
          <p:spPr>
            <a:xfrm>
              <a:off x="680899" y="90649"/>
              <a:ext cx="2612643" cy="537329"/>
            </a:xfrm>
            <a:prstGeom prst="rect">
              <a:avLst/>
            </a:prstGeom>
          </p:spPr>
        </p:pic>
      </p:grpSp>
      <p:sp>
        <p:nvSpPr>
          <p:cNvPr id="18" name="ZoneTexte 17"/>
          <p:cNvSpPr txBox="1"/>
          <p:nvPr/>
        </p:nvSpPr>
        <p:spPr>
          <a:xfrm>
            <a:off x="169660" y="1325091"/>
            <a:ext cx="11488366" cy="1200329"/>
          </a:xfrm>
          <a:prstGeom prst="rect">
            <a:avLst/>
          </a:prstGeom>
          <a:noFill/>
        </p:spPr>
        <p:txBody>
          <a:bodyPr wrap="square" rtlCol="0">
            <a:spAutoFit/>
          </a:bodyPr>
          <a:lstStyle/>
          <a:p>
            <a:r>
              <a:rPr lang="fr-FR" dirty="0" smtClean="0"/>
              <a:t>Dans notre fichier de tests commençons par créer une fonctions qui permet de créer une question en lui passant comme paramètre le texte de la question et le nombre de jours à partir d’aujourd’hui qui nous séparent de la date de création (</a:t>
            </a:r>
            <a:r>
              <a:rPr lang="fr-FR" dirty="0" err="1" smtClean="0"/>
              <a:t>éxemple</a:t>
            </a:r>
            <a:r>
              <a:rPr lang="fr-FR" dirty="0" smtClean="0"/>
              <a:t> : si on indique </a:t>
            </a:r>
            <a:r>
              <a:rPr lang="fr-FR" dirty="0" err="1" smtClean="0"/>
              <a:t>days</a:t>
            </a:r>
            <a:r>
              <a:rPr lang="fr-FR" dirty="0" smtClean="0"/>
              <a:t>=30, la date de publication sera dans 30 jours, si on indique </a:t>
            </a:r>
            <a:r>
              <a:rPr lang="fr-FR" dirty="0" err="1" smtClean="0"/>
              <a:t>days</a:t>
            </a:r>
            <a:r>
              <a:rPr lang="fr-FR" dirty="0" smtClean="0"/>
              <a:t>=-30 la date de publication sera il y a 30 jours).</a:t>
            </a:r>
            <a:endParaRPr lang="fr-FR" dirty="0"/>
          </a:p>
        </p:txBody>
      </p:sp>
      <p:pic>
        <p:nvPicPr>
          <p:cNvPr id="2" name="Image 1"/>
          <p:cNvPicPr>
            <a:picLocks noChangeAspect="1"/>
          </p:cNvPicPr>
          <p:nvPr/>
        </p:nvPicPr>
        <p:blipFill>
          <a:blip r:embed="rId14"/>
          <a:stretch>
            <a:fillRect/>
          </a:stretch>
        </p:blipFill>
        <p:spPr>
          <a:xfrm>
            <a:off x="228684" y="2643720"/>
            <a:ext cx="6810375" cy="857250"/>
          </a:xfrm>
          <a:prstGeom prst="rect">
            <a:avLst/>
          </a:prstGeom>
        </p:spPr>
      </p:pic>
      <p:sp>
        <p:nvSpPr>
          <p:cNvPr id="20" name="ZoneTexte 19"/>
          <p:cNvSpPr txBox="1"/>
          <p:nvPr/>
        </p:nvSpPr>
        <p:spPr>
          <a:xfrm>
            <a:off x="169660" y="3668185"/>
            <a:ext cx="11488366" cy="1477328"/>
          </a:xfrm>
          <a:prstGeom prst="rect">
            <a:avLst/>
          </a:prstGeom>
          <a:noFill/>
        </p:spPr>
        <p:txBody>
          <a:bodyPr wrap="square" rtlCol="0">
            <a:spAutoFit/>
          </a:bodyPr>
          <a:lstStyle/>
          <a:p>
            <a:r>
              <a:rPr lang="fr-FR" dirty="0" smtClean="0"/>
              <a:t>On va ensuite créer une classe </a:t>
            </a:r>
            <a:r>
              <a:rPr lang="fr-FR" i="1" dirty="0" err="1" smtClean="0"/>
              <a:t>QuestionIndexViewTest</a:t>
            </a:r>
            <a:r>
              <a:rPr lang="fr-FR" dirty="0" smtClean="0"/>
              <a:t> héritant de </a:t>
            </a:r>
            <a:r>
              <a:rPr lang="fr-FR" i="1" dirty="0" err="1" smtClean="0"/>
              <a:t>TestCase</a:t>
            </a:r>
            <a:r>
              <a:rPr lang="fr-FR" dirty="0" smtClean="0"/>
              <a:t> afin d’y déclarer nos méthodes de test pour les différents cas : si il n’y a pas de question dans le sondage, si il n’y a que des questions futur, si il n’y qu’une question passé, si il y a une question passé et une question futur et si il y a plusieurs questions passées.</a:t>
            </a:r>
          </a:p>
          <a:p>
            <a:endParaRPr lang="fr-FR" dirty="0"/>
          </a:p>
          <a:p>
            <a:r>
              <a:rPr lang="fr-FR" dirty="0" smtClean="0"/>
              <a:t>Voyons cette classe en détail :</a:t>
            </a:r>
            <a:endParaRPr lang="fr-FR" dirty="0"/>
          </a:p>
        </p:txBody>
      </p:sp>
    </p:spTree>
    <p:extLst>
      <p:ext uri="{BB962C8B-B14F-4D97-AF65-F5344CB8AC3E}">
        <p14:creationId xmlns:p14="http://schemas.microsoft.com/office/powerpoint/2010/main" val="1627672361"/>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Rectangle 16"/>
          <p:cNvSpPr/>
          <p:nvPr/>
        </p:nvSpPr>
        <p:spPr>
          <a:xfrm>
            <a:off x="0" y="675503"/>
            <a:ext cx="12198786" cy="478582"/>
          </a:xfrm>
          <a:prstGeom prst="rect">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22" name="Image 2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002202" y="6540326"/>
            <a:ext cx="253968" cy="253968"/>
          </a:xfrm>
          <a:prstGeom prst="rect">
            <a:avLst/>
          </a:prstGeom>
        </p:spPr>
      </p:pic>
      <p:sp>
        <p:nvSpPr>
          <p:cNvPr id="23" name="ZoneTexte 22"/>
          <p:cNvSpPr txBox="1"/>
          <p:nvPr/>
        </p:nvSpPr>
        <p:spPr>
          <a:xfrm>
            <a:off x="5216109" y="6532276"/>
            <a:ext cx="2664700" cy="307777"/>
          </a:xfrm>
          <a:prstGeom prst="rect">
            <a:avLst/>
          </a:prstGeom>
          <a:noFill/>
        </p:spPr>
        <p:txBody>
          <a:bodyPr wrap="square" rtlCol="0">
            <a:spAutoFit/>
          </a:bodyPr>
          <a:lstStyle/>
          <a:p>
            <a:r>
              <a:rPr lang="fr-FR" sz="1400" dirty="0" smtClean="0">
                <a:solidFill>
                  <a:schemeClr val="tx1">
                    <a:lumMod val="65000"/>
                    <a:lumOff val="35000"/>
                  </a:schemeClr>
                </a:solidFill>
              </a:rPr>
              <a:t>ADRAR Pôle Numérique Occitanie</a:t>
            </a:r>
            <a:endParaRPr lang="fr-FR" sz="1400" dirty="0">
              <a:solidFill>
                <a:schemeClr val="tx1">
                  <a:lumMod val="65000"/>
                  <a:lumOff val="35000"/>
                </a:schemeClr>
              </a:solidFill>
            </a:endParaRPr>
          </a:p>
        </p:txBody>
      </p:sp>
      <p:sp>
        <p:nvSpPr>
          <p:cNvPr id="31" name="ZoneTexte 30"/>
          <p:cNvSpPr txBox="1"/>
          <p:nvPr/>
        </p:nvSpPr>
        <p:spPr>
          <a:xfrm>
            <a:off x="0" y="696885"/>
            <a:ext cx="12198786" cy="384721"/>
          </a:xfrm>
          <a:prstGeom prst="rect">
            <a:avLst/>
          </a:prstGeom>
          <a:noFill/>
        </p:spPr>
        <p:txBody>
          <a:bodyPr wrap="square" rtlCol="0">
            <a:spAutoFit/>
          </a:bodyPr>
          <a:lstStyle/>
          <a:p>
            <a:pPr algn="ctr"/>
            <a:r>
              <a:rPr lang="fr-FR" sz="1600" dirty="0">
                <a:solidFill>
                  <a:schemeClr val="bg1"/>
                </a:solidFill>
              </a:rPr>
              <a:t>Suivez-nous sur </a:t>
            </a:r>
            <a:r>
              <a:rPr lang="fr-FR" sz="1600" dirty="0" err="1">
                <a:solidFill>
                  <a:schemeClr val="bg1"/>
                </a:solidFill>
              </a:rPr>
              <a:t>LinkedIn</a:t>
            </a:r>
            <a:r>
              <a:rPr lang="fr-FR" sz="1600" dirty="0">
                <a:solidFill>
                  <a:schemeClr val="bg1"/>
                </a:solidFill>
              </a:rPr>
              <a:t>             </a:t>
            </a:r>
            <a:r>
              <a:rPr lang="fr-FR" sz="1600" dirty="0" err="1">
                <a:solidFill>
                  <a:schemeClr val="bg1"/>
                </a:solidFill>
              </a:rPr>
              <a:t>Twitter</a:t>
            </a:r>
            <a:r>
              <a:rPr lang="fr-FR" sz="1600" dirty="0">
                <a:solidFill>
                  <a:schemeClr val="bg1"/>
                </a:solidFill>
              </a:rPr>
              <a:t>       </a:t>
            </a:r>
            <a:r>
              <a:rPr lang="fr-FR" sz="1900" b="1" dirty="0">
                <a:solidFill>
                  <a:schemeClr val="bg1">
                    <a:lumMod val="95000"/>
                  </a:schemeClr>
                </a:solidFill>
              </a:rPr>
              <a:t>@</a:t>
            </a:r>
            <a:r>
              <a:rPr lang="fr-FR" sz="1900" b="1" dirty="0" err="1">
                <a:solidFill>
                  <a:schemeClr val="bg1">
                    <a:lumMod val="95000"/>
                  </a:schemeClr>
                </a:solidFill>
              </a:rPr>
              <a:t>Adrar_Numerique</a:t>
            </a:r>
            <a:r>
              <a:rPr lang="fr-FR" sz="1900" dirty="0">
                <a:solidFill>
                  <a:schemeClr val="bg1">
                    <a:lumMod val="95000"/>
                  </a:schemeClr>
                </a:solidFill>
              </a:rPr>
              <a:t>	… </a:t>
            </a:r>
            <a:r>
              <a:rPr lang="fr-FR" sz="1600" dirty="0">
                <a:solidFill>
                  <a:schemeClr val="bg1"/>
                </a:solidFill>
              </a:rPr>
              <a:t>et sur le web : </a:t>
            </a:r>
            <a:r>
              <a:rPr lang="fr-FR" sz="1900" b="1" dirty="0">
                <a:solidFill>
                  <a:schemeClr val="bg1">
                    <a:lumMod val="95000"/>
                  </a:schemeClr>
                </a:solidFill>
              </a:rPr>
              <a:t>www.adrar-numerique.com</a:t>
            </a:r>
          </a:p>
        </p:txBody>
      </p:sp>
      <p:pic>
        <p:nvPicPr>
          <p:cNvPr id="32" name="Image 31"/>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024648" y="762261"/>
            <a:ext cx="266667" cy="253968"/>
          </a:xfrm>
          <a:prstGeom prst="rect">
            <a:avLst/>
          </a:prstGeom>
        </p:spPr>
      </p:pic>
      <p:pic>
        <p:nvPicPr>
          <p:cNvPr id="33" name="Image 32" descr="logo-linkedin.png"/>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2899844" y="783165"/>
            <a:ext cx="285752" cy="285752"/>
          </a:xfrm>
          <a:prstGeom prst="rect">
            <a:avLst/>
          </a:prstGeom>
        </p:spPr>
      </p:pic>
      <p:grpSp>
        <p:nvGrpSpPr>
          <p:cNvPr id="34" name="Groupe 33"/>
          <p:cNvGrpSpPr/>
          <p:nvPr/>
        </p:nvGrpSpPr>
        <p:grpSpPr>
          <a:xfrm>
            <a:off x="70311" y="-41891"/>
            <a:ext cx="12056372" cy="746449"/>
            <a:chOff x="70311" y="-41891"/>
            <a:chExt cx="12056372" cy="746449"/>
          </a:xfrm>
        </p:grpSpPr>
        <p:grpSp>
          <p:nvGrpSpPr>
            <p:cNvPr id="35" name="Groupe 34"/>
            <p:cNvGrpSpPr/>
            <p:nvPr/>
          </p:nvGrpSpPr>
          <p:grpSpPr>
            <a:xfrm>
              <a:off x="70311" y="-41891"/>
              <a:ext cx="12056372" cy="746449"/>
              <a:chOff x="51808" y="-49564"/>
              <a:chExt cx="12056372" cy="746449"/>
            </a:xfrm>
          </p:grpSpPr>
          <p:pic>
            <p:nvPicPr>
              <p:cNvPr id="37" name="Image 36" descr="bien plus.jpg"/>
              <p:cNvPicPr>
                <a:picLocks noChangeAspect="1"/>
              </p:cNvPicPr>
              <p:nvPr/>
            </p:nvPicPr>
            <p:blipFill>
              <a:blip r:embed="rId6" cstate="print"/>
              <a:stretch>
                <a:fillRect/>
              </a:stretch>
            </p:blipFill>
            <p:spPr>
              <a:xfrm>
                <a:off x="4122599" y="228466"/>
                <a:ext cx="1289328" cy="364658"/>
              </a:xfrm>
              <a:prstGeom prst="rect">
                <a:avLst/>
              </a:prstGeom>
            </p:spPr>
          </p:pic>
          <p:pic>
            <p:nvPicPr>
              <p:cNvPr id="38" name="Image 37" descr="personnes-adrar-coul_1.jpg"/>
              <p:cNvPicPr>
                <a:picLocks noChangeAspect="1"/>
              </p:cNvPicPr>
              <p:nvPr/>
            </p:nvPicPr>
            <p:blipFill>
              <a:blip r:embed="rId7" cstate="print"/>
              <a:stretch>
                <a:fillRect/>
              </a:stretch>
            </p:blipFill>
            <p:spPr>
              <a:xfrm>
                <a:off x="5640032" y="95784"/>
                <a:ext cx="510617" cy="506565"/>
              </a:xfrm>
              <a:prstGeom prst="rect">
                <a:avLst/>
              </a:prstGeom>
            </p:spPr>
          </p:pic>
          <p:pic>
            <p:nvPicPr>
              <p:cNvPr id="39" name="Image 38" descr="personnes-adrar-coul_2.jpg"/>
              <p:cNvPicPr>
                <a:picLocks noChangeAspect="1"/>
              </p:cNvPicPr>
              <p:nvPr/>
            </p:nvPicPr>
            <p:blipFill>
              <a:blip r:embed="rId8" cstate="print"/>
              <a:stretch>
                <a:fillRect/>
              </a:stretch>
            </p:blipFill>
            <p:spPr>
              <a:xfrm>
                <a:off x="3441939" y="228467"/>
                <a:ext cx="346861" cy="352500"/>
              </a:xfrm>
              <a:prstGeom prst="rect">
                <a:avLst/>
              </a:prstGeom>
            </p:spPr>
          </p:pic>
          <p:pic>
            <p:nvPicPr>
              <p:cNvPr id="40" name="Image 39" descr="LOGO ADRAR 300dpi.jpg"/>
              <p:cNvPicPr>
                <a:picLocks noChangeAspect="1"/>
              </p:cNvPicPr>
              <p:nvPr/>
            </p:nvPicPr>
            <p:blipFill>
              <a:blip r:embed="rId9" cstate="print"/>
              <a:stretch>
                <a:fillRect/>
              </a:stretch>
            </p:blipFill>
            <p:spPr>
              <a:xfrm>
                <a:off x="51808" y="51259"/>
                <a:ext cx="432261" cy="574815"/>
              </a:xfrm>
              <a:prstGeom prst="rect">
                <a:avLst/>
              </a:prstGeom>
              <a:noFill/>
              <a:ln>
                <a:noFill/>
              </a:ln>
            </p:spPr>
          </p:pic>
          <p:pic>
            <p:nvPicPr>
              <p:cNvPr id="49" name="Image 48" descr="LOGO-ERN-GEN2017-1.png"/>
              <p:cNvPicPr>
                <a:picLocks noChangeAspect="1"/>
              </p:cNvPicPr>
              <p:nvPr/>
            </p:nvPicPr>
            <p:blipFill rotWithShape="1">
              <a:blip r:embed="rId10" cstate="print">
                <a:extLst>
                  <a:ext uri="{28A0092B-C50C-407E-A947-70E740481C1C}">
                    <a14:useLocalDpi xmlns:a14="http://schemas.microsoft.com/office/drawing/2010/main" val="0"/>
                  </a:ext>
                </a:extLst>
              </a:blip>
              <a:srcRect r="19245"/>
              <a:stretch/>
            </p:blipFill>
            <p:spPr>
              <a:xfrm>
                <a:off x="6708147" y="12191"/>
                <a:ext cx="2275425" cy="669355"/>
              </a:xfrm>
              <a:prstGeom prst="rect">
                <a:avLst/>
              </a:prstGeom>
            </p:spPr>
          </p:pic>
          <p:pic>
            <p:nvPicPr>
              <p:cNvPr id="50" name="Image 49" descr="redim-06.png"/>
              <p:cNvPicPr>
                <a:picLocks noChangeAspect="1"/>
              </p:cNvPicPr>
              <p:nvPr/>
            </p:nvPicPr>
            <p:blipFill rotWithShape="1">
              <a:blip r:embed="rId11" cstate="print">
                <a:extLst>
                  <a:ext uri="{28A0092B-C50C-407E-A947-70E740481C1C}">
                    <a14:useLocalDpi xmlns:a14="http://schemas.microsoft.com/office/drawing/2010/main" val="0"/>
                  </a:ext>
                </a:extLst>
              </a:blip>
              <a:srcRect t="28400" b="26267"/>
              <a:stretch/>
            </p:blipFill>
            <p:spPr>
              <a:xfrm>
                <a:off x="10739120" y="30480"/>
                <a:ext cx="1369060" cy="620641"/>
              </a:xfrm>
              <a:prstGeom prst="rect">
                <a:avLst/>
              </a:prstGeom>
            </p:spPr>
          </p:pic>
          <p:pic>
            <p:nvPicPr>
              <p:cNvPr id="51" name="Image 50"/>
              <p:cNvPicPr>
                <a:picLocks noChangeAspect="1"/>
              </p:cNvPicPr>
              <p:nvPr/>
            </p:nvPicPr>
            <p:blipFill rotWithShape="1">
              <a:blip r:embed="rId12" cstate="print">
                <a:extLst>
                  <a:ext uri="{28A0092B-C50C-407E-A947-70E740481C1C}">
                    <a14:useLocalDpi xmlns:a14="http://schemas.microsoft.com/office/drawing/2010/main" val="0"/>
                  </a:ext>
                </a:extLst>
              </a:blip>
              <a:srcRect l="16802" t="22888" r="16244" b="27236"/>
              <a:stretch/>
            </p:blipFill>
            <p:spPr>
              <a:xfrm>
                <a:off x="8974241" y="-49564"/>
                <a:ext cx="1502229" cy="746449"/>
              </a:xfrm>
              <a:prstGeom prst="rect">
                <a:avLst/>
              </a:prstGeom>
            </p:spPr>
          </p:pic>
        </p:grpSp>
        <p:pic>
          <p:nvPicPr>
            <p:cNvPr id="36" name="Image 35"/>
            <p:cNvPicPr>
              <a:picLocks noChangeAspect="1"/>
            </p:cNvPicPr>
            <p:nvPr/>
          </p:nvPicPr>
          <p:blipFill rotWithShape="1">
            <a:blip r:embed="rId13">
              <a:extLst>
                <a:ext uri="{28A0092B-C50C-407E-A947-70E740481C1C}">
                  <a14:useLocalDpi xmlns:a14="http://schemas.microsoft.com/office/drawing/2010/main" val="0"/>
                </a:ext>
              </a:extLst>
            </a:blip>
            <a:srcRect t="22863" b="24898"/>
            <a:stretch/>
          </p:blipFill>
          <p:spPr>
            <a:xfrm>
              <a:off x="680899" y="90649"/>
              <a:ext cx="2612643" cy="537329"/>
            </a:xfrm>
            <a:prstGeom prst="rect">
              <a:avLst/>
            </a:prstGeom>
          </p:spPr>
        </p:pic>
      </p:grpSp>
      <p:pic>
        <p:nvPicPr>
          <p:cNvPr id="2" name="Image 1"/>
          <p:cNvPicPr>
            <a:picLocks noChangeAspect="1"/>
          </p:cNvPicPr>
          <p:nvPr/>
        </p:nvPicPr>
        <p:blipFill>
          <a:blip r:embed="rId14"/>
          <a:stretch>
            <a:fillRect/>
          </a:stretch>
        </p:blipFill>
        <p:spPr>
          <a:xfrm>
            <a:off x="2320517" y="1479147"/>
            <a:ext cx="6219825" cy="1590675"/>
          </a:xfrm>
          <a:prstGeom prst="rect">
            <a:avLst/>
          </a:prstGeom>
        </p:spPr>
      </p:pic>
      <p:sp>
        <p:nvSpPr>
          <p:cNvPr id="21" name="ZoneTexte 20"/>
          <p:cNvSpPr txBox="1"/>
          <p:nvPr/>
        </p:nvSpPr>
        <p:spPr>
          <a:xfrm>
            <a:off x="286441" y="3601566"/>
            <a:ext cx="11474397" cy="1477328"/>
          </a:xfrm>
          <a:prstGeom prst="rect">
            <a:avLst/>
          </a:prstGeom>
          <a:noFill/>
        </p:spPr>
        <p:txBody>
          <a:bodyPr wrap="square" rtlCol="0">
            <a:spAutoFit/>
          </a:bodyPr>
          <a:lstStyle/>
          <a:p>
            <a:r>
              <a:rPr lang="fr-FR" dirty="0" smtClean="0"/>
              <a:t>Nos méthodes définissent toutes un objet </a:t>
            </a:r>
            <a:r>
              <a:rPr lang="fr-FR" i="1" dirty="0" err="1" smtClean="0"/>
              <a:t>response</a:t>
            </a:r>
            <a:r>
              <a:rPr lang="fr-FR" dirty="0" smtClean="0"/>
              <a:t> qui va être une simulation d’accès à notre page index par un client.</a:t>
            </a:r>
          </a:p>
          <a:p>
            <a:r>
              <a:rPr lang="fr-FR" dirty="0" smtClean="0"/>
              <a:t>Avec notre méthode </a:t>
            </a:r>
            <a:r>
              <a:rPr lang="fr-FR" i="1" dirty="0" err="1" smtClean="0"/>
              <a:t>assertEqual</a:t>
            </a:r>
            <a:r>
              <a:rPr lang="fr-FR" dirty="0" smtClean="0"/>
              <a:t> on test si le code de réponse de statut est bien 200.</a:t>
            </a:r>
          </a:p>
          <a:p>
            <a:r>
              <a:rPr lang="fr-FR" dirty="0" smtClean="0"/>
              <a:t>Avec </a:t>
            </a:r>
            <a:r>
              <a:rPr lang="fr-FR" i="1" dirty="0" err="1" smtClean="0"/>
              <a:t>assertContains</a:t>
            </a:r>
            <a:r>
              <a:rPr lang="fr-FR" dirty="0" smtClean="0"/>
              <a:t> on vérifie que, dans le cas où on a pas créé de question, la réponse contient bien « Pas de sondage disponible. » (car c’est ce que nous avons indiqué dans notre </a:t>
            </a:r>
            <a:r>
              <a:rPr lang="fr-FR" dirty="0" err="1" smtClean="0"/>
              <a:t>template</a:t>
            </a:r>
            <a:r>
              <a:rPr lang="fr-FR" dirty="0" smtClean="0"/>
              <a:t> index.html si il n’y a pas de question).</a:t>
            </a:r>
          </a:p>
          <a:p>
            <a:r>
              <a:rPr lang="fr-FR" dirty="0" smtClean="0"/>
              <a:t>Avec </a:t>
            </a:r>
            <a:r>
              <a:rPr lang="fr-FR" i="1" dirty="0" err="1" smtClean="0"/>
              <a:t>assertQuerySetEqual</a:t>
            </a:r>
            <a:r>
              <a:rPr lang="fr-FR" dirty="0" smtClean="0"/>
              <a:t> on vérifie que dans le </a:t>
            </a:r>
            <a:r>
              <a:rPr lang="fr-FR" dirty="0" err="1" smtClean="0"/>
              <a:t>context</a:t>
            </a:r>
            <a:r>
              <a:rPr lang="fr-FR" dirty="0" smtClean="0"/>
              <a:t> </a:t>
            </a:r>
            <a:r>
              <a:rPr lang="fr-FR" i="1" dirty="0" err="1" smtClean="0"/>
              <a:t>question_list</a:t>
            </a:r>
            <a:r>
              <a:rPr lang="fr-FR" dirty="0" smtClean="0"/>
              <a:t> il y a bien une liste vide</a:t>
            </a:r>
            <a:endParaRPr lang="fr-FR" dirty="0"/>
          </a:p>
        </p:txBody>
      </p:sp>
    </p:spTree>
    <p:extLst>
      <p:ext uri="{BB962C8B-B14F-4D97-AF65-F5344CB8AC3E}">
        <p14:creationId xmlns:p14="http://schemas.microsoft.com/office/powerpoint/2010/main" val="874594036"/>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Rectangle 16"/>
          <p:cNvSpPr/>
          <p:nvPr/>
        </p:nvSpPr>
        <p:spPr>
          <a:xfrm>
            <a:off x="0" y="675503"/>
            <a:ext cx="12198786" cy="478582"/>
          </a:xfrm>
          <a:prstGeom prst="rect">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22" name="Image 2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002202" y="6540326"/>
            <a:ext cx="253968" cy="253968"/>
          </a:xfrm>
          <a:prstGeom prst="rect">
            <a:avLst/>
          </a:prstGeom>
        </p:spPr>
      </p:pic>
      <p:sp>
        <p:nvSpPr>
          <p:cNvPr id="23" name="ZoneTexte 22"/>
          <p:cNvSpPr txBox="1"/>
          <p:nvPr/>
        </p:nvSpPr>
        <p:spPr>
          <a:xfrm>
            <a:off x="5216109" y="6532276"/>
            <a:ext cx="2664700" cy="307777"/>
          </a:xfrm>
          <a:prstGeom prst="rect">
            <a:avLst/>
          </a:prstGeom>
          <a:noFill/>
        </p:spPr>
        <p:txBody>
          <a:bodyPr wrap="square" rtlCol="0">
            <a:spAutoFit/>
          </a:bodyPr>
          <a:lstStyle/>
          <a:p>
            <a:r>
              <a:rPr lang="fr-FR" sz="1400" dirty="0" smtClean="0">
                <a:solidFill>
                  <a:schemeClr val="tx1">
                    <a:lumMod val="65000"/>
                    <a:lumOff val="35000"/>
                  </a:schemeClr>
                </a:solidFill>
              </a:rPr>
              <a:t>ADRAR Pôle Numérique Occitanie</a:t>
            </a:r>
            <a:endParaRPr lang="fr-FR" sz="1400" dirty="0">
              <a:solidFill>
                <a:schemeClr val="tx1">
                  <a:lumMod val="65000"/>
                  <a:lumOff val="35000"/>
                </a:schemeClr>
              </a:solidFill>
            </a:endParaRPr>
          </a:p>
        </p:txBody>
      </p:sp>
      <p:sp>
        <p:nvSpPr>
          <p:cNvPr id="31" name="ZoneTexte 30"/>
          <p:cNvSpPr txBox="1"/>
          <p:nvPr/>
        </p:nvSpPr>
        <p:spPr>
          <a:xfrm>
            <a:off x="0" y="696885"/>
            <a:ext cx="12198786" cy="384721"/>
          </a:xfrm>
          <a:prstGeom prst="rect">
            <a:avLst/>
          </a:prstGeom>
          <a:noFill/>
        </p:spPr>
        <p:txBody>
          <a:bodyPr wrap="square" rtlCol="0">
            <a:spAutoFit/>
          </a:bodyPr>
          <a:lstStyle/>
          <a:p>
            <a:pPr algn="ctr"/>
            <a:r>
              <a:rPr lang="fr-FR" sz="1600" dirty="0">
                <a:solidFill>
                  <a:schemeClr val="bg1"/>
                </a:solidFill>
              </a:rPr>
              <a:t>Suivez-nous sur </a:t>
            </a:r>
            <a:r>
              <a:rPr lang="fr-FR" sz="1600" dirty="0" err="1">
                <a:solidFill>
                  <a:schemeClr val="bg1"/>
                </a:solidFill>
              </a:rPr>
              <a:t>LinkedIn</a:t>
            </a:r>
            <a:r>
              <a:rPr lang="fr-FR" sz="1600" dirty="0">
                <a:solidFill>
                  <a:schemeClr val="bg1"/>
                </a:solidFill>
              </a:rPr>
              <a:t>             </a:t>
            </a:r>
            <a:r>
              <a:rPr lang="fr-FR" sz="1600" dirty="0" err="1">
                <a:solidFill>
                  <a:schemeClr val="bg1"/>
                </a:solidFill>
              </a:rPr>
              <a:t>Twitter</a:t>
            </a:r>
            <a:r>
              <a:rPr lang="fr-FR" sz="1600" dirty="0">
                <a:solidFill>
                  <a:schemeClr val="bg1"/>
                </a:solidFill>
              </a:rPr>
              <a:t>       </a:t>
            </a:r>
            <a:r>
              <a:rPr lang="fr-FR" sz="1900" b="1" dirty="0">
                <a:solidFill>
                  <a:schemeClr val="bg1">
                    <a:lumMod val="95000"/>
                  </a:schemeClr>
                </a:solidFill>
              </a:rPr>
              <a:t>@</a:t>
            </a:r>
            <a:r>
              <a:rPr lang="fr-FR" sz="1900" b="1" dirty="0" err="1">
                <a:solidFill>
                  <a:schemeClr val="bg1">
                    <a:lumMod val="95000"/>
                  </a:schemeClr>
                </a:solidFill>
              </a:rPr>
              <a:t>Adrar_Numerique</a:t>
            </a:r>
            <a:r>
              <a:rPr lang="fr-FR" sz="1900" dirty="0">
                <a:solidFill>
                  <a:schemeClr val="bg1">
                    <a:lumMod val="95000"/>
                  </a:schemeClr>
                </a:solidFill>
              </a:rPr>
              <a:t>	… </a:t>
            </a:r>
            <a:r>
              <a:rPr lang="fr-FR" sz="1600" dirty="0">
                <a:solidFill>
                  <a:schemeClr val="bg1"/>
                </a:solidFill>
              </a:rPr>
              <a:t>et sur le web : </a:t>
            </a:r>
            <a:r>
              <a:rPr lang="fr-FR" sz="1900" b="1" dirty="0">
                <a:solidFill>
                  <a:schemeClr val="bg1">
                    <a:lumMod val="95000"/>
                  </a:schemeClr>
                </a:solidFill>
              </a:rPr>
              <a:t>www.adrar-numerique.com</a:t>
            </a:r>
          </a:p>
        </p:txBody>
      </p:sp>
      <p:pic>
        <p:nvPicPr>
          <p:cNvPr id="32" name="Image 31"/>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024648" y="762261"/>
            <a:ext cx="266667" cy="253968"/>
          </a:xfrm>
          <a:prstGeom prst="rect">
            <a:avLst/>
          </a:prstGeom>
        </p:spPr>
      </p:pic>
      <p:pic>
        <p:nvPicPr>
          <p:cNvPr id="33" name="Image 32" descr="logo-linkedin.png"/>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2899844" y="783165"/>
            <a:ext cx="285752" cy="285752"/>
          </a:xfrm>
          <a:prstGeom prst="rect">
            <a:avLst/>
          </a:prstGeom>
        </p:spPr>
      </p:pic>
      <p:grpSp>
        <p:nvGrpSpPr>
          <p:cNvPr id="34" name="Groupe 33"/>
          <p:cNvGrpSpPr/>
          <p:nvPr/>
        </p:nvGrpSpPr>
        <p:grpSpPr>
          <a:xfrm>
            <a:off x="70311" y="-41891"/>
            <a:ext cx="12056372" cy="746449"/>
            <a:chOff x="70311" y="-41891"/>
            <a:chExt cx="12056372" cy="746449"/>
          </a:xfrm>
        </p:grpSpPr>
        <p:grpSp>
          <p:nvGrpSpPr>
            <p:cNvPr id="35" name="Groupe 34"/>
            <p:cNvGrpSpPr/>
            <p:nvPr/>
          </p:nvGrpSpPr>
          <p:grpSpPr>
            <a:xfrm>
              <a:off x="70311" y="-41891"/>
              <a:ext cx="12056372" cy="746449"/>
              <a:chOff x="51808" y="-49564"/>
              <a:chExt cx="12056372" cy="746449"/>
            </a:xfrm>
          </p:grpSpPr>
          <p:pic>
            <p:nvPicPr>
              <p:cNvPr id="37" name="Image 36" descr="bien plus.jpg"/>
              <p:cNvPicPr>
                <a:picLocks noChangeAspect="1"/>
              </p:cNvPicPr>
              <p:nvPr/>
            </p:nvPicPr>
            <p:blipFill>
              <a:blip r:embed="rId6" cstate="print"/>
              <a:stretch>
                <a:fillRect/>
              </a:stretch>
            </p:blipFill>
            <p:spPr>
              <a:xfrm>
                <a:off x="4122599" y="228466"/>
                <a:ext cx="1289328" cy="364658"/>
              </a:xfrm>
              <a:prstGeom prst="rect">
                <a:avLst/>
              </a:prstGeom>
            </p:spPr>
          </p:pic>
          <p:pic>
            <p:nvPicPr>
              <p:cNvPr id="38" name="Image 37" descr="personnes-adrar-coul_1.jpg"/>
              <p:cNvPicPr>
                <a:picLocks noChangeAspect="1"/>
              </p:cNvPicPr>
              <p:nvPr/>
            </p:nvPicPr>
            <p:blipFill>
              <a:blip r:embed="rId7" cstate="print"/>
              <a:stretch>
                <a:fillRect/>
              </a:stretch>
            </p:blipFill>
            <p:spPr>
              <a:xfrm>
                <a:off x="5640032" y="95784"/>
                <a:ext cx="510617" cy="506565"/>
              </a:xfrm>
              <a:prstGeom prst="rect">
                <a:avLst/>
              </a:prstGeom>
            </p:spPr>
          </p:pic>
          <p:pic>
            <p:nvPicPr>
              <p:cNvPr id="39" name="Image 38" descr="personnes-adrar-coul_2.jpg"/>
              <p:cNvPicPr>
                <a:picLocks noChangeAspect="1"/>
              </p:cNvPicPr>
              <p:nvPr/>
            </p:nvPicPr>
            <p:blipFill>
              <a:blip r:embed="rId8" cstate="print"/>
              <a:stretch>
                <a:fillRect/>
              </a:stretch>
            </p:blipFill>
            <p:spPr>
              <a:xfrm>
                <a:off x="3441939" y="228467"/>
                <a:ext cx="346861" cy="352500"/>
              </a:xfrm>
              <a:prstGeom prst="rect">
                <a:avLst/>
              </a:prstGeom>
            </p:spPr>
          </p:pic>
          <p:pic>
            <p:nvPicPr>
              <p:cNvPr id="40" name="Image 39" descr="LOGO ADRAR 300dpi.jpg"/>
              <p:cNvPicPr>
                <a:picLocks noChangeAspect="1"/>
              </p:cNvPicPr>
              <p:nvPr/>
            </p:nvPicPr>
            <p:blipFill>
              <a:blip r:embed="rId9" cstate="print"/>
              <a:stretch>
                <a:fillRect/>
              </a:stretch>
            </p:blipFill>
            <p:spPr>
              <a:xfrm>
                <a:off x="51808" y="51259"/>
                <a:ext cx="432261" cy="574815"/>
              </a:xfrm>
              <a:prstGeom prst="rect">
                <a:avLst/>
              </a:prstGeom>
              <a:noFill/>
              <a:ln>
                <a:noFill/>
              </a:ln>
            </p:spPr>
          </p:pic>
          <p:pic>
            <p:nvPicPr>
              <p:cNvPr id="49" name="Image 48" descr="LOGO-ERN-GEN2017-1.png"/>
              <p:cNvPicPr>
                <a:picLocks noChangeAspect="1"/>
              </p:cNvPicPr>
              <p:nvPr/>
            </p:nvPicPr>
            <p:blipFill rotWithShape="1">
              <a:blip r:embed="rId10" cstate="print">
                <a:extLst>
                  <a:ext uri="{28A0092B-C50C-407E-A947-70E740481C1C}">
                    <a14:useLocalDpi xmlns:a14="http://schemas.microsoft.com/office/drawing/2010/main" val="0"/>
                  </a:ext>
                </a:extLst>
              </a:blip>
              <a:srcRect r="19245"/>
              <a:stretch/>
            </p:blipFill>
            <p:spPr>
              <a:xfrm>
                <a:off x="6708147" y="12191"/>
                <a:ext cx="2275425" cy="669355"/>
              </a:xfrm>
              <a:prstGeom prst="rect">
                <a:avLst/>
              </a:prstGeom>
            </p:spPr>
          </p:pic>
          <p:pic>
            <p:nvPicPr>
              <p:cNvPr id="50" name="Image 49" descr="redim-06.png"/>
              <p:cNvPicPr>
                <a:picLocks noChangeAspect="1"/>
              </p:cNvPicPr>
              <p:nvPr/>
            </p:nvPicPr>
            <p:blipFill rotWithShape="1">
              <a:blip r:embed="rId11" cstate="print">
                <a:extLst>
                  <a:ext uri="{28A0092B-C50C-407E-A947-70E740481C1C}">
                    <a14:useLocalDpi xmlns:a14="http://schemas.microsoft.com/office/drawing/2010/main" val="0"/>
                  </a:ext>
                </a:extLst>
              </a:blip>
              <a:srcRect t="28400" b="26267"/>
              <a:stretch/>
            </p:blipFill>
            <p:spPr>
              <a:xfrm>
                <a:off x="10739120" y="30480"/>
                <a:ext cx="1369060" cy="620641"/>
              </a:xfrm>
              <a:prstGeom prst="rect">
                <a:avLst/>
              </a:prstGeom>
            </p:spPr>
          </p:pic>
          <p:pic>
            <p:nvPicPr>
              <p:cNvPr id="51" name="Image 50"/>
              <p:cNvPicPr>
                <a:picLocks noChangeAspect="1"/>
              </p:cNvPicPr>
              <p:nvPr/>
            </p:nvPicPr>
            <p:blipFill rotWithShape="1">
              <a:blip r:embed="rId12" cstate="print">
                <a:extLst>
                  <a:ext uri="{28A0092B-C50C-407E-A947-70E740481C1C}">
                    <a14:useLocalDpi xmlns:a14="http://schemas.microsoft.com/office/drawing/2010/main" val="0"/>
                  </a:ext>
                </a:extLst>
              </a:blip>
              <a:srcRect l="16802" t="22888" r="16244" b="27236"/>
              <a:stretch/>
            </p:blipFill>
            <p:spPr>
              <a:xfrm>
                <a:off x="8974241" y="-49564"/>
                <a:ext cx="1502229" cy="746449"/>
              </a:xfrm>
              <a:prstGeom prst="rect">
                <a:avLst/>
              </a:prstGeom>
            </p:spPr>
          </p:pic>
        </p:grpSp>
        <p:pic>
          <p:nvPicPr>
            <p:cNvPr id="36" name="Image 35"/>
            <p:cNvPicPr>
              <a:picLocks noChangeAspect="1"/>
            </p:cNvPicPr>
            <p:nvPr/>
          </p:nvPicPr>
          <p:blipFill rotWithShape="1">
            <a:blip r:embed="rId13">
              <a:extLst>
                <a:ext uri="{28A0092B-C50C-407E-A947-70E740481C1C}">
                  <a14:useLocalDpi xmlns:a14="http://schemas.microsoft.com/office/drawing/2010/main" val="0"/>
                </a:ext>
              </a:extLst>
            </a:blip>
            <a:srcRect t="22863" b="24898"/>
            <a:stretch/>
          </p:blipFill>
          <p:spPr>
            <a:xfrm>
              <a:off x="680899" y="90649"/>
              <a:ext cx="2612643" cy="537329"/>
            </a:xfrm>
            <a:prstGeom prst="rect">
              <a:avLst/>
            </a:prstGeom>
          </p:spPr>
        </p:pic>
      </p:grpSp>
      <p:pic>
        <p:nvPicPr>
          <p:cNvPr id="18" name="Image 17"/>
          <p:cNvPicPr>
            <a:picLocks noChangeAspect="1"/>
          </p:cNvPicPr>
          <p:nvPr/>
        </p:nvPicPr>
        <p:blipFill>
          <a:blip r:embed="rId14"/>
          <a:stretch>
            <a:fillRect/>
          </a:stretch>
        </p:blipFill>
        <p:spPr>
          <a:xfrm>
            <a:off x="502572" y="1395101"/>
            <a:ext cx="6867525" cy="1038225"/>
          </a:xfrm>
          <a:prstGeom prst="rect">
            <a:avLst/>
          </a:prstGeom>
        </p:spPr>
      </p:pic>
      <p:pic>
        <p:nvPicPr>
          <p:cNvPr id="19" name="Image 18"/>
          <p:cNvPicPr>
            <a:picLocks noChangeAspect="1"/>
          </p:cNvPicPr>
          <p:nvPr/>
        </p:nvPicPr>
        <p:blipFill>
          <a:blip r:embed="rId15"/>
          <a:stretch>
            <a:fillRect/>
          </a:stretch>
        </p:blipFill>
        <p:spPr>
          <a:xfrm>
            <a:off x="502572" y="2477661"/>
            <a:ext cx="6143625" cy="1257300"/>
          </a:xfrm>
          <a:prstGeom prst="rect">
            <a:avLst/>
          </a:prstGeom>
        </p:spPr>
      </p:pic>
      <p:sp>
        <p:nvSpPr>
          <p:cNvPr id="20" name="ZoneTexte 19"/>
          <p:cNvSpPr txBox="1"/>
          <p:nvPr/>
        </p:nvSpPr>
        <p:spPr>
          <a:xfrm>
            <a:off x="286441" y="3951400"/>
            <a:ext cx="11474397" cy="2308324"/>
          </a:xfrm>
          <a:prstGeom prst="rect">
            <a:avLst/>
          </a:prstGeom>
          <a:noFill/>
        </p:spPr>
        <p:txBody>
          <a:bodyPr wrap="square" rtlCol="0">
            <a:spAutoFit/>
          </a:bodyPr>
          <a:lstStyle/>
          <a:p>
            <a:r>
              <a:rPr lang="fr-FR" dirty="0" smtClean="0"/>
              <a:t>Pour la méthode </a:t>
            </a:r>
            <a:r>
              <a:rPr lang="fr-FR" i="1" dirty="0" err="1" smtClean="0"/>
              <a:t>test_past_question</a:t>
            </a:r>
            <a:r>
              <a:rPr lang="fr-FR" i="1" dirty="0" smtClean="0"/>
              <a:t> </a:t>
            </a:r>
            <a:r>
              <a:rPr lang="fr-FR" dirty="0" smtClean="0"/>
              <a:t>nous commençons par créer une question donc la date de publication est </a:t>
            </a:r>
            <a:r>
              <a:rPr lang="fr-FR" dirty="0" smtClean="0"/>
              <a:t>antérieur </a:t>
            </a:r>
            <a:r>
              <a:rPr lang="fr-FR" dirty="0" smtClean="0"/>
              <a:t>à la date d’aujourd’hui.</a:t>
            </a:r>
          </a:p>
          <a:p>
            <a:r>
              <a:rPr lang="fr-FR" dirty="0" smtClean="0"/>
              <a:t>Nous testons ensuite, via la méthode </a:t>
            </a:r>
            <a:r>
              <a:rPr lang="fr-FR" i="1" dirty="0" err="1" smtClean="0"/>
              <a:t>assertQuerySetEqual</a:t>
            </a:r>
            <a:r>
              <a:rPr lang="fr-FR" dirty="0" smtClean="0"/>
              <a:t> que dans le contexte </a:t>
            </a:r>
            <a:r>
              <a:rPr lang="fr-FR" i="1" dirty="0" err="1" smtClean="0"/>
              <a:t>question_list</a:t>
            </a:r>
            <a:r>
              <a:rPr lang="fr-FR" dirty="0"/>
              <a:t> </a:t>
            </a:r>
            <a:r>
              <a:rPr lang="fr-FR" dirty="0" smtClean="0"/>
              <a:t>il y a bien la question créée.</a:t>
            </a:r>
          </a:p>
          <a:p>
            <a:endParaRPr lang="fr-FR" dirty="0" smtClean="0"/>
          </a:p>
          <a:p>
            <a:r>
              <a:rPr lang="fr-FR" dirty="0"/>
              <a:t>Pour la méthode </a:t>
            </a:r>
            <a:r>
              <a:rPr lang="fr-FR" i="1" dirty="0" err="1" smtClean="0"/>
              <a:t>test_futur_question</a:t>
            </a:r>
            <a:r>
              <a:rPr lang="fr-FR" i="1" dirty="0" smtClean="0"/>
              <a:t> </a:t>
            </a:r>
            <a:r>
              <a:rPr lang="fr-FR" dirty="0"/>
              <a:t>nous commençons par créer une question donc la date de publication est </a:t>
            </a:r>
            <a:r>
              <a:rPr lang="fr-FR" dirty="0" smtClean="0"/>
              <a:t>supérieur à </a:t>
            </a:r>
            <a:r>
              <a:rPr lang="fr-FR" dirty="0"/>
              <a:t>la date d’aujourd’hui.</a:t>
            </a:r>
          </a:p>
          <a:p>
            <a:r>
              <a:rPr lang="fr-FR" dirty="0"/>
              <a:t>Nous testons ensuite, via la méthode </a:t>
            </a:r>
            <a:r>
              <a:rPr lang="fr-FR" i="1" dirty="0" err="1"/>
              <a:t>assertQuerySetEqual</a:t>
            </a:r>
            <a:r>
              <a:rPr lang="fr-FR" dirty="0"/>
              <a:t> que dans le contexte </a:t>
            </a:r>
            <a:r>
              <a:rPr lang="fr-FR" i="1" dirty="0" err="1"/>
              <a:t>question_list</a:t>
            </a:r>
            <a:r>
              <a:rPr lang="fr-FR" dirty="0"/>
              <a:t> il </a:t>
            </a:r>
            <a:r>
              <a:rPr lang="fr-FR" dirty="0" smtClean="0"/>
              <a:t>n’y a rien du tout.</a:t>
            </a:r>
            <a:endParaRPr lang="fr-FR" dirty="0"/>
          </a:p>
          <a:p>
            <a:endParaRPr lang="fr-FR" dirty="0"/>
          </a:p>
        </p:txBody>
      </p:sp>
    </p:spTree>
    <p:extLst>
      <p:ext uri="{BB962C8B-B14F-4D97-AF65-F5344CB8AC3E}">
        <p14:creationId xmlns:p14="http://schemas.microsoft.com/office/powerpoint/2010/main" val="3177012883"/>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Rectangle 16"/>
          <p:cNvSpPr/>
          <p:nvPr/>
        </p:nvSpPr>
        <p:spPr>
          <a:xfrm>
            <a:off x="0" y="675503"/>
            <a:ext cx="12198786" cy="478582"/>
          </a:xfrm>
          <a:prstGeom prst="rect">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22" name="Image 2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002202" y="6540326"/>
            <a:ext cx="253968" cy="253968"/>
          </a:xfrm>
          <a:prstGeom prst="rect">
            <a:avLst/>
          </a:prstGeom>
        </p:spPr>
      </p:pic>
      <p:sp>
        <p:nvSpPr>
          <p:cNvPr id="23" name="ZoneTexte 22"/>
          <p:cNvSpPr txBox="1"/>
          <p:nvPr/>
        </p:nvSpPr>
        <p:spPr>
          <a:xfrm>
            <a:off x="5216109" y="6532276"/>
            <a:ext cx="2664700" cy="307777"/>
          </a:xfrm>
          <a:prstGeom prst="rect">
            <a:avLst/>
          </a:prstGeom>
          <a:noFill/>
        </p:spPr>
        <p:txBody>
          <a:bodyPr wrap="square" rtlCol="0">
            <a:spAutoFit/>
          </a:bodyPr>
          <a:lstStyle/>
          <a:p>
            <a:r>
              <a:rPr lang="fr-FR" sz="1400" dirty="0" smtClean="0">
                <a:solidFill>
                  <a:schemeClr val="tx1">
                    <a:lumMod val="65000"/>
                    <a:lumOff val="35000"/>
                  </a:schemeClr>
                </a:solidFill>
              </a:rPr>
              <a:t>ADRAR Pôle Numérique Occitanie</a:t>
            </a:r>
            <a:endParaRPr lang="fr-FR" sz="1400" dirty="0">
              <a:solidFill>
                <a:schemeClr val="tx1">
                  <a:lumMod val="65000"/>
                  <a:lumOff val="35000"/>
                </a:schemeClr>
              </a:solidFill>
            </a:endParaRPr>
          </a:p>
        </p:txBody>
      </p:sp>
      <p:sp>
        <p:nvSpPr>
          <p:cNvPr id="31" name="ZoneTexte 30"/>
          <p:cNvSpPr txBox="1"/>
          <p:nvPr/>
        </p:nvSpPr>
        <p:spPr>
          <a:xfrm>
            <a:off x="0" y="696885"/>
            <a:ext cx="12198786" cy="384721"/>
          </a:xfrm>
          <a:prstGeom prst="rect">
            <a:avLst/>
          </a:prstGeom>
          <a:noFill/>
        </p:spPr>
        <p:txBody>
          <a:bodyPr wrap="square" rtlCol="0">
            <a:spAutoFit/>
          </a:bodyPr>
          <a:lstStyle/>
          <a:p>
            <a:pPr algn="ctr"/>
            <a:r>
              <a:rPr lang="fr-FR" sz="1600" dirty="0">
                <a:solidFill>
                  <a:schemeClr val="bg1"/>
                </a:solidFill>
              </a:rPr>
              <a:t>Suivez-nous sur </a:t>
            </a:r>
            <a:r>
              <a:rPr lang="fr-FR" sz="1600" dirty="0" err="1">
                <a:solidFill>
                  <a:schemeClr val="bg1"/>
                </a:solidFill>
              </a:rPr>
              <a:t>LinkedIn</a:t>
            </a:r>
            <a:r>
              <a:rPr lang="fr-FR" sz="1600" dirty="0">
                <a:solidFill>
                  <a:schemeClr val="bg1"/>
                </a:solidFill>
              </a:rPr>
              <a:t>             </a:t>
            </a:r>
            <a:r>
              <a:rPr lang="fr-FR" sz="1600" dirty="0" err="1">
                <a:solidFill>
                  <a:schemeClr val="bg1"/>
                </a:solidFill>
              </a:rPr>
              <a:t>Twitter</a:t>
            </a:r>
            <a:r>
              <a:rPr lang="fr-FR" sz="1600" dirty="0">
                <a:solidFill>
                  <a:schemeClr val="bg1"/>
                </a:solidFill>
              </a:rPr>
              <a:t>       </a:t>
            </a:r>
            <a:r>
              <a:rPr lang="fr-FR" sz="1900" b="1" dirty="0">
                <a:solidFill>
                  <a:schemeClr val="bg1">
                    <a:lumMod val="95000"/>
                  </a:schemeClr>
                </a:solidFill>
              </a:rPr>
              <a:t>@</a:t>
            </a:r>
            <a:r>
              <a:rPr lang="fr-FR" sz="1900" b="1" dirty="0" err="1">
                <a:solidFill>
                  <a:schemeClr val="bg1">
                    <a:lumMod val="95000"/>
                  </a:schemeClr>
                </a:solidFill>
              </a:rPr>
              <a:t>Adrar_Numerique</a:t>
            </a:r>
            <a:r>
              <a:rPr lang="fr-FR" sz="1900" dirty="0">
                <a:solidFill>
                  <a:schemeClr val="bg1">
                    <a:lumMod val="95000"/>
                  </a:schemeClr>
                </a:solidFill>
              </a:rPr>
              <a:t>	… </a:t>
            </a:r>
            <a:r>
              <a:rPr lang="fr-FR" sz="1600" dirty="0">
                <a:solidFill>
                  <a:schemeClr val="bg1"/>
                </a:solidFill>
              </a:rPr>
              <a:t>et sur le web : </a:t>
            </a:r>
            <a:r>
              <a:rPr lang="fr-FR" sz="1900" b="1" dirty="0">
                <a:solidFill>
                  <a:schemeClr val="bg1">
                    <a:lumMod val="95000"/>
                  </a:schemeClr>
                </a:solidFill>
              </a:rPr>
              <a:t>www.adrar-numerique.com</a:t>
            </a:r>
          </a:p>
        </p:txBody>
      </p:sp>
      <p:pic>
        <p:nvPicPr>
          <p:cNvPr id="32" name="Image 31"/>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024648" y="762261"/>
            <a:ext cx="266667" cy="253968"/>
          </a:xfrm>
          <a:prstGeom prst="rect">
            <a:avLst/>
          </a:prstGeom>
        </p:spPr>
      </p:pic>
      <p:pic>
        <p:nvPicPr>
          <p:cNvPr id="33" name="Image 32" descr="logo-linkedin.png"/>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2899844" y="783165"/>
            <a:ext cx="285752" cy="285752"/>
          </a:xfrm>
          <a:prstGeom prst="rect">
            <a:avLst/>
          </a:prstGeom>
        </p:spPr>
      </p:pic>
      <p:grpSp>
        <p:nvGrpSpPr>
          <p:cNvPr id="34" name="Groupe 33"/>
          <p:cNvGrpSpPr/>
          <p:nvPr/>
        </p:nvGrpSpPr>
        <p:grpSpPr>
          <a:xfrm>
            <a:off x="70311" y="-41891"/>
            <a:ext cx="12056372" cy="746449"/>
            <a:chOff x="70311" y="-41891"/>
            <a:chExt cx="12056372" cy="746449"/>
          </a:xfrm>
        </p:grpSpPr>
        <p:grpSp>
          <p:nvGrpSpPr>
            <p:cNvPr id="35" name="Groupe 34"/>
            <p:cNvGrpSpPr/>
            <p:nvPr/>
          </p:nvGrpSpPr>
          <p:grpSpPr>
            <a:xfrm>
              <a:off x="70311" y="-41891"/>
              <a:ext cx="12056372" cy="746449"/>
              <a:chOff x="51808" y="-49564"/>
              <a:chExt cx="12056372" cy="746449"/>
            </a:xfrm>
          </p:grpSpPr>
          <p:pic>
            <p:nvPicPr>
              <p:cNvPr id="37" name="Image 36" descr="bien plus.jpg"/>
              <p:cNvPicPr>
                <a:picLocks noChangeAspect="1"/>
              </p:cNvPicPr>
              <p:nvPr/>
            </p:nvPicPr>
            <p:blipFill>
              <a:blip r:embed="rId6" cstate="print"/>
              <a:stretch>
                <a:fillRect/>
              </a:stretch>
            </p:blipFill>
            <p:spPr>
              <a:xfrm>
                <a:off x="4122599" y="228466"/>
                <a:ext cx="1289328" cy="364658"/>
              </a:xfrm>
              <a:prstGeom prst="rect">
                <a:avLst/>
              </a:prstGeom>
            </p:spPr>
          </p:pic>
          <p:pic>
            <p:nvPicPr>
              <p:cNvPr id="38" name="Image 37" descr="personnes-adrar-coul_1.jpg"/>
              <p:cNvPicPr>
                <a:picLocks noChangeAspect="1"/>
              </p:cNvPicPr>
              <p:nvPr/>
            </p:nvPicPr>
            <p:blipFill>
              <a:blip r:embed="rId7" cstate="print"/>
              <a:stretch>
                <a:fillRect/>
              </a:stretch>
            </p:blipFill>
            <p:spPr>
              <a:xfrm>
                <a:off x="5640032" y="95784"/>
                <a:ext cx="510617" cy="506565"/>
              </a:xfrm>
              <a:prstGeom prst="rect">
                <a:avLst/>
              </a:prstGeom>
            </p:spPr>
          </p:pic>
          <p:pic>
            <p:nvPicPr>
              <p:cNvPr id="39" name="Image 38" descr="personnes-adrar-coul_2.jpg"/>
              <p:cNvPicPr>
                <a:picLocks noChangeAspect="1"/>
              </p:cNvPicPr>
              <p:nvPr/>
            </p:nvPicPr>
            <p:blipFill>
              <a:blip r:embed="rId8" cstate="print"/>
              <a:stretch>
                <a:fillRect/>
              </a:stretch>
            </p:blipFill>
            <p:spPr>
              <a:xfrm>
                <a:off x="3441939" y="228467"/>
                <a:ext cx="346861" cy="352500"/>
              </a:xfrm>
              <a:prstGeom prst="rect">
                <a:avLst/>
              </a:prstGeom>
            </p:spPr>
          </p:pic>
          <p:pic>
            <p:nvPicPr>
              <p:cNvPr id="40" name="Image 39" descr="LOGO ADRAR 300dpi.jpg"/>
              <p:cNvPicPr>
                <a:picLocks noChangeAspect="1"/>
              </p:cNvPicPr>
              <p:nvPr/>
            </p:nvPicPr>
            <p:blipFill>
              <a:blip r:embed="rId9" cstate="print"/>
              <a:stretch>
                <a:fillRect/>
              </a:stretch>
            </p:blipFill>
            <p:spPr>
              <a:xfrm>
                <a:off x="51808" y="51259"/>
                <a:ext cx="432261" cy="574815"/>
              </a:xfrm>
              <a:prstGeom prst="rect">
                <a:avLst/>
              </a:prstGeom>
              <a:noFill/>
              <a:ln>
                <a:noFill/>
              </a:ln>
            </p:spPr>
          </p:pic>
          <p:pic>
            <p:nvPicPr>
              <p:cNvPr id="49" name="Image 48" descr="LOGO-ERN-GEN2017-1.png"/>
              <p:cNvPicPr>
                <a:picLocks noChangeAspect="1"/>
              </p:cNvPicPr>
              <p:nvPr/>
            </p:nvPicPr>
            <p:blipFill rotWithShape="1">
              <a:blip r:embed="rId10" cstate="print">
                <a:extLst>
                  <a:ext uri="{28A0092B-C50C-407E-A947-70E740481C1C}">
                    <a14:useLocalDpi xmlns:a14="http://schemas.microsoft.com/office/drawing/2010/main" val="0"/>
                  </a:ext>
                </a:extLst>
              </a:blip>
              <a:srcRect r="19245"/>
              <a:stretch/>
            </p:blipFill>
            <p:spPr>
              <a:xfrm>
                <a:off x="6708147" y="12191"/>
                <a:ext cx="2275425" cy="669355"/>
              </a:xfrm>
              <a:prstGeom prst="rect">
                <a:avLst/>
              </a:prstGeom>
            </p:spPr>
          </p:pic>
          <p:pic>
            <p:nvPicPr>
              <p:cNvPr id="50" name="Image 49" descr="redim-06.png"/>
              <p:cNvPicPr>
                <a:picLocks noChangeAspect="1"/>
              </p:cNvPicPr>
              <p:nvPr/>
            </p:nvPicPr>
            <p:blipFill rotWithShape="1">
              <a:blip r:embed="rId11" cstate="print">
                <a:extLst>
                  <a:ext uri="{28A0092B-C50C-407E-A947-70E740481C1C}">
                    <a14:useLocalDpi xmlns:a14="http://schemas.microsoft.com/office/drawing/2010/main" val="0"/>
                  </a:ext>
                </a:extLst>
              </a:blip>
              <a:srcRect t="28400" b="26267"/>
              <a:stretch/>
            </p:blipFill>
            <p:spPr>
              <a:xfrm>
                <a:off x="10739120" y="30480"/>
                <a:ext cx="1369060" cy="620641"/>
              </a:xfrm>
              <a:prstGeom prst="rect">
                <a:avLst/>
              </a:prstGeom>
            </p:spPr>
          </p:pic>
          <p:pic>
            <p:nvPicPr>
              <p:cNvPr id="51" name="Image 50"/>
              <p:cNvPicPr>
                <a:picLocks noChangeAspect="1"/>
              </p:cNvPicPr>
              <p:nvPr/>
            </p:nvPicPr>
            <p:blipFill rotWithShape="1">
              <a:blip r:embed="rId12" cstate="print">
                <a:extLst>
                  <a:ext uri="{28A0092B-C50C-407E-A947-70E740481C1C}">
                    <a14:useLocalDpi xmlns:a14="http://schemas.microsoft.com/office/drawing/2010/main" val="0"/>
                  </a:ext>
                </a:extLst>
              </a:blip>
              <a:srcRect l="16802" t="22888" r="16244" b="27236"/>
              <a:stretch/>
            </p:blipFill>
            <p:spPr>
              <a:xfrm>
                <a:off x="8974241" y="-49564"/>
                <a:ext cx="1502229" cy="746449"/>
              </a:xfrm>
              <a:prstGeom prst="rect">
                <a:avLst/>
              </a:prstGeom>
            </p:spPr>
          </p:pic>
        </p:grpSp>
        <p:pic>
          <p:nvPicPr>
            <p:cNvPr id="36" name="Image 35"/>
            <p:cNvPicPr>
              <a:picLocks noChangeAspect="1"/>
            </p:cNvPicPr>
            <p:nvPr/>
          </p:nvPicPr>
          <p:blipFill rotWithShape="1">
            <a:blip r:embed="rId13">
              <a:extLst>
                <a:ext uri="{28A0092B-C50C-407E-A947-70E740481C1C}">
                  <a14:useLocalDpi xmlns:a14="http://schemas.microsoft.com/office/drawing/2010/main" val="0"/>
                </a:ext>
              </a:extLst>
            </a:blip>
            <a:srcRect t="22863" b="24898"/>
            <a:stretch/>
          </p:blipFill>
          <p:spPr>
            <a:xfrm>
              <a:off x="680899" y="90649"/>
              <a:ext cx="2612643" cy="537329"/>
            </a:xfrm>
            <a:prstGeom prst="rect">
              <a:avLst/>
            </a:prstGeom>
          </p:spPr>
        </p:pic>
      </p:grpSp>
      <p:pic>
        <p:nvPicPr>
          <p:cNvPr id="2" name="Image 1"/>
          <p:cNvPicPr>
            <a:picLocks noChangeAspect="1"/>
          </p:cNvPicPr>
          <p:nvPr/>
        </p:nvPicPr>
        <p:blipFill>
          <a:blip r:embed="rId14"/>
          <a:stretch>
            <a:fillRect/>
          </a:stretch>
        </p:blipFill>
        <p:spPr>
          <a:xfrm>
            <a:off x="428625" y="1406613"/>
            <a:ext cx="6572250" cy="1400175"/>
          </a:xfrm>
          <a:prstGeom prst="rect">
            <a:avLst/>
          </a:prstGeom>
        </p:spPr>
      </p:pic>
      <p:pic>
        <p:nvPicPr>
          <p:cNvPr id="3" name="Image 2"/>
          <p:cNvPicPr>
            <a:picLocks noChangeAspect="1"/>
          </p:cNvPicPr>
          <p:nvPr/>
        </p:nvPicPr>
        <p:blipFill>
          <a:blip r:embed="rId15"/>
          <a:stretch>
            <a:fillRect/>
          </a:stretch>
        </p:blipFill>
        <p:spPr>
          <a:xfrm>
            <a:off x="428625" y="2866328"/>
            <a:ext cx="7610475" cy="1390650"/>
          </a:xfrm>
          <a:prstGeom prst="rect">
            <a:avLst/>
          </a:prstGeom>
        </p:spPr>
      </p:pic>
      <p:sp>
        <p:nvSpPr>
          <p:cNvPr id="20" name="ZoneTexte 19"/>
          <p:cNvSpPr txBox="1"/>
          <p:nvPr/>
        </p:nvSpPr>
        <p:spPr>
          <a:xfrm>
            <a:off x="176644" y="4316518"/>
            <a:ext cx="11474397" cy="2308324"/>
          </a:xfrm>
          <a:prstGeom prst="rect">
            <a:avLst/>
          </a:prstGeom>
          <a:noFill/>
        </p:spPr>
        <p:txBody>
          <a:bodyPr wrap="square" rtlCol="0">
            <a:spAutoFit/>
          </a:bodyPr>
          <a:lstStyle/>
          <a:p>
            <a:r>
              <a:rPr lang="fr-FR" dirty="0" smtClean="0"/>
              <a:t>Pour la méthode </a:t>
            </a:r>
            <a:r>
              <a:rPr lang="fr-FR" i="1" dirty="0" err="1" smtClean="0"/>
              <a:t>test_futur_and_past_question</a:t>
            </a:r>
            <a:r>
              <a:rPr lang="fr-FR" i="1" dirty="0" smtClean="0"/>
              <a:t> </a:t>
            </a:r>
            <a:r>
              <a:rPr lang="fr-FR" dirty="0" smtClean="0"/>
              <a:t>nous commençons par créer une question donc la date de publication est </a:t>
            </a:r>
            <a:r>
              <a:rPr lang="fr-FR" dirty="0" smtClean="0"/>
              <a:t>antérieur </a:t>
            </a:r>
            <a:r>
              <a:rPr lang="fr-FR" dirty="0" smtClean="0"/>
              <a:t>à la date d’aujourd’hui</a:t>
            </a:r>
            <a:r>
              <a:rPr lang="fr-FR" dirty="0" smtClean="0"/>
              <a:t>. Puis nous créons une question dont la date de publication est ultérieur à aujourd’hui.</a:t>
            </a:r>
            <a:endParaRPr lang="fr-FR" dirty="0" smtClean="0"/>
          </a:p>
          <a:p>
            <a:r>
              <a:rPr lang="fr-FR" dirty="0" smtClean="0"/>
              <a:t>Nous testons ensuite, via la méthode </a:t>
            </a:r>
            <a:r>
              <a:rPr lang="fr-FR" i="1" dirty="0" err="1" smtClean="0"/>
              <a:t>assertQuerySetEqual</a:t>
            </a:r>
            <a:r>
              <a:rPr lang="fr-FR" dirty="0" smtClean="0"/>
              <a:t> que dans le contexte </a:t>
            </a:r>
            <a:r>
              <a:rPr lang="fr-FR" i="1" dirty="0" err="1" smtClean="0"/>
              <a:t>question_list</a:t>
            </a:r>
            <a:r>
              <a:rPr lang="fr-FR" dirty="0"/>
              <a:t> </a:t>
            </a:r>
            <a:r>
              <a:rPr lang="fr-FR" dirty="0" smtClean="0"/>
              <a:t>il y a bien </a:t>
            </a:r>
            <a:r>
              <a:rPr lang="fr-FR" dirty="0" smtClean="0"/>
              <a:t>uniquement la question antérieur </a:t>
            </a:r>
            <a:r>
              <a:rPr lang="fr-FR" dirty="0" smtClean="0"/>
              <a:t>créée</a:t>
            </a:r>
            <a:r>
              <a:rPr lang="fr-FR" dirty="0" smtClean="0"/>
              <a:t>.</a:t>
            </a:r>
            <a:endParaRPr lang="fr-FR" dirty="0" smtClean="0"/>
          </a:p>
          <a:p>
            <a:r>
              <a:rPr lang="fr-FR" dirty="0"/>
              <a:t>Pour la méthode </a:t>
            </a:r>
            <a:r>
              <a:rPr lang="fr-FR" i="1" dirty="0" err="1" smtClean="0"/>
              <a:t>multiple_past_question</a:t>
            </a:r>
            <a:r>
              <a:rPr lang="fr-FR" i="1" dirty="0" smtClean="0"/>
              <a:t> </a:t>
            </a:r>
            <a:r>
              <a:rPr lang="fr-FR" dirty="0"/>
              <a:t>nous commençons par créer </a:t>
            </a:r>
            <a:r>
              <a:rPr lang="fr-FR" dirty="0" smtClean="0"/>
              <a:t>2 </a:t>
            </a:r>
            <a:r>
              <a:rPr lang="fr-FR" dirty="0"/>
              <a:t>question donc </a:t>
            </a:r>
            <a:r>
              <a:rPr lang="fr-FR" dirty="0" smtClean="0"/>
              <a:t>les dates </a:t>
            </a:r>
            <a:r>
              <a:rPr lang="fr-FR" dirty="0"/>
              <a:t>de publication </a:t>
            </a:r>
            <a:r>
              <a:rPr lang="fr-FR" dirty="0" smtClean="0"/>
              <a:t>sont </a:t>
            </a:r>
            <a:r>
              <a:rPr lang="fr-FR" dirty="0" smtClean="0"/>
              <a:t>supérieur à </a:t>
            </a:r>
            <a:r>
              <a:rPr lang="fr-FR" dirty="0"/>
              <a:t>la date d’aujourd’hui.</a:t>
            </a:r>
          </a:p>
          <a:p>
            <a:r>
              <a:rPr lang="fr-FR" dirty="0"/>
              <a:t>Nous testons ensuite, via la méthode </a:t>
            </a:r>
            <a:r>
              <a:rPr lang="fr-FR" i="1" dirty="0" err="1"/>
              <a:t>assertQuerySetEqual</a:t>
            </a:r>
            <a:r>
              <a:rPr lang="fr-FR" dirty="0"/>
              <a:t> que dans le contexte </a:t>
            </a:r>
            <a:r>
              <a:rPr lang="fr-FR" i="1" dirty="0" err="1"/>
              <a:t>question_list</a:t>
            </a:r>
            <a:r>
              <a:rPr lang="fr-FR" dirty="0"/>
              <a:t> il </a:t>
            </a:r>
            <a:r>
              <a:rPr lang="fr-FR" dirty="0" smtClean="0"/>
              <a:t>y a bien les 2 questions.</a:t>
            </a:r>
            <a:endParaRPr lang="fr-FR" dirty="0"/>
          </a:p>
          <a:p>
            <a:endParaRPr lang="fr-FR" dirty="0"/>
          </a:p>
        </p:txBody>
      </p:sp>
    </p:spTree>
    <p:extLst>
      <p:ext uri="{BB962C8B-B14F-4D97-AF65-F5344CB8AC3E}">
        <p14:creationId xmlns:p14="http://schemas.microsoft.com/office/powerpoint/2010/main" val="1724828415"/>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Rectangle 16"/>
          <p:cNvSpPr/>
          <p:nvPr/>
        </p:nvSpPr>
        <p:spPr>
          <a:xfrm>
            <a:off x="0" y="675503"/>
            <a:ext cx="12198786" cy="478582"/>
          </a:xfrm>
          <a:prstGeom prst="rect">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22" name="Image 2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002202" y="6540326"/>
            <a:ext cx="253968" cy="253968"/>
          </a:xfrm>
          <a:prstGeom prst="rect">
            <a:avLst/>
          </a:prstGeom>
        </p:spPr>
      </p:pic>
      <p:sp>
        <p:nvSpPr>
          <p:cNvPr id="23" name="ZoneTexte 22"/>
          <p:cNvSpPr txBox="1"/>
          <p:nvPr/>
        </p:nvSpPr>
        <p:spPr>
          <a:xfrm>
            <a:off x="5216109" y="6532276"/>
            <a:ext cx="2664700" cy="307777"/>
          </a:xfrm>
          <a:prstGeom prst="rect">
            <a:avLst/>
          </a:prstGeom>
          <a:noFill/>
        </p:spPr>
        <p:txBody>
          <a:bodyPr wrap="square" rtlCol="0">
            <a:spAutoFit/>
          </a:bodyPr>
          <a:lstStyle/>
          <a:p>
            <a:r>
              <a:rPr lang="fr-FR" sz="1400" dirty="0" smtClean="0">
                <a:solidFill>
                  <a:schemeClr val="tx1">
                    <a:lumMod val="65000"/>
                    <a:lumOff val="35000"/>
                  </a:schemeClr>
                </a:solidFill>
              </a:rPr>
              <a:t>ADRAR Pôle Numérique Occitanie</a:t>
            </a:r>
            <a:endParaRPr lang="fr-FR" sz="1400" dirty="0">
              <a:solidFill>
                <a:schemeClr val="tx1">
                  <a:lumMod val="65000"/>
                  <a:lumOff val="35000"/>
                </a:schemeClr>
              </a:solidFill>
            </a:endParaRPr>
          </a:p>
        </p:txBody>
      </p:sp>
      <p:sp>
        <p:nvSpPr>
          <p:cNvPr id="31" name="ZoneTexte 30"/>
          <p:cNvSpPr txBox="1"/>
          <p:nvPr/>
        </p:nvSpPr>
        <p:spPr>
          <a:xfrm>
            <a:off x="0" y="696885"/>
            <a:ext cx="12198786" cy="384721"/>
          </a:xfrm>
          <a:prstGeom prst="rect">
            <a:avLst/>
          </a:prstGeom>
          <a:noFill/>
        </p:spPr>
        <p:txBody>
          <a:bodyPr wrap="square" rtlCol="0">
            <a:spAutoFit/>
          </a:bodyPr>
          <a:lstStyle/>
          <a:p>
            <a:pPr algn="ctr"/>
            <a:r>
              <a:rPr lang="fr-FR" sz="1600" dirty="0">
                <a:solidFill>
                  <a:schemeClr val="bg1"/>
                </a:solidFill>
              </a:rPr>
              <a:t>Suivez-nous sur </a:t>
            </a:r>
            <a:r>
              <a:rPr lang="fr-FR" sz="1600" dirty="0" err="1">
                <a:solidFill>
                  <a:schemeClr val="bg1"/>
                </a:solidFill>
              </a:rPr>
              <a:t>LinkedIn</a:t>
            </a:r>
            <a:r>
              <a:rPr lang="fr-FR" sz="1600" dirty="0">
                <a:solidFill>
                  <a:schemeClr val="bg1"/>
                </a:solidFill>
              </a:rPr>
              <a:t>             </a:t>
            </a:r>
            <a:r>
              <a:rPr lang="fr-FR" sz="1600" dirty="0" err="1">
                <a:solidFill>
                  <a:schemeClr val="bg1"/>
                </a:solidFill>
              </a:rPr>
              <a:t>Twitter</a:t>
            </a:r>
            <a:r>
              <a:rPr lang="fr-FR" sz="1600" dirty="0">
                <a:solidFill>
                  <a:schemeClr val="bg1"/>
                </a:solidFill>
              </a:rPr>
              <a:t>       </a:t>
            </a:r>
            <a:r>
              <a:rPr lang="fr-FR" sz="1900" b="1" dirty="0">
                <a:solidFill>
                  <a:schemeClr val="bg1">
                    <a:lumMod val="95000"/>
                  </a:schemeClr>
                </a:solidFill>
              </a:rPr>
              <a:t>@</a:t>
            </a:r>
            <a:r>
              <a:rPr lang="fr-FR" sz="1900" b="1" dirty="0" err="1">
                <a:solidFill>
                  <a:schemeClr val="bg1">
                    <a:lumMod val="95000"/>
                  </a:schemeClr>
                </a:solidFill>
              </a:rPr>
              <a:t>Adrar_Numerique</a:t>
            </a:r>
            <a:r>
              <a:rPr lang="fr-FR" sz="1900" dirty="0">
                <a:solidFill>
                  <a:schemeClr val="bg1">
                    <a:lumMod val="95000"/>
                  </a:schemeClr>
                </a:solidFill>
              </a:rPr>
              <a:t>	… </a:t>
            </a:r>
            <a:r>
              <a:rPr lang="fr-FR" sz="1600" dirty="0">
                <a:solidFill>
                  <a:schemeClr val="bg1"/>
                </a:solidFill>
              </a:rPr>
              <a:t>et sur le web : </a:t>
            </a:r>
            <a:r>
              <a:rPr lang="fr-FR" sz="1900" b="1" dirty="0">
                <a:solidFill>
                  <a:schemeClr val="bg1">
                    <a:lumMod val="95000"/>
                  </a:schemeClr>
                </a:solidFill>
              </a:rPr>
              <a:t>www.adrar-numerique.com</a:t>
            </a:r>
          </a:p>
        </p:txBody>
      </p:sp>
      <p:pic>
        <p:nvPicPr>
          <p:cNvPr id="32" name="Image 31"/>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024648" y="762261"/>
            <a:ext cx="266667" cy="253968"/>
          </a:xfrm>
          <a:prstGeom prst="rect">
            <a:avLst/>
          </a:prstGeom>
        </p:spPr>
      </p:pic>
      <p:pic>
        <p:nvPicPr>
          <p:cNvPr id="33" name="Image 32" descr="logo-linkedin.png"/>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2899844" y="783165"/>
            <a:ext cx="285752" cy="285752"/>
          </a:xfrm>
          <a:prstGeom prst="rect">
            <a:avLst/>
          </a:prstGeom>
        </p:spPr>
      </p:pic>
      <p:grpSp>
        <p:nvGrpSpPr>
          <p:cNvPr id="34" name="Groupe 33"/>
          <p:cNvGrpSpPr/>
          <p:nvPr/>
        </p:nvGrpSpPr>
        <p:grpSpPr>
          <a:xfrm>
            <a:off x="70311" y="-41891"/>
            <a:ext cx="12056372" cy="746449"/>
            <a:chOff x="70311" y="-41891"/>
            <a:chExt cx="12056372" cy="746449"/>
          </a:xfrm>
        </p:grpSpPr>
        <p:grpSp>
          <p:nvGrpSpPr>
            <p:cNvPr id="35" name="Groupe 34"/>
            <p:cNvGrpSpPr/>
            <p:nvPr/>
          </p:nvGrpSpPr>
          <p:grpSpPr>
            <a:xfrm>
              <a:off x="70311" y="-41891"/>
              <a:ext cx="12056372" cy="746449"/>
              <a:chOff x="51808" y="-49564"/>
              <a:chExt cx="12056372" cy="746449"/>
            </a:xfrm>
          </p:grpSpPr>
          <p:pic>
            <p:nvPicPr>
              <p:cNvPr id="37" name="Image 36" descr="bien plus.jpg"/>
              <p:cNvPicPr>
                <a:picLocks noChangeAspect="1"/>
              </p:cNvPicPr>
              <p:nvPr/>
            </p:nvPicPr>
            <p:blipFill>
              <a:blip r:embed="rId6" cstate="print"/>
              <a:stretch>
                <a:fillRect/>
              </a:stretch>
            </p:blipFill>
            <p:spPr>
              <a:xfrm>
                <a:off x="4122599" y="228466"/>
                <a:ext cx="1289328" cy="364658"/>
              </a:xfrm>
              <a:prstGeom prst="rect">
                <a:avLst/>
              </a:prstGeom>
            </p:spPr>
          </p:pic>
          <p:pic>
            <p:nvPicPr>
              <p:cNvPr id="38" name="Image 37" descr="personnes-adrar-coul_1.jpg"/>
              <p:cNvPicPr>
                <a:picLocks noChangeAspect="1"/>
              </p:cNvPicPr>
              <p:nvPr/>
            </p:nvPicPr>
            <p:blipFill>
              <a:blip r:embed="rId7" cstate="print"/>
              <a:stretch>
                <a:fillRect/>
              </a:stretch>
            </p:blipFill>
            <p:spPr>
              <a:xfrm>
                <a:off x="5640032" y="95784"/>
                <a:ext cx="510617" cy="506565"/>
              </a:xfrm>
              <a:prstGeom prst="rect">
                <a:avLst/>
              </a:prstGeom>
            </p:spPr>
          </p:pic>
          <p:pic>
            <p:nvPicPr>
              <p:cNvPr id="39" name="Image 38" descr="personnes-adrar-coul_2.jpg"/>
              <p:cNvPicPr>
                <a:picLocks noChangeAspect="1"/>
              </p:cNvPicPr>
              <p:nvPr/>
            </p:nvPicPr>
            <p:blipFill>
              <a:blip r:embed="rId8" cstate="print"/>
              <a:stretch>
                <a:fillRect/>
              </a:stretch>
            </p:blipFill>
            <p:spPr>
              <a:xfrm>
                <a:off x="3441939" y="228467"/>
                <a:ext cx="346861" cy="352500"/>
              </a:xfrm>
              <a:prstGeom prst="rect">
                <a:avLst/>
              </a:prstGeom>
            </p:spPr>
          </p:pic>
          <p:pic>
            <p:nvPicPr>
              <p:cNvPr id="40" name="Image 39" descr="LOGO ADRAR 300dpi.jpg"/>
              <p:cNvPicPr>
                <a:picLocks noChangeAspect="1"/>
              </p:cNvPicPr>
              <p:nvPr/>
            </p:nvPicPr>
            <p:blipFill>
              <a:blip r:embed="rId9" cstate="print"/>
              <a:stretch>
                <a:fillRect/>
              </a:stretch>
            </p:blipFill>
            <p:spPr>
              <a:xfrm>
                <a:off x="51808" y="51259"/>
                <a:ext cx="432261" cy="574815"/>
              </a:xfrm>
              <a:prstGeom prst="rect">
                <a:avLst/>
              </a:prstGeom>
              <a:noFill/>
              <a:ln>
                <a:noFill/>
              </a:ln>
            </p:spPr>
          </p:pic>
          <p:pic>
            <p:nvPicPr>
              <p:cNvPr id="49" name="Image 48" descr="LOGO-ERN-GEN2017-1.png"/>
              <p:cNvPicPr>
                <a:picLocks noChangeAspect="1"/>
              </p:cNvPicPr>
              <p:nvPr/>
            </p:nvPicPr>
            <p:blipFill rotWithShape="1">
              <a:blip r:embed="rId10" cstate="print">
                <a:extLst>
                  <a:ext uri="{28A0092B-C50C-407E-A947-70E740481C1C}">
                    <a14:useLocalDpi xmlns:a14="http://schemas.microsoft.com/office/drawing/2010/main" val="0"/>
                  </a:ext>
                </a:extLst>
              </a:blip>
              <a:srcRect r="19245"/>
              <a:stretch/>
            </p:blipFill>
            <p:spPr>
              <a:xfrm>
                <a:off x="6708147" y="12191"/>
                <a:ext cx="2275425" cy="669355"/>
              </a:xfrm>
              <a:prstGeom prst="rect">
                <a:avLst/>
              </a:prstGeom>
            </p:spPr>
          </p:pic>
          <p:pic>
            <p:nvPicPr>
              <p:cNvPr id="50" name="Image 49" descr="redim-06.png"/>
              <p:cNvPicPr>
                <a:picLocks noChangeAspect="1"/>
              </p:cNvPicPr>
              <p:nvPr/>
            </p:nvPicPr>
            <p:blipFill rotWithShape="1">
              <a:blip r:embed="rId11" cstate="print">
                <a:extLst>
                  <a:ext uri="{28A0092B-C50C-407E-A947-70E740481C1C}">
                    <a14:useLocalDpi xmlns:a14="http://schemas.microsoft.com/office/drawing/2010/main" val="0"/>
                  </a:ext>
                </a:extLst>
              </a:blip>
              <a:srcRect t="28400" b="26267"/>
              <a:stretch/>
            </p:blipFill>
            <p:spPr>
              <a:xfrm>
                <a:off x="10739120" y="30480"/>
                <a:ext cx="1369060" cy="620641"/>
              </a:xfrm>
              <a:prstGeom prst="rect">
                <a:avLst/>
              </a:prstGeom>
            </p:spPr>
          </p:pic>
          <p:pic>
            <p:nvPicPr>
              <p:cNvPr id="51" name="Image 50"/>
              <p:cNvPicPr>
                <a:picLocks noChangeAspect="1"/>
              </p:cNvPicPr>
              <p:nvPr/>
            </p:nvPicPr>
            <p:blipFill rotWithShape="1">
              <a:blip r:embed="rId12" cstate="print">
                <a:extLst>
                  <a:ext uri="{28A0092B-C50C-407E-A947-70E740481C1C}">
                    <a14:useLocalDpi xmlns:a14="http://schemas.microsoft.com/office/drawing/2010/main" val="0"/>
                  </a:ext>
                </a:extLst>
              </a:blip>
              <a:srcRect l="16802" t="22888" r="16244" b="27236"/>
              <a:stretch/>
            </p:blipFill>
            <p:spPr>
              <a:xfrm>
                <a:off x="8974241" y="-49564"/>
                <a:ext cx="1502229" cy="746449"/>
              </a:xfrm>
              <a:prstGeom prst="rect">
                <a:avLst/>
              </a:prstGeom>
            </p:spPr>
          </p:pic>
        </p:grpSp>
        <p:pic>
          <p:nvPicPr>
            <p:cNvPr id="36" name="Image 35"/>
            <p:cNvPicPr>
              <a:picLocks noChangeAspect="1"/>
            </p:cNvPicPr>
            <p:nvPr/>
          </p:nvPicPr>
          <p:blipFill rotWithShape="1">
            <a:blip r:embed="rId13">
              <a:extLst>
                <a:ext uri="{28A0092B-C50C-407E-A947-70E740481C1C}">
                  <a14:useLocalDpi xmlns:a14="http://schemas.microsoft.com/office/drawing/2010/main" val="0"/>
                </a:ext>
              </a:extLst>
            </a:blip>
            <a:srcRect t="22863" b="24898"/>
            <a:stretch/>
          </p:blipFill>
          <p:spPr>
            <a:xfrm>
              <a:off x="680899" y="90649"/>
              <a:ext cx="2612643" cy="537329"/>
            </a:xfrm>
            <a:prstGeom prst="rect">
              <a:avLst/>
            </a:prstGeom>
          </p:spPr>
        </p:pic>
      </p:grpSp>
      <p:sp>
        <p:nvSpPr>
          <p:cNvPr id="18" name="ZoneTexte 17"/>
          <p:cNvSpPr txBox="1"/>
          <p:nvPr/>
        </p:nvSpPr>
        <p:spPr>
          <a:xfrm>
            <a:off x="169660" y="1325091"/>
            <a:ext cx="11488366" cy="1200329"/>
          </a:xfrm>
          <a:prstGeom prst="rect">
            <a:avLst/>
          </a:prstGeom>
          <a:noFill/>
        </p:spPr>
        <p:txBody>
          <a:bodyPr wrap="square" rtlCol="0">
            <a:spAutoFit/>
          </a:bodyPr>
          <a:lstStyle/>
          <a:p>
            <a:r>
              <a:rPr lang="fr-FR" dirty="0" smtClean="0"/>
              <a:t>Procédons de la même manière pour la vue </a:t>
            </a:r>
            <a:r>
              <a:rPr lang="fr-FR" i="1" dirty="0" err="1" smtClean="0"/>
              <a:t>DetailView</a:t>
            </a:r>
            <a:r>
              <a:rPr lang="fr-FR" i="1" dirty="0" smtClean="0"/>
              <a:t>.</a:t>
            </a:r>
            <a:r>
              <a:rPr lang="fr-FR" dirty="0" smtClean="0"/>
              <a:t> Si on essaye d’accéder au détail d’une question dont la date de publication n’est pas encore arrivé, le site doit nous retourner un code erreur 404, sinon il nous affiche les informations de la question. Comme pour notre vue </a:t>
            </a:r>
            <a:r>
              <a:rPr lang="fr-FR" i="1" dirty="0" err="1" smtClean="0"/>
              <a:t>IndexView</a:t>
            </a:r>
            <a:r>
              <a:rPr lang="fr-FR" i="1" dirty="0" smtClean="0"/>
              <a:t>, </a:t>
            </a:r>
            <a:r>
              <a:rPr lang="fr-FR" dirty="0" smtClean="0"/>
              <a:t>notre vue </a:t>
            </a:r>
            <a:r>
              <a:rPr lang="fr-FR" i="1" dirty="0" err="1" smtClean="0"/>
              <a:t>DetailView</a:t>
            </a:r>
            <a:r>
              <a:rPr lang="fr-FR" i="1" dirty="0" smtClean="0"/>
              <a:t> </a:t>
            </a:r>
            <a:r>
              <a:rPr lang="fr-FR" dirty="0" smtClean="0"/>
              <a:t>doit d’abord appliquer un filtre sur le</a:t>
            </a:r>
            <a:r>
              <a:rPr lang="fr-FR" i="1" dirty="0" smtClean="0"/>
              <a:t> </a:t>
            </a:r>
            <a:r>
              <a:rPr lang="fr-FR" i="1" dirty="0" err="1" smtClean="0"/>
              <a:t>QuerySet</a:t>
            </a:r>
            <a:r>
              <a:rPr lang="fr-FR" dirty="0" smtClean="0"/>
              <a:t> passé dans notre contexte :</a:t>
            </a:r>
            <a:endParaRPr lang="fr-FR" dirty="0"/>
          </a:p>
        </p:txBody>
      </p:sp>
      <p:pic>
        <p:nvPicPr>
          <p:cNvPr id="2" name="Image 1"/>
          <p:cNvPicPr>
            <a:picLocks noChangeAspect="1"/>
          </p:cNvPicPr>
          <p:nvPr/>
        </p:nvPicPr>
        <p:blipFill>
          <a:blip r:embed="rId14"/>
          <a:stretch>
            <a:fillRect/>
          </a:stretch>
        </p:blipFill>
        <p:spPr>
          <a:xfrm>
            <a:off x="254127" y="2600325"/>
            <a:ext cx="5915025" cy="1543050"/>
          </a:xfrm>
          <a:prstGeom prst="rect">
            <a:avLst/>
          </a:prstGeom>
        </p:spPr>
      </p:pic>
      <p:sp>
        <p:nvSpPr>
          <p:cNvPr id="20" name="ZoneTexte 19"/>
          <p:cNvSpPr txBox="1"/>
          <p:nvPr/>
        </p:nvSpPr>
        <p:spPr>
          <a:xfrm>
            <a:off x="169660" y="4322206"/>
            <a:ext cx="11488366" cy="369332"/>
          </a:xfrm>
          <a:prstGeom prst="rect">
            <a:avLst/>
          </a:prstGeom>
          <a:noFill/>
        </p:spPr>
        <p:txBody>
          <a:bodyPr wrap="square" rtlCol="0">
            <a:spAutoFit/>
          </a:bodyPr>
          <a:lstStyle/>
          <a:p>
            <a:r>
              <a:rPr lang="fr-FR" dirty="0" smtClean="0"/>
              <a:t>Nous pouvons ensuite rédiger nos tests</a:t>
            </a:r>
            <a:endParaRPr lang="fr-FR" dirty="0"/>
          </a:p>
        </p:txBody>
      </p:sp>
    </p:spTree>
    <p:extLst>
      <p:ext uri="{BB962C8B-B14F-4D97-AF65-F5344CB8AC3E}">
        <p14:creationId xmlns:p14="http://schemas.microsoft.com/office/powerpoint/2010/main" val="126868633"/>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Rectangle 16"/>
          <p:cNvSpPr/>
          <p:nvPr/>
        </p:nvSpPr>
        <p:spPr>
          <a:xfrm>
            <a:off x="0" y="675503"/>
            <a:ext cx="12198786" cy="478582"/>
          </a:xfrm>
          <a:prstGeom prst="rect">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22" name="Image 2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002202" y="6540326"/>
            <a:ext cx="253968" cy="253968"/>
          </a:xfrm>
          <a:prstGeom prst="rect">
            <a:avLst/>
          </a:prstGeom>
        </p:spPr>
      </p:pic>
      <p:sp>
        <p:nvSpPr>
          <p:cNvPr id="23" name="ZoneTexte 22"/>
          <p:cNvSpPr txBox="1"/>
          <p:nvPr/>
        </p:nvSpPr>
        <p:spPr>
          <a:xfrm>
            <a:off x="5216109" y="6532276"/>
            <a:ext cx="2664700" cy="307777"/>
          </a:xfrm>
          <a:prstGeom prst="rect">
            <a:avLst/>
          </a:prstGeom>
          <a:noFill/>
        </p:spPr>
        <p:txBody>
          <a:bodyPr wrap="square" rtlCol="0">
            <a:spAutoFit/>
          </a:bodyPr>
          <a:lstStyle/>
          <a:p>
            <a:r>
              <a:rPr lang="fr-FR" sz="1400" dirty="0" smtClean="0">
                <a:solidFill>
                  <a:schemeClr val="tx1">
                    <a:lumMod val="65000"/>
                    <a:lumOff val="35000"/>
                  </a:schemeClr>
                </a:solidFill>
              </a:rPr>
              <a:t>ADRAR Pôle Numérique Occitanie</a:t>
            </a:r>
            <a:endParaRPr lang="fr-FR" sz="1400" dirty="0">
              <a:solidFill>
                <a:schemeClr val="tx1">
                  <a:lumMod val="65000"/>
                  <a:lumOff val="35000"/>
                </a:schemeClr>
              </a:solidFill>
            </a:endParaRPr>
          </a:p>
        </p:txBody>
      </p:sp>
      <p:sp>
        <p:nvSpPr>
          <p:cNvPr id="31" name="ZoneTexte 30"/>
          <p:cNvSpPr txBox="1"/>
          <p:nvPr/>
        </p:nvSpPr>
        <p:spPr>
          <a:xfrm>
            <a:off x="0" y="696885"/>
            <a:ext cx="12198786" cy="384721"/>
          </a:xfrm>
          <a:prstGeom prst="rect">
            <a:avLst/>
          </a:prstGeom>
          <a:noFill/>
        </p:spPr>
        <p:txBody>
          <a:bodyPr wrap="square" rtlCol="0">
            <a:spAutoFit/>
          </a:bodyPr>
          <a:lstStyle/>
          <a:p>
            <a:pPr algn="ctr"/>
            <a:r>
              <a:rPr lang="fr-FR" sz="1600" dirty="0">
                <a:solidFill>
                  <a:schemeClr val="bg1"/>
                </a:solidFill>
              </a:rPr>
              <a:t>Suivez-nous sur </a:t>
            </a:r>
            <a:r>
              <a:rPr lang="fr-FR" sz="1600" dirty="0" err="1">
                <a:solidFill>
                  <a:schemeClr val="bg1"/>
                </a:solidFill>
              </a:rPr>
              <a:t>LinkedIn</a:t>
            </a:r>
            <a:r>
              <a:rPr lang="fr-FR" sz="1600" dirty="0">
                <a:solidFill>
                  <a:schemeClr val="bg1"/>
                </a:solidFill>
              </a:rPr>
              <a:t>             </a:t>
            </a:r>
            <a:r>
              <a:rPr lang="fr-FR" sz="1600" dirty="0" err="1">
                <a:solidFill>
                  <a:schemeClr val="bg1"/>
                </a:solidFill>
              </a:rPr>
              <a:t>Twitter</a:t>
            </a:r>
            <a:r>
              <a:rPr lang="fr-FR" sz="1600" dirty="0">
                <a:solidFill>
                  <a:schemeClr val="bg1"/>
                </a:solidFill>
              </a:rPr>
              <a:t>       </a:t>
            </a:r>
            <a:r>
              <a:rPr lang="fr-FR" sz="1900" b="1" dirty="0">
                <a:solidFill>
                  <a:schemeClr val="bg1">
                    <a:lumMod val="95000"/>
                  </a:schemeClr>
                </a:solidFill>
              </a:rPr>
              <a:t>@</a:t>
            </a:r>
            <a:r>
              <a:rPr lang="fr-FR" sz="1900" b="1" dirty="0" err="1">
                <a:solidFill>
                  <a:schemeClr val="bg1">
                    <a:lumMod val="95000"/>
                  </a:schemeClr>
                </a:solidFill>
              </a:rPr>
              <a:t>Adrar_Numerique</a:t>
            </a:r>
            <a:r>
              <a:rPr lang="fr-FR" sz="1900" dirty="0">
                <a:solidFill>
                  <a:schemeClr val="bg1">
                    <a:lumMod val="95000"/>
                  </a:schemeClr>
                </a:solidFill>
              </a:rPr>
              <a:t>	… </a:t>
            </a:r>
            <a:r>
              <a:rPr lang="fr-FR" sz="1600" dirty="0">
                <a:solidFill>
                  <a:schemeClr val="bg1"/>
                </a:solidFill>
              </a:rPr>
              <a:t>et sur le web : </a:t>
            </a:r>
            <a:r>
              <a:rPr lang="fr-FR" sz="1900" b="1" dirty="0">
                <a:solidFill>
                  <a:schemeClr val="bg1">
                    <a:lumMod val="95000"/>
                  </a:schemeClr>
                </a:solidFill>
              </a:rPr>
              <a:t>www.adrar-numerique.com</a:t>
            </a:r>
          </a:p>
        </p:txBody>
      </p:sp>
      <p:pic>
        <p:nvPicPr>
          <p:cNvPr id="32" name="Image 31"/>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024648" y="762261"/>
            <a:ext cx="266667" cy="253968"/>
          </a:xfrm>
          <a:prstGeom prst="rect">
            <a:avLst/>
          </a:prstGeom>
        </p:spPr>
      </p:pic>
      <p:pic>
        <p:nvPicPr>
          <p:cNvPr id="33" name="Image 32" descr="logo-linkedin.png"/>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2899844" y="783165"/>
            <a:ext cx="285752" cy="285752"/>
          </a:xfrm>
          <a:prstGeom prst="rect">
            <a:avLst/>
          </a:prstGeom>
        </p:spPr>
      </p:pic>
      <p:grpSp>
        <p:nvGrpSpPr>
          <p:cNvPr id="34" name="Groupe 33"/>
          <p:cNvGrpSpPr/>
          <p:nvPr/>
        </p:nvGrpSpPr>
        <p:grpSpPr>
          <a:xfrm>
            <a:off x="70311" y="-41891"/>
            <a:ext cx="12056372" cy="746449"/>
            <a:chOff x="70311" y="-41891"/>
            <a:chExt cx="12056372" cy="746449"/>
          </a:xfrm>
        </p:grpSpPr>
        <p:grpSp>
          <p:nvGrpSpPr>
            <p:cNvPr id="35" name="Groupe 34"/>
            <p:cNvGrpSpPr/>
            <p:nvPr/>
          </p:nvGrpSpPr>
          <p:grpSpPr>
            <a:xfrm>
              <a:off x="70311" y="-41891"/>
              <a:ext cx="12056372" cy="746449"/>
              <a:chOff x="51808" y="-49564"/>
              <a:chExt cx="12056372" cy="746449"/>
            </a:xfrm>
          </p:grpSpPr>
          <p:pic>
            <p:nvPicPr>
              <p:cNvPr id="37" name="Image 36" descr="bien plus.jpg"/>
              <p:cNvPicPr>
                <a:picLocks noChangeAspect="1"/>
              </p:cNvPicPr>
              <p:nvPr/>
            </p:nvPicPr>
            <p:blipFill>
              <a:blip r:embed="rId6" cstate="print"/>
              <a:stretch>
                <a:fillRect/>
              </a:stretch>
            </p:blipFill>
            <p:spPr>
              <a:xfrm>
                <a:off x="4122599" y="228466"/>
                <a:ext cx="1289328" cy="364658"/>
              </a:xfrm>
              <a:prstGeom prst="rect">
                <a:avLst/>
              </a:prstGeom>
            </p:spPr>
          </p:pic>
          <p:pic>
            <p:nvPicPr>
              <p:cNvPr id="38" name="Image 37" descr="personnes-adrar-coul_1.jpg"/>
              <p:cNvPicPr>
                <a:picLocks noChangeAspect="1"/>
              </p:cNvPicPr>
              <p:nvPr/>
            </p:nvPicPr>
            <p:blipFill>
              <a:blip r:embed="rId7" cstate="print"/>
              <a:stretch>
                <a:fillRect/>
              </a:stretch>
            </p:blipFill>
            <p:spPr>
              <a:xfrm>
                <a:off x="5640032" y="95784"/>
                <a:ext cx="510617" cy="506565"/>
              </a:xfrm>
              <a:prstGeom prst="rect">
                <a:avLst/>
              </a:prstGeom>
            </p:spPr>
          </p:pic>
          <p:pic>
            <p:nvPicPr>
              <p:cNvPr id="39" name="Image 38" descr="personnes-adrar-coul_2.jpg"/>
              <p:cNvPicPr>
                <a:picLocks noChangeAspect="1"/>
              </p:cNvPicPr>
              <p:nvPr/>
            </p:nvPicPr>
            <p:blipFill>
              <a:blip r:embed="rId8" cstate="print"/>
              <a:stretch>
                <a:fillRect/>
              </a:stretch>
            </p:blipFill>
            <p:spPr>
              <a:xfrm>
                <a:off x="3441939" y="228467"/>
                <a:ext cx="346861" cy="352500"/>
              </a:xfrm>
              <a:prstGeom prst="rect">
                <a:avLst/>
              </a:prstGeom>
            </p:spPr>
          </p:pic>
          <p:pic>
            <p:nvPicPr>
              <p:cNvPr id="40" name="Image 39" descr="LOGO ADRAR 300dpi.jpg"/>
              <p:cNvPicPr>
                <a:picLocks noChangeAspect="1"/>
              </p:cNvPicPr>
              <p:nvPr/>
            </p:nvPicPr>
            <p:blipFill>
              <a:blip r:embed="rId9" cstate="print"/>
              <a:stretch>
                <a:fillRect/>
              </a:stretch>
            </p:blipFill>
            <p:spPr>
              <a:xfrm>
                <a:off x="51808" y="51259"/>
                <a:ext cx="432261" cy="574815"/>
              </a:xfrm>
              <a:prstGeom prst="rect">
                <a:avLst/>
              </a:prstGeom>
              <a:noFill/>
              <a:ln>
                <a:noFill/>
              </a:ln>
            </p:spPr>
          </p:pic>
          <p:pic>
            <p:nvPicPr>
              <p:cNvPr id="49" name="Image 48" descr="LOGO-ERN-GEN2017-1.png"/>
              <p:cNvPicPr>
                <a:picLocks noChangeAspect="1"/>
              </p:cNvPicPr>
              <p:nvPr/>
            </p:nvPicPr>
            <p:blipFill rotWithShape="1">
              <a:blip r:embed="rId10" cstate="print">
                <a:extLst>
                  <a:ext uri="{28A0092B-C50C-407E-A947-70E740481C1C}">
                    <a14:useLocalDpi xmlns:a14="http://schemas.microsoft.com/office/drawing/2010/main" val="0"/>
                  </a:ext>
                </a:extLst>
              </a:blip>
              <a:srcRect r="19245"/>
              <a:stretch/>
            </p:blipFill>
            <p:spPr>
              <a:xfrm>
                <a:off x="6708147" y="12191"/>
                <a:ext cx="2275425" cy="669355"/>
              </a:xfrm>
              <a:prstGeom prst="rect">
                <a:avLst/>
              </a:prstGeom>
            </p:spPr>
          </p:pic>
          <p:pic>
            <p:nvPicPr>
              <p:cNvPr id="50" name="Image 49" descr="redim-06.png"/>
              <p:cNvPicPr>
                <a:picLocks noChangeAspect="1"/>
              </p:cNvPicPr>
              <p:nvPr/>
            </p:nvPicPr>
            <p:blipFill rotWithShape="1">
              <a:blip r:embed="rId11" cstate="print">
                <a:extLst>
                  <a:ext uri="{28A0092B-C50C-407E-A947-70E740481C1C}">
                    <a14:useLocalDpi xmlns:a14="http://schemas.microsoft.com/office/drawing/2010/main" val="0"/>
                  </a:ext>
                </a:extLst>
              </a:blip>
              <a:srcRect t="28400" b="26267"/>
              <a:stretch/>
            </p:blipFill>
            <p:spPr>
              <a:xfrm>
                <a:off x="10739120" y="30480"/>
                <a:ext cx="1369060" cy="620641"/>
              </a:xfrm>
              <a:prstGeom prst="rect">
                <a:avLst/>
              </a:prstGeom>
            </p:spPr>
          </p:pic>
          <p:pic>
            <p:nvPicPr>
              <p:cNvPr id="51" name="Image 50"/>
              <p:cNvPicPr>
                <a:picLocks noChangeAspect="1"/>
              </p:cNvPicPr>
              <p:nvPr/>
            </p:nvPicPr>
            <p:blipFill rotWithShape="1">
              <a:blip r:embed="rId12" cstate="print">
                <a:extLst>
                  <a:ext uri="{28A0092B-C50C-407E-A947-70E740481C1C}">
                    <a14:useLocalDpi xmlns:a14="http://schemas.microsoft.com/office/drawing/2010/main" val="0"/>
                  </a:ext>
                </a:extLst>
              </a:blip>
              <a:srcRect l="16802" t="22888" r="16244" b="27236"/>
              <a:stretch/>
            </p:blipFill>
            <p:spPr>
              <a:xfrm>
                <a:off x="8974241" y="-49564"/>
                <a:ext cx="1502229" cy="746449"/>
              </a:xfrm>
              <a:prstGeom prst="rect">
                <a:avLst/>
              </a:prstGeom>
            </p:spPr>
          </p:pic>
        </p:grpSp>
        <p:pic>
          <p:nvPicPr>
            <p:cNvPr id="36" name="Image 35"/>
            <p:cNvPicPr>
              <a:picLocks noChangeAspect="1"/>
            </p:cNvPicPr>
            <p:nvPr/>
          </p:nvPicPr>
          <p:blipFill rotWithShape="1">
            <a:blip r:embed="rId13">
              <a:extLst>
                <a:ext uri="{28A0092B-C50C-407E-A947-70E740481C1C}">
                  <a14:useLocalDpi xmlns:a14="http://schemas.microsoft.com/office/drawing/2010/main" val="0"/>
                </a:ext>
              </a:extLst>
            </a:blip>
            <a:srcRect t="22863" b="24898"/>
            <a:stretch/>
          </p:blipFill>
          <p:spPr>
            <a:xfrm>
              <a:off x="680899" y="90649"/>
              <a:ext cx="2612643" cy="537329"/>
            </a:xfrm>
            <a:prstGeom prst="rect">
              <a:avLst/>
            </a:prstGeom>
          </p:spPr>
        </p:pic>
      </p:grpSp>
      <p:pic>
        <p:nvPicPr>
          <p:cNvPr id="2" name="Image 1"/>
          <p:cNvPicPr>
            <a:picLocks noChangeAspect="1"/>
          </p:cNvPicPr>
          <p:nvPr/>
        </p:nvPicPr>
        <p:blipFill>
          <a:blip r:embed="rId14"/>
          <a:stretch>
            <a:fillRect/>
          </a:stretch>
        </p:blipFill>
        <p:spPr>
          <a:xfrm>
            <a:off x="392542" y="1349842"/>
            <a:ext cx="5762625" cy="3061373"/>
          </a:xfrm>
          <a:prstGeom prst="rect">
            <a:avLst/>
          </a:prstGeom>
        </p:spPr>
      </p:pic>
      <p:sp>
        <p:nvSpPr>
          <p:cNvPr id="19" name="ZoneTexte 18"/>
          <p:cNvSpPr txBox="1"/>
          <p:nvPr/>
        </p:nvSpPr>
        <p:spPr>
          <a:xfrm>
            <a:off x="6410248" y="1314433"/>
            <a:ext cx="5164991" cy="1754326"/>
          </a:xfrm>
          <a:prstGeom prst="rect">
            <a:avLst/>
          </a:prstGeom>
          <a:noFill/>
        </p:spPr>
        <p:txBody>
          <a:bodyPr wrap="square" rtlCol="0">
            <a:spAutoFit/>
          </a:bodyPr>
          <a:lstStyle/>
          <a:p>
            <a:r>
              <a:rPr lang="fr-FR" dirty="0" smtClean="0"/>
              <a:t>Ici même logique que pour notre vue index, on crée des question en fonction de la situation et on teste le résultat de la requête.</a:t>
            </a:r>
          </a:p>
          <a:p>
            <a:endParaRPr lang="fr-FR" dirty="0"/>
          </a:p>
          <a:p>
            <a:r>
              <a:rPr lang="fr-FR" dirty="0" smtClean="0"/>
              <a:t>Nous pouvons ensuite ré-</a:t>
            </a:r>
            <a:r>
              <a:rPr lang="fr-FR" dirty="0" err="1" smtClean="0"/>
              <a:t>executer</a:t>
            </a:r>
            <a:r>
              <a:rPr lang="fr-FR" dirty="0" smtClean="0"/>
              <a:t> nos tests pour nous assurer que tout va bien.</a:t>
            </a:r>
            <a:endParaRPr lang="fr-FR" dirty="0"/>
          </a:p>
        </p:txBody>
      </p:sp>
      <p:pic>
        <p:nvPicPr>
          <p:cNvPr id="3" name="Image 2"/>
          <p:cNvPicPr>
            <a:picLocks noChangeAspect="1"/>
          </p:cNvPicPr>
          <p:nvPr/>
        </p:nvPicPr>
        <p:blipFill>
          <a:blip r:embed="rId15"/>
          <a:stretch>
            <a:fillRect/>
          </a:stretch>
        </p:blipFill>
        <p:spPr>
          <a:xfrm>
            <a:off x="392542" y="4522892"/>
            <a:ext cx="7886700" cy="1971675"/>
          </a:xfrm>
          <a:prstGeom prst="rect">
            <a:avLst/>
          </a:prstGeom>
        </p:spPr>
      </p:pic>
    </p:spTree>
    <p:extLst>
      <p:ext uri="{BB962C8B-B14F-4D97-AF65-F5344CB8AC3E}">
        <p14:creationId xmlns:p14="http://schemas.microsoft.com/office/powerpoint/2010/main" val="4293339352"/>
      </p:ext>
    </p:extLst>
  </p:cSld>
  <p:clrMapOvr>
    <a:masterClrMapping/>
  </p:clrMapOvr>
  <p:timing>
    <p:tnLst>
      <p:par>
        <p:cTn id="1" dur="indefinite" restart="never" nodeType="tmRoot"/>
      </p:par>
    </p:tnLst>
  </p:timing>
</p:sld>
</file>

<file path=ppt/theme/theme1.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Bureau">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Bureau">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Bureau">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5393</TotalTime>
  <Words>1560</Words>
  <Application>Microsoft Office PowerPoint</Application>
  <PresentationFormat>Grand écran</PresentationFormat>
  <Paragraphs>116</Paragraphs>
  <Slides>18</Slides>
  <Notes>18</Notes>
  <HiddenSlides>0</HiddenSlides>
  <MMClips>0</MMClips>
  <ScaleCrop>false</ScaleCrop>
  <HeadingPairs>
    <vt:vector size="6" baseType="variant">
      <vt:variant>
        <vt:lpstr>Polices utilisées</vt:lpstr>
      </vt:variant>
      <vt:variant>
        <vt:i4>3</vt:i4>
      </vt:variant>
      <vt:variant>
        <vt:lpstr>Thème</vt:lpstr>
      </vt:variant>
      <vt:variant>
        <vt:i4>1</vt:i4>
      </vt:variant>
      <vt:variant>
        <vt:lpstr>Titres des diapositives</vt:lpstr>
      </vt:variant>
      <vt:variant>
        <vt:i4>18</vt:i4>
      </vt:variant>
    </vt:vector>
  </HeadingPairs>
  <TitlesOfParts>
    <vt:vector size="22" baseType="lpstr">
      <vt:lpstr>Arial</vt:lpstr>
      <vt:lpstr>Calibri</vt:lpstr>
      <vt:lpstr>Calibri Light</vt:lpstr>
      <vt:lpstr>Thème Office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Présentation PowerPoint</dc:title>
  <dc:creator>chretienne jerome</dc:creator>
  <cp:lastModifiedBy>Maxime PRZYBYLO</cp:lastModifiedBy>
  <cp:revision>371</cp:revision>
  <dcterms:created xsi:type="dcterms:W3CDTF">2016-05-20T16:12:03Z</dcterms:created>
  <dcterms:modified xsi:type="dcterms:W3CDTF">2022-03-18T15:50:50Z</dcterms:modified>
</cp:coreProperties>
</file>