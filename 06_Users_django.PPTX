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75" r:id="rId2"/>
    <p:sldId id="315" r:id="rId3"/>
    <p:sldId id="317" r:id="rId4"/>
    <p:sldId id="318" r:id="rId5"/>
    <p:sldId id="335" r:id="rId6"/>
    <p:sldId id="336" r:id="rId7"/>
    <p:sldId id="337" r:id="rId8"/>
    <p:sldId id="338" r:id="rId9"/>
    <p:sldId id="339" r:id="rId10"/>
    <p:sldId id="340" r:id="rId11"/>
    <p:sldId id="341" r:id="rId12"/>
    <p:sldId id="342" r:id="rId13"/>
    <p:sldId id="343" r:id="rId14"/>
    <p:sldId id="344" r:id="rId15"/>
  </p:sldIdLst>
  <p:sldSz cx="12192000" cy="6858000"/>
  <p:notesSz cx="6808788" cy="994092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xime PRZYBYLO" initials="MP" lastIdx="2" clrIdx="0">
    <p:extLst>
      <p:ext uri="{19B8F6BF-5375-455C-9EA6-DF929625EA0E}">
        <p15:presenceInfo xmlns:p15="http://schemas.microsoft.com/office/powerpoint/2012/main" userId="Maxime PRZYBYL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F1"/>
    <a:srgbClr val="D5D5D5"/>
    <a:srgbClr val="A162D0"/>
    <a:srgbClr val="FF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6" autoAdjust="0"/>
    <p:restoredTop sz="90909" autoAdjust="0"/>
  </p:normalViewPr>
  <p:slideViewPr>
    <p:cSldViewPr snapToGrid="0">
      <p:cViewPr varScale="1">
        <p:scale>
          <a:sx n="80" d="100"/>
          <a:sy n="80" d="100"/>
        </p:scale>
        <p:origin x="739" y="4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50475" cy="49704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6737" y="0"/>
            <a:ext cx="2950475" cy="497046"/>
          </a:xfrm>
          <a:prstGeom prst="rect">
            <a:avLst/>
          </a:prstGeom>
        </p:spPr>
        <p:txBody>
          <a:bodyPr vert="horz" lIns="91440" tIns="45720" rIns="91440" bIns="45720" rtlCol="0"/>
          <a:lstStyle>
            <a:lvl1pPr algn="r">
              <a:defRPr sz="1200"/>
            </a:lvl1pPr>
          </a:lstStyle>
          <a:p>
            <a:fld id="{1C17683B-26D8-724E-89B0-02249384450D}" type="datetimeFigureOut">
              <a:rPr lang="fr-FR" smtClean="0"/>
              <a:t>21/03/2022</a:t>
            </a:fld>
            <a:endParaRPr lang="fr-FR"/>
          </a:p>
        </p:txBody>
      </p:sp>
      <p:sp>
        <p:nvSpPr>
          <p:cNvPr id="4" name="Espace réservé de l'image des diapositives 3"/>
          <p:cNvSpPr>
            <a:spLocks noGrp="1" noRot="1" noChangeAspect="1"/>
          </p:cNvSpPr>
          <p:nvPr>
            <p:ph type="sldImg" idx="2"/>
          </p:nvPr>
        </p:nvSpPr>
        <p:spPr>
          <a:xfrm>
            <a:off x="92075" y="746125"/>
            <a:ext cx="6624638" cy="37274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0879" y="4721940"/>
            <a:ext cx="5447030" cy="4473416"/>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42154"/>
            <a:ext cx="2950475" cy="497046"/>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6737" y="9442154"/>
            <a:ext cx="2950475" cy="497046"/>
          </a:xfrm>
          <a:prstGeom prst="rect">
            <a:avLst/>
          </a:prstGeom>
        </p:spPr>
        <p:txBody>
          <a:bodyPr vert="horz" lIns="91440" tIns="45720" rIns="91440" bIns="45720" rtlCol="0" anchor="b"/>
          <a:lstStyle>
            <a:lvl1pPr algn="r">
              <a:defRPr sz="1200"/>
            </a:lvl1pPr>
          </a:lstStyle>
          <a:p>
            <a:fld id="{80B64375-EE74-1B43-ADD9-C3016E9127A8}" type="slidenum">
              <a:rPr lang="fr-FR" smtClean="0"/>
              <a:t>‹N°›</a:t>
            </a:fld>
            <a:endParaRPr lang="fr-FR"/>
          </a:p>
        </p:txBody>
      </p:sp>
    </p:spTree>
    <p:extLst>
      <p:ext uri="{BB962C8B-B14F-4D97-AF65-F5344CB8AC3E}">
        <p14:creationId xmlns:p14="http://schemas.microsoft.com/office/powerpoint/2010/main" val="288130351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a:t>
            </a:fld>
            <a:endParaRPr lang="fr-FR"/>
          </a:p>
        </p:txBody>
      </p:sp>
    </p:spTree>
    <p:extLst>
      <p:ext uri="{BB962C8B-B14F-4D97-AF65-F5344CB8AC3E}">
        <p14:creationId xmlns:p14="http://schemas.microsoft.com/office/powerpoint/2010/main" val="2121712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Django est un </a:t>
            </a:r>
            <a:r>
              <a:rPr lang="fr-FR" dirty="0" err="1" smtClean="0"/>
              <a:t>framework</a:t>
            </a:r>
            <a:r>
              <a:rPr lang="fr-FR" dirty="0" smtClean="0"/>
              <a:t> web gratuit et open source écrit</a:t>
            </a:r>
            <a:r>
              <a:rPr lang="fr-FR" baseline="0" dirty="0" smtClean="0"/>
              <a:t> en python. </a:t>
            </a:r>
            <a:r>
              <a:rPr lang="fr-FR" sz="1200" b="0" i="0" kern="1200" dirty="0" smtClean="0">
                <a:solidFill>
                  <a:schemeClr val="tx1"/>
                </a:solidFill>
                <a:effectLst/>
                <a:latin typeface="+mn-lt"/>
                <a:ea typeface="+mn-ea"/>
                <a:cs typeface="+mn-cs"/>
              </a:rPr>
              <a:t>Un </a:t>
            </a:r>
            <a:r>
              <a:rPr lang="fr-FR" sz="1200" b="0" i="0" kern="1200" dirty="0" err="1" smtClean="0">
                <a:solidFill>
                  <a:schemeClr val="tx1"/>
                </a:solidFill>
                <a:effectLst/>
                <a:latin typeface="+mn-lt"/>
                <a:ea typeface="+mn-ea"/>
                <a:cs typeface="+mn-cs"/>
              </a:rPr>
              <a:t>framework</a:t>
            </a:r>
            <a:r>
              <a:rPr lang="fr-FR" sz="1200" b="0" i="0" kern="1200" dirty="0" smtClean="0">
                <a:solidFill>
                  <a:schemeClr val="tx1"/>
                </a:solidFill>
                <a:effectLst/>
                <a:latin typeface="+mn-lt"/>
                <a:ea typeface="+mn-ea"/>
                <a:cs typeface="+mn-cs"/>
              </a:rPr>
              <a:t> web est un ensemble de composants qui vous aide à développer des sites web plus rapidement et plus facilement. Cela permet de ne</a:t>
            </a:r>
            <a:r>
              <a:rPr lang="fr-FR" sz="1200" b="0" i="0" kern="1200" baseline="0" dirty="0" smtClean="0">
                <a:solidFill>
                  <a:schemeClr val="tx1"/>
                </a:solidFill>
                <a:effectLst/>
                <a:latin typeface="+mn-lt"/>
                <a:ea typeface="+mn-ea"/>
                <a:cs typeface="+mn-cs"/>
              </a:rPr>
              <a:t> pas avoir à </a:t>
            </a:r>
            <a:r>
              <a:rPr lang="fr-FR" sz="1200" b="0" i="0" kern="1200" baseline="0" dirty="0" err="1" smtClean="0">
                <a:solidFill>
                  <a:schemeClr val="tx1"/>
                </a:solidFill>
                <a:effectLst/>
                <a:latin typeface="+mn-lt"/>
                <a:ea typeface="+mn-ea"/>
                <a:cs typeface="+mn-cs"/>
              </a:rPr>
              <a:t>re</a:t>
            </a:r>
            <a:r>
              <a:rPr lang="fr-FR" sz="1200" b="0" i="0" kern="1200" baseline="0" dirty="0" smtClean="0">
                <a:solidFill>
                  <a:schemeClr val="tx1"/>
                </a:solidFill>
                <a:effectLst/>
                <a:latin typeface="+mn-lt"/>
                <a:ea typeface="+mn-ea"/>
                <a:cs typeface="+mn-cs"/>
              </a:rPr>
              <a:t> coder la roue, mais d’utiliser les outils du </a:t>
            </a:r>
            <a:r>
              <a:rPr lang="fr-FR" sz="1200" b="0" i="0" kern="1200" baseline="0" dirty="0" err="1" smtClean="0">
                <a:solidFill>
                  <a:schemeClr val="tx1"/>
                </a:solidFill>
                <a:effectLst/>
                <a:latin typeface="+mn-lt"/>
                <a:ea typeface="+mn-ea"/>
                <a:cs typeface="+mn-cs"/>
              </a:rPr>
              <a:t>framework</a:t>
            </a:r>
            <a:r>
              <a:rPr lang="fr-FR" sz="1200" b="0" i="0" kern="1200" baseline="0" dirty="0" smtClean="0">
                <a:solidFill>
                  <a:schemeClr val="tx1"/>
                </a:solidFill>
                <a:effectLst/>
                <a:latin typeface="+mn-lt"/>
                <a:ea typeface="+mn-ea"/>
                <a:cs typeface="+mn-cs"/>
              </a:rPr>
              <a:t> pour le faire.</a:t>
            </a:r>
            <a:endParaRPr lang="fr-FR" dirty="0" smtClean="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2</a:t>
            </a:fld>
            <a:endParaRPr lang="fr-FR"/>
          </a:p>
        </p:txBody>
      </p:sp>
    </p:spTree>
    <p:extLst>
      <p:ext uri="{BB962C8B-B14F-4D97-AF65-F5344CB8AC3E}">
        <p14:creationId xmlns:p14="http://schemas.microsoft.com/office/powerpoint/2010/main" val="3654963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3</a:t>
            </a:fld>
            <a:endParaRPr lang="fr-FR"/>
          </a:p>
        </p:txBody>
      </p:sp>
    </p:spTree>
    <p:extLst>
      <p:ext uri="{BB962C8B-B14F-4D97-AF65-F5344CB8AC3E}">
        <p14:creationId xmlns:p14="http://schemas.microsoft.com/office/powerpoint/2010/main" val="1822077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4</a:t>
            </a:fld>
            <a:endParaRPr lang="fr-FR"/>
          </a:p>
        </p:txBody>
      </p:sp>
    </p:spTree>
    <p:extLst>
      <p:ext uri="{BB962C8B-B14F-4D97-AF65-F5344CB8AC3E}">
        <p14:creationId xmlns:p14="http://schemas.microsoft.com/office/powerpoint/2010/main" val="588287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5</a:t>
            </a:fld>
            <a:endParaRPr lang="fr-FR"/>
          </a:p>
        </p:txBody>
      </p:sp>
    </p:spTree>
    <p:extLst>
      <p:ext uri="{BB962C8B-B14F-4D97-AF65-F5344CB8AC3E}">
        <p14:creationId xmlns:p14="http://schemas.microsoft.com/office/powerpoint/2010/main" val="1117102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6</a:t>
            </a:fld>
            <a:endParaRPr lang="fr-FR"/>
          </a:p>
        </p:txBody>
      </p:sp>
    </p:spTree>
    <p:extLst>
      <p:ext uri="{BB962C8B-B14F-4D97-AF65-F5344CB8AC3E}">
        <p14:creationId xmlns:p14="http://schemas.microsoft.com/office/powerpoint/2010/main" val="4056390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7</a:t>
            </a:fld>
            <a:endParaRPr lang="fr-FR"/>
          </a:p>
        </p:txBody>
      </p:sp>
    </p:spTree>
    <p:extLst>
      <p:ext uri="{BB962C8B-B14F-4D97-AF65-F5344CB8AC3E}">
        <p14:creationId xmlns:p14="http://schemas.microsoft.com/office/powerpoint/2010/main" val="4225207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8</a:t>
            </a:fld>
            <a:endParaRPr lang="fr-FR"/>
          </a:p>
        </p:txBody>
      </p:sp>
    </p:spTree>
    <p:extLst>
      <p:ext uri="{BB962C8B-B14F-4D97-AF65-F5344CB8AC3E}">
        <p14:creationId xmlns:p14="http://schemas.microsoft.com/office/powerpoint/2010/main" val="1731741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9</a:t>
            </a:fld>
            <a:endParaRPr lang="fr-FR"/>
          </a:p>
        </p:txBody>
      </p:sp>
    </p:spTree>
    <p:extLst>
      <p:ext uri="{BB962C8B-B14F-4D97-AF65-F5344CB8AC3E}">
        <p14:creationId xmlns:p14="http://schemas.microsoft.com/office/powerpoint/2010/main" val="2069316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10</a:t>
            </a:fld>
            <a:endParaRPr lang="fr-FR"/>
          </a:p>
        </p:txBody>
      </p:sp>
    </p:spTree>
    <p:extLst>
      <p:ext uri="{BB962C8B-B14F-4D97-AF65-F5344CB8AC3E}">
        <p14:creationId xmlns:p14="http://schemas.microsoft.com/office/powerpoint/2010/main" val="94929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11</a:t>
            </a:fld>
            <a:endParaRPr lang="fr-FR"/>
          </a:p>
        </p:txBody>
      </p:sp>
    </p:spTree>
    <p:extLst>
      <p:ext uri="{BB962C8B-B14F-4D97-AF65-F5344CB8AC3E}">
        <p14:creationId xmlns:p14="http://schemas.microsoft.com/office/powerpoint/2010/main" val="4258178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12</a:t>
            </a:fld>
            <a:endParaRPr lang="fr-FR"/>
          </a:p>
        </p:txBody>
      </p:sp>
    </p:spTree>
    <p:extLst>
      <p:ext uri="{BB962C8B-B14F-4D97-AF65-F5344CB8AC3E}">
        <p14:creationId xmlns:p14="http://schemas.microsoft.com/office/powerpoint/2010/main" val="42494515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13</a:t>
            </a:fld>
            <a:endParaRPr lang="fr-FR"/>
          </a:p>
        </p:txBody>
      </p:sp>
    </p:spTree>
    <p:extLst>
      <p:ext uri="{BB962C8B-B14F-4D97-AF65-F5344CB8AC3E}">
        <p14:creationId xmlns:p14="http://schemas.microsoft.com/office/powerpoint/2010/main" val="2149423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14</a:t>
            </a:fld>
            <a:endParaRPr lang="fr-FR"/>
          </a:p>
        </p:txBody>
      </p:sp>
    </p:spTree>
    <p:extLst>
      <p:ext uri="{BB962C8B-B14F-4D97-AF65-F5344CB8AC3E}">
        <p14:creationId xmlns:p14="http://schemas.microsoft.com/office/powerpoint/2010/main" val="3349479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59C091AA-3F0C-4182-9D7B-1EB634D8256B}" type="datetimeFigureOut">
              <a:rPr lang="fr-FR" smtClean="0"/>
              <a:t>21/03/2022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79645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21/03/2022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142329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59C091AA-3F0C-4182-9D7B-1EB634D8256B}" type="datetimeFigureOut">
              <a:rPr lang="fr-FR" smtClean="0"/>
              <a:t>21/03/2022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377981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59C091AA-3F0C-4182-9D7B-1EB634D8256B}" type="datetimeFigureOut">
              <a:rPr lang="fr-FR" smtClean="0"/>
              <a:t>21/03/2022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577741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59C091AA-3F0C-4182-9D7B-1EB634D8256B}" type="datetimeFigureOut">
              <a:rPr lang="fr-FR" smtClean="0"/>
              <a:t>21/03/2022</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459691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59C091AA-3F0C-4182-9D7B-1EB634D8256B}" type="datetimeFigureOut">
              <a:rPr lang="fr-FR" smtClean="0"/>
              <a:t>21/03/2022</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002490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59C091AA-3F0C-4182-9D7B-1EB634D8256B}" type="datetimeFigureOut">
              <a:rPr lang="fr-FR" smtClean="0"/>
              <a:t>21/03/2022</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10102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9C091AA-3F0C-4182-9D7B-1EB634D8256B}" type="datetimeFigureOut">
              <a:rPr lang="fr-FR" smtClean="0"/>
              <a:t>21/03/2022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968089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9C091AA-3F0C-4182-9D7B-1EB634D8256B}" type="datetimeFigureOut">
              <a:rPr lang="fr-FR" smtClean="0"/>
              <a:t>21/03/2022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841683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21/03/2022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031157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21/03/2022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290548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lumMod val="85000"/>
              </a:schemeClr>
            </a:gs>
            <a:gs pos="100000">
              <a:schemeClr val="tx1">
                <a:lumMod val="65000"/>
                <a:lumOff val="35000"/>
              </a:schemeClr>
            </a:gs>
          </a:gsLst>
          <a:lin ang="2700000" scaled="1"/>
          <a:tileRect/>
        </a:gra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C091AA-3F0C-4182-9D7B-1EB634D8256B}" type="datetimeFigureOut">
              <a:rPr lang="fr-FR" smtClean="0"/>
              <a:t>21/03/2022</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25B0E8-7D99-4688-B6D3-8DC5133195E9}" type="slidenum">
              <a:rPr lang="fr-FR" smtClean="0"/>
              <a:t>‹N°›</a:t>
            </a:fld>
            <a:endParaRPr lang="fr-FR"/>
          </a:p>
        </p:txBody>
      </p:sp>
    </p:spTree>
    <p:extLst>
      <p:ext uri="{BB962C8B-B14F-4D97-AF65-F5344CB8AC3E}">
        <p14:creationId xmlns:p14="http://schemas.microsoft.com/office/powerpoint/2010/main" val="1355722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jp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4.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4.xml"/><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5.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5.xml"/><Relationship Id="rId16"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8.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17" Type="http://schemas.openxmlformats.org/officeDocument/2006/relationships/image" Target="../media/image23.png"/><Relationship Id="rId2" Type="http://schemas.openxmlformats.org/officeDocument/2006/relationships/notesSlide" Target="../notesSlides/notesSlide6.xml"/><Relationship Id="rId16"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1.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18" Type="http://schemas.openxmlformats.org/officeDocument/2006/relationships/image" Target="../media/image28.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17" Type="http://schemas.openxmlformats.org/officeDocument/2006/relationships/image" Target="../media/image27.png"/><Relationship Id="rId2" Type="http://schemas.openxmlformats.org/officeDocument/2006/relationships/notesSlide" Target="../notesSlides/notesSlide7.xml"/><Relationship Id="rId16"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5.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8.xml"/><Relationship Id="rId16"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30.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9.png"/></Relationships>
</file>

<file path=ppt/slides/_rels/slide9.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32.png"/></Relationships>
</file>

<file path=ppt/slides/_rels/slide10.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33.png"/></Relationships>
</file>

<file path=ppt/slides/_rels/slide1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35.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2.xml"/><Relationship Id="rId16"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37.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36.png"/></Relationships>
</file>

<file path=ppt/slides/_rels/slide13.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40.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39.png"/></Relationships>
</file>

<file path=ppt/slides/_rels/slide14.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3">
            <a:extLst>
              <a:ext uri="{28A0092B-C50C-407E-A947-70E740481C1C}">
                <a14:useLocalDpi xmlns:a14="http://schemas.microsoft.com/office/drawing/2010/main" val="0"/>
              </a:ext>
            </a:extLst>
          </a:blip>
          <a:srcRect t="17344"/>
          <a:stretch/>
        </p:blipFill>
        <p:spPr>
          <a:xfrm>
            <a:off x="-1" y="1161751"/>
            <a:ext cx="12247963" cy="5696249"/>
          </a:xfrm>
          <a:prstGeom prst="rect">
            <a:avLst/>
          </a:prstGeom>
        </p:spPr>
      </p:pic>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p:cNvSpPr txBox="1"/>
          <p:nvPr/>
        </p:nvSpPr>
        <p:spPr>
          <a:xfrm>
            <a:off x="0" y="696885"/>
            <a:ext cx="12198786" cy="369332"/>
          </a:xfrm>
          <a:prstGeom prst="rect">
            <a:avLst/>
          </a:prstGeom>
          <a:noFill/>
        </p:spPr>
        <p:txBody>
          <a:bodyPr wrap="square" rtlCol="0">
            <a:spAutoFit/>
          </a:bodyPr>
          <a:lstStyle/>
          <a:p>
            <a:pPr algn="ctr"/>
            <a:r>
              <a:rPr lang="fr-FR" dirty="0" smtClean="0">
                <a:solidFill>
                  <a:schemeClr val="bg1"/>
                </a:solidFill>
              </a:rPr>
              <a:t>Présentation ADRAR Pôle Numérique</a:t>
            </a:r>
            <a:endParaRPr lang="fr-FR" dirty="0">
              <a:solidFill>
                <a:schemeClr val="bg1"/>
              </a:solidFill>
            </a:endParaRPr>
          </a:p>
        </p:txBody>
      </p:sp>
      <p:sp>
        <p:nvSpPr>
          <p:cNvPr id="40" name="ZoneTexte 39"/>
          <p:cNvSpPr txBox="1"/>
          <p:nvPr/>
        </p:nvSpPr>
        <p:spPr>
          <a:xfrm>
            <a:off x="6456211" y="1313092"/>
            <a:ext cx="4151883" cy="246221"/>
          </a:xfrm>
          <a:prstGeom prst="rect">
            <a:avLst/>
          </a:prstGeom>
          <a:noFill/>
        </p:spPr>
        <p:txBody>
          <a:bodyPr wrap="square" rtlCol="0">
            <a:spAutoFit/>
          </a:bodyPr>
          <a:lstStyle/>
          <a:p>
            <a:pPr algn="ctr"/>
            <a:r>
              <a:rPr lang="fr-FR" sz="1000" dirty="0">
                <a:solidFill>
                  <a:schemeClr val="bg1"/>
                </a:solidFill>
              </a:rPr>
              <a:t>Suivez-nous… </a:t>
            </a:r>
            <a:r>
              <a:rPr lang="fr-FR" sz="1000" dirty="0" smtClean="0">
                <a:solidFill>
                  <a:schemeClr val="bg1"/>
                </a:solidFill>
              </a:rPr>
              <a:t>LinkedIn            et Twitter           </a:t>
            </a:r>
            <a:r>
              <a:rPr lang="fr-FR" sz="1000" b="1" dirty="0" smtClean="0">
                <a:solidFill>
                  <a:schemeClr val="bg1">
                    <a:lumMod val="95000"/>
                  </a:schemeClr>
                </a:solidFill>
              </a:rPr>
              <a:t>@</a:t>
            </a:r>
            <a:r>
              <a:rPr lang="fr-FR" sz="1000" b="1" dirty="0" err="1">
                <a:solidFill>
                  <a:schemeClr val="bg1">
                    <a:lumMod val="95000"/>
                  </a:schemeClr>
                </a:solidFill>
              </a:rPr>
              <a:t>Adrar_Numerique</a:t>
            </a:r>
            <a:endParaRPr lang="fr-FR" sz="1000" b="1" dirty="0">
              <a:solidFill>
                <a:schemeClr val="bg1">
                  <a:lumMod val="95000"/>
                </a:schemeClr>
              </a:solidFill>
            </a:endParaRPr>
          </a:p>
        </p:txBody>
      </p:sp>
      <p:pic>
        <p:nvPicPr>
          <p:cNvPr id="41" name="Image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9541" y="1320857"/>
            <a:ext cx="228243" cy="217374"/>
          </a:xfrm>
          <a:prstGeom prst="rect">
            <a:avLst/>
          </a:prstGeom>
        </p:spPr>
      </p:pic>
      <p:pic>
        <p:nvPicPr>
          <p:cNvPr id="42" name="Image 41"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77911" y="1344858"/>
            <a:ext cx="169371" cy="169371"/>
          </a:xfrm>
          <a:prstGeom prst="rect">
            <a:avLst/>
          </a:prstGeom>
        </p:spPr>
      </p:pic>
      <p:grpSp>
        <p:nvGrpSpPr>
          <p:cNvPr id="5" name="Groupe 4"/>
          <p:cNvGrpSpPr/>
          <p:nvPr/>
        </p:nvGrpSpPr>
        <p:grpSpPr>
          <a:xfrm>
            <a:off x="70311" y="-41891"/>
            <a:ext cx="12056372" cy="746449"/>
            <a:chOff x="70311" y="-41891"/>
            <a:chExt cx="12056372" cy="746449"/>
          </a:xfrm>
        </p:grpSpPr>
        <p:grpSp>
          <p:nvGrpSpPr>
            <p:cNvPr id="16" name="Groupe 15"/>
            <p:cNvGrpSpPr/>
            <p:nvPr/>
          </p:nvGrpSpPr>
          <p:grpSpPr>
            <a:xfrm>
              <a:off x="70311" y="-41891"/>
              <a:ext cx="12056372" cy="746449"/>
              <a:chOff x="51808" y="-49564"/>
              <a:chExt cx="12056372" cy="746449"/>
            </a:xfrm>
          </p:grpSpPr>
          <p:pic>
            <p:nvPicPr>
              <p:cNvPr id="19" name="Image 18"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20" name="Image 19"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21" name="Image 20"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22" name="Image 21"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24" name="Image 23"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25" name="Image 24"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26" name="Image 25"/>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4" name="Image 3"/>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Tree>
    <p:extLst>
      <p:ext uri="{BB962C8B-B14F-4D97-AF65-F5344CB8AC3E}">
        <p14:creationId xmlns:p14="http://schemas.microsoft.com/office/powerpoint/2010/main" val="38234442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3" name="Image 2"/>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411697" y="1809724"/>
            <a:ext cx="7004292" cy="3922403"/>
          </a:xfrm>
          <a:prstGeom prst="rect">
            <a:avLst/>
          </a:prstGeom>
        </p:spPr>
      </p:pic>
    </p:spTree>
    <p:extLst>
      <p:ext uri="{BB962C8B-B14F-4D97-AF65-F5344CB8AC3E}">
        <p14:creationId xmlns:p14="http://schemas.microsoft.com/office/powerpoint/2010/main" val="5266954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1657669" y="2348761"/>
            <a:ext cx="8512348" cy="2554545"/>
          </a:xfrm>
          <a:prstGeom prst="rect">
            <a:avLst/>
          </a:prstGeom>
          <a:noFill/>
        </p:spPr>
        <p:txBody>
          <a:bodyPr wrap="square" rtlCol="0">
            <a:spAutoFit/>
          </a:bodyPr>
          <a:lstStyle/>
          <a:p>
            <a:pPr algn="ctr"/>
            <a:r>
              <a:rPr lang="fr-FR" sz="8000" b="1" u="sng" dirty="0" smtClean="0"/>
              <a:t>GESTION DES UTILISATEURS</a:t>
            </a:r>
            <a:endParaRPr lang="fr-FR" sz="8000" b="1" u="sng" dirty="0"/>
          </a:p>
        </p:txBody>
      </p:sp>
    </p:spTree>
    <p:extLst>
      <p:ext uri="{BB962C8B-B14F-4D97-AF65-F5344CB8AC3E}">
        <p14:creationId xmlns:p14="http://schemas.microsoft.com/office/powerpoint/2010/main" val="798114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0" name="ZoneTexte 19"/>
          <p:cNvSpPr txBox="1"/>
          <p:nvPr/>
        </p:nvSpPr>
        <p:spPr>
          <a:xfrm>
            <a:off x="169660" y="1219613"/>
            <a:ext cx="11488366" cy="1754326"/>
          </a:xfrm>
          <a:prstGeom prst="rect">
            <a:avLst/>
          </a:prstGeom>
          <a:noFill/>
        </p:spPr>
        <p:txBody>
          <a:bodyPr wrap="square" rtlCol="0">
            <a:spAutoFit/>
          </a:bodyPr>
          <a:lstStyle/>
          <a:p>
            <a:r>
              <a:rPr lang="fr-FR" dirty="0" smtClean="0"/>
              <a:t>Nous avons vus auparavant comment créer un utilisateur administrateur afin de manager notre site via la page d’administration. Nous avons pu faire ceci car </a:t>
            </a:r>
            <a:r>
              <a:rPr lang="fr-FR" dirty="0" err="1" smtClean="0"/>
              <a:t>django</a:t>
            </a:r>
            <a:r>
              <a:rPr lang="fr-FR" dirty="0" smtClean="0"/>
              <a:t> met en place automatiquement dans la base de donnée de votre projet une table pour les utilisateurs. Nous allons voir comment utiliser cette table afin de permettre aux visiteurs de notre site de créer un compte et de s’authentifier. Nous restreindrons ensuite la possibilité de voter aux utilisateurs enregistrés. Pour se faire nous allons tout d’abord rajouter sur notre page d’index les boutons </a:t>
            </a:r>
            <a:r>
              <a:rPr lang="fr-FR" i="1" dirty="0" smtClean="0"/>
              <a:t>inscription, connexion </a:t>
            </a:r>
            <a:r>
              <a:rPr lang="fr-FR" dirty="0" smtClean="0"/>
              <a:t>et </a:t>
            </a:r>
            <a:r>
              <a:rPr lang="fr-FR" i="1" dirty="0" smtClean="0"/>
              <a:t>déconnexion </a:t>
            </a:r>
            <a:r>
              <a:rPr lang="fr-FR" dirty="0" smtClean="0"/>
              <a:t>(en créant également les </a:t>
            </a:r>
            <a:r>
              <a:rPr lang="fr-FR" dirty="0" err="1" smtClean="0"/>
              <a:t>urls</a:t>
            </a:r>
            <a:r>
              <a:rPr lang="fr-FR" dirty="0" smtClean="0"/>
              <a:t>, vues et </a:t>
            </a:r>
            <a:r>
              <a:rPr lang="fr-FR" dirty="0" err="1" smtClean="0"/>
              <a:t>templates</a:t>
            </a:r>
            <a:r>
              <a:rPr lang="fr-FR" dirty="0" smtClean="0"/>
              <a:t> associés).</a:t>
            </a:r>
            <a:endParaRPr lang="fr-FR" dirty="0"/>
          </a:p>
        </p:txBody>
      </p:sp>
      <p:pic>
        <p:nvPicPr>
          <p:cNvPr id="3" name="Image 2"/>
          <p:cNvPicPr>
            <a:picLocks noChangeAspect="1"/>
          </p:cNvPicPr>
          <p:nvPr/>
        </p:nvPicPr>
        <p:blipFill>
          <a:blip r:embed="rId14"/>
          <a:stretch>
            <a:fillRect/>
          </a:stretch>
        </p:blipFill>
        <p:spPr>
          <a:xfrm>
            <a:off x="229285" y="3142687"/>
            <a:ext cx="5429250" cy="1057275"/>
          </a:xfrm>
          <a:prstGeom prst="rect">
            <a:avLst/>
          </a:prstGeom>
        </p:spPr>
      </p:pic>
      <p:pic>
        <p:nvPicPr>
          <p:cNvPr id="7" name="Image 6"/>
          <p:cNvPicPr>
            <a:picLocks noChangeAspect="1"/>
          </p:cNvPicPr>
          <p:nvPr/>
        </p:nvPicPr>
        <p:blipFill>
          <a:blip r:embed="rId15"/>
          <a:stretch>
            <a:fillRect/>
          </a:stretch>
        </p:blipFill>
        <p:spPr>
          <a:xfrm>
            <a:off x="6169152" y="3138945"/>
            <a:ext cx="4476750" cy="2247900"/>
          </a:xfrm>
          <a:prstGeom prst="rect">
            <a:avLst/>
          </a:prstGeom>
        </p:spPr>
      </p:pic>
      <p:pic>
        <p:nvPicPr>
          <p:cNvPr id="8" name="Image 7"/>
          <p:cNvPicPr>
            <a:picLocks noChangeAspect="1"/>
          </p:cNvPicPr>
          <p:nvPr/>
        </p:nvPicPr>
        <p:blipFill>
          <a:blip r:embed="rId16"/>
          <a:stretch>
            <a:fillRect/>
          </a:stretch>
        </p:blipFill>
        <p:spPr>
          <a:xfrm>
            <a:off x="229285" y="4596270"/>
            <a:ext cx="4752975" cy="790575"/>
          </a:xfrm>
          <a:prstGeom prst="rect">
            <a:avLst/>
          </a:prstGeom>
        </p:spPr>
      </p:pic>
    </p:spTree>
    <p:extLst>
      <p:ext uri="{BB962C8B-B14F-4D97-AF65-F5344CB8AC3E}">
        <p14:creationId xmlns:p14="http://schemas.microsoft.com/office/powerpoint/2010/main" val="19815007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69660" y="1219613"/>
            <a:ext cx="11488366" cy="1200329"/>
          </a:xfrm>
          <a:prstGeom prst="rect">
            <a:avLst/>
          </a:prstGeom>
          <a:noFill/>
        </p:spPr>
        <p:txBody>
          <a:bodyPr wrap="square" rtlCol="0">
            <a:spAutoFit/>
          </a:bodyPr>
          <a:lstStyle/>
          <a:p>
            <a:r>
              <a:rPr lang="fr-FR" dirty="0" smtClean="0"/>
              <a:t>Pour le moments nos vues redirigent juste vers les </a:t>
            </a:r>
            <a:r>
              <a:rPr lang="fr-FR" dirty="0" err="1" smtClean="0"/>
              <a:t>templates</a:t>
            </a:r>
            <a:r>
              <a:rPr lang="fr-FR" dirty="0" smtClean="0"/>
              <a:t> de nos différentes pages. La page de connexion sera un formulaire permettant d’indiquer ses identifiants de connexion et redirigeant vers une page de bienvenue. La page d’inscription sera également un formulaire permettant de s’enregistrer et dont le bouton redirige vers de résumé des informations de connexion. La page de déconnexion afficher juste un message et disposera d’un liens vers notre index.</a:t>
            </a:r>
            <a:endParaRPr lang="fr-FR" dirty="0"/>
          </a:p>
        </p:txBody>
      </p:sp>
      <p:pic>
        <p:nvPicPr>
          <p:cNvPr id="4" name="Image 3"/>
          <p:cNvPicPr>
            <a:picLocks noChangeAspect="1"/>
          </p:cNvPicPr>
          <p:nvPr/>
        </p:nvPicPr>
        <p:blipFill>
          <a:blip r:embed="rId14"/>
          <a:stretch>
            <a:fillRect/>
          </a:stretch>
        </p:blipFill>
        <p:spPr>
          <a:xfrm>
            <a:off x="9074506" y="2399133"/>
            <a:ext cx="3124280" cy="444229"/>
          </a:xfrm>
          <a:prstGeom prst="rect">
            <a:avLst/>
          </a:prstGeom>
        </p:spPr>
      </p:pic>
      <p:pic>
        <p:nvPicPr>
          <p:cNvPr id="5" name="Image 4"/>
          <p:cNvPicPr>
            <a:picLocks noChangeAspect="1"/>
          </p:cNvPicPr>
          <p:nvPr/>
        </p:nvPicPr>
        <p:blipFill>
          <a:blip r:embed="rId15"/>
          <a:stretch>
            <a:fillRect/>
          </a:stretch>
        </p:blipFill>
        <p:spPr>
          <a:xfrm>
            <a:off x="-808" y="2407068"/>
            <a:ext cx="4700063" cy="4100374"/>
          </a:xfrm>
          <a:prstGeom prst="rect">
            <a:avLst/>
          </a:prstGeom>
        </p:spPr>
      </p:pic>
      <p:pic>
        <p:nvPicPr>
          <p:cNvPr id="6" name="Image 5"/>
          <p:cNvPicPr>
            <a:picLocks noChangeAspect="1"/>
          </p:cNvPicPr>
          <p:nvPr/>
        </p:nvPicPr>
        <p:blipFill>
          <a:blip r:embed="rId16"/>
          <a:stretch>
            <a:fillRect/>
          </a:stretch>
        </p:blipFill>
        <p:spPr>
          <a:xfrm>
            <a:off x="4699255" y="2399133"/>
            <a:ext cx="4375251" cy="4108309"/>
          </a:xfrm>
          <a:prstGeom prst="rect">
            <a:avLst/>
          </a:prstGeom>
        </p:spPr>
      </p:pic>
    </p:spTree>
    <p:extLst>
      <p:ext uri="{BB962C8B-B14F-4D97-AF65-F5344CB8AC3E}">
        <p14:creationId xmlns:p14="http://schemas.microsoft.com/office/powerpoint/2010/main" val="30054517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64682" y="1285630"/>
            <a:ext cx="11488366" cy="923330"/>
          </a:xfrm>
          <a:prstGeom prst="rect">
            <a:avLst/>
          </a:prstGeom>
          <a:noFill/>
        </p:spPr>
        <p:txBody>
          <a:bodyPr wrap="square" rtlCol="0">
            <a:spAutoFit/>
          </a:bodyPr>
          <a:lstStyle/>
          <a:p>
            <a:r>
              <a:rPr lang="fr-FR" dirty="0" smtClean="0"/>
              <a:t>Intéressons nous d’abord à la partie inscription. Créons la vue </a:t>
            </a:r>
            <a:r>
              <a:rPr lang="fr-FR" i="1" dirty="0" err="1" smtClean="0"/>
              <a:t>registered</a:t>
            </a:r>
            <a:r>
              <a:rPr lang="fr-FR" i="1" dirty="0" smtClean="0"/>
              <a:t>,</a:t>
            </a:r>
            <a:r>
              <a:rPr lang="fr-FR" dirty="0" smtClean="0"/>
              <a:t> vers laquelle nous redirigeons notre formulaire d’enregistrement, ainsi que son url et son </a:t>
            </a:r>
            <a:r>
              <a:rPr lang="fr-FR" dirty="0" err="1" smtClean="0"/>
              <a:t>template</a:t>
            </a:r>
            <a:r>
              <a:rPr lang="fr-FR" dirty="0" smtClean="0"/>
              <a:t>. Pour interagir avec la table d’utilisateurs de </a:t>
            </a:r>
            <a:r>
              <a:rPr lang="fr-FR" dirty="0" err="1" smtClean="0"/>
              <a:t>django</a:t>
            </a:r>
            <a:r>
              <a:rPr lang="fr-FR" dirty="0" smtClean="0"/>
              <a:t> nous aurons besoin d’importer le model </a:t>
            </a:r>
            <a:r>
              <a:rPr lang="fr-FR" i="1" dirty="0" smtClean="0"/>
              <a:t>User</a:t>
            </a:r>
            <a:r>
              <a:rPr lang="fr-FR" dirty="0" smtClean="0"/>
              <a:t>.</a:t>
            </a:r>
            <a:endParaRPr lang="fr-FR" dirty="0"/>
          </a:p>
        </p:txBody>
      </p:sp>
      <p:pic>
        <p:nvPicPr>
          <p:cNvPr id="3" name="Image 2"/>
          <p:cNvPicPr>
            <a:picLocks noChangeAspect="1"/>
          </p:cNvPicPr>
          <p:nvPr/>
        </p:nvPicPr>
        <p:blipFill>
          <a:blip r:embed="rId14"/>
          <a:stretch>
            <a:fillRect/>
          </a:stretch>
        </p:blipFill>
        <p:spPr>
          <a:xfrm>
            <a:off x="169660" y="2154764"/>
            <a:ext cx="3829050" cy="304800"/>
          </a:xfrm>
          <a:prstGeom prst="rect">
            <a:avLst/>
          </a:prstGeom>
        </p:spPr>
      </p:pic>
      <p:sp>
        <p:nvSpPr>
          <p:cNvPr id="21" name="ZoneTexte 20"/>
          <p:cNvSpPr txBox="1"/>
          <p:nvPr/>
        </p:nvSpPr>
        <p:spPr>
          <a:xfrm>
            <a:off x="5565357" y="2429413"/>
            <a:ext cx="6028751" cy="2308324"/>
          </a:xfrm>
          <a:prstGeom prst="rect">
            <a:avLst/>
          </a:prstGeom>
          <a:noFill/>
        </p:spPr>
        <p:txBody>
          <a:bodyPr wrap="square" rtlCol="0">
            <a:spAutoFit/>
          </a:bodyPr>
          <a:lstStyle/>
          <a:p>
            <a:r>
              <a:rPr lang="fr-FR" dirty="0" smtClean="0"/>
              <a:t>Ici nous récupérons donc les éléments de l’attribut </a:t>
            </a:r>
            <a:r>
              <a:rPr lang="fr-FR" i="1" dirty="0" smtClean="0"/>
              <a:t>POST</a:t>
            </a:r>
            <a:r>
              <a:rPr lang="fr-FR" dirty="0" smtClean="0"/>
              <a:t> de la requête, nous créons les éléments de notre utilisateur et nous utilisons la méthode </a:t>
            </a:r>
            <a:r>
              <a:rPr lang="fr-FR" i="1" dirty="0" err="1" smtClean="0"/>
              <a:t>create_user</a:t>
            </a:r>
            <a:r>
              <a:rPr lang="fr-FR" dirty="0"/>
              <a:t> </a:t>
            </a:r>
            <a:r>
              <a:rPr lang="fr-FR" dirty="0" smtClean="0"/>
              <a:t>du model pour créer l’utilisateur. Nous n’oublions pas de sauvegarder notre utilisateur dans la base de données.</a:t>
            </a:r>
          </a:p>
          <a:p>
            <a:endParaRPr lang="fr-FR" dirty="0"/>
          </a:p>
          <a:p>
            <a:r>
              <a:rPr lang="fr-FR" dirty="0" smtClean="0"/>
              <a:t>Nous chargeons ensuite le </a:t>
            </a:r>
            <a:r>
              <a:rPr lang="fr-FR" dirty="0" err="1" smtClean="0"/>
              <a:t>template</a:t>
            </a:r>
            <a:r>
              <a:rPr lang="fr-FR" dirty="0" smtClean="0"/>
              <a:t> </a:t>
            </a:r>
            <a:r>
              <a:rPr lang="fr-FR" i="1" dirty="0" smtClean="0"/>
              <a:t>registered.html </a:t>
            </a:r>
            <a:r>
              <a:rPr lang="fr-FR" dirty="0" smtClean="0"/>
              <a:t>avec dans le contexte notre utilisateur.</a:t>
            </a:r>
            <a:endParaRPr lang="fr-FR" dirty="0"/>
          </a:p>
        </p:txBody>
      </p:sp>
      <p:pic>
        <p:nvPicPr>
          <p:cNvPr id="4" name="Image 3"/>
          <p:cNvPicPr>
            <a:picLocks noChangeAspect="1"/>
          </p:cNvPicPr>
          <p:nvPr/>
        </p:nvPicPr>
        <p:blipFill>
          <a:blip r:embed="rId15"/>
          <a:stretch>
            <a:fillRect/>
          </a:stretch>
        </p:blipFill>
        <p:spPr>
          <a:xfrm>
            <a:off x="164682" y="2530467"/>
            <a:ext cx="5400675" cy="3019425"/>
          </a:xfrm>
          <a:prstGeom prst="rect">
            <a:avLst/>
          </a:prstGeom>
        </p:spPr>
      </p:pic>
      <p:pic>
        <p:nvPicPr>
          <p:cNvPr id="5" name="Image 4"/>
          <p:cNvPicPr>
            <a:picLocks noChangeAspect="1"/>
          </p:cNvPicPr>
          <p:nvPr/>
        </p:nvPicPr>
        <p:blipFill>
          <a:blip r:embed="rId16"/>
          <a:stretch>
            <a:fillRect/>
          </a:stretch>
        </p:blipFill>
        <p:spPr>
          <a:xfrm>
            <a:off x="164682" y="5623862"/>
            <a:ext cx="5400675" cy="272466"/>
          </a:xfrm>
          <a:prstGeom prst="rect">
            <a:avLst/>
          </a:prstGeom>
        </p:spPr>
      </p:pic>
      <p:pic>
        <p:nvPicPr>
          <p:cNvPr id="6" name="Image 5"/>
          <p:cNvPicPr>
            <a:picLocks noChangeAspect="1"/>
          </p:cNvPicPr>
          <p:nvPr/>
        </p:nvPicPr>
        <p:blipFill>
          <a:blip r:embed="rId17"/>
          <a:stretch>
            <a:fillRect/>
          </a:stretch>
        </p:blipFill>
        <p:spPr>
          <a:xfrm>
            <a:off x="5658535" y="4848578"/>
            <a:ext cx="4543425" cy="1047750"/>
          </a:xfrm>
          <a:prstGeom prst="rect">
            <a:avLst/>
          </a:prstGeom>
        </p:spPr>
      </p:pic>
    </p:spTree>
    <p:extLst>
      <p:ext uri="{BB962C8B-B14F-4D97-AF65-F5344CB8AC3E}">
        <p14:creationId xmlns:p14="http://schemas.microsoft.com/office/powerpoint/2010/main" val="2462472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64682" y="1285630"/>
            <a:ext cx="11488366" cy="1200329"/>
          </a:xfrm>
          <a:prstGeom prst="rect">
            <a:avLst/>
          </a:prstGeom>
          <a:noFill/>
        </p:spPr>
        <p:txBody>
          <a:bodyPr wrap="square" rtlCol="0">
            <a:spAutoFit/>
          </a:bodyPr>
          <a:lstStyle/>
          <a:p>
            <a:r>
              <a:rPr lang="fr-FR" dirty="0" smtClean="0"/>
              <a:t>Voyons maintenant la connexion d’un utilisateur. Pour ca nous avons créé un formulaire afin d’authentifier notre visiteur et qui redirige vers la vue </a:t>
            </a:r>
            <a:r>
              <a:rPr lang="fr-FR" i="1" dirty="0" err="1" smtClean="0"/>
              <a:t>welcome</a:t>
            </a:r>
            <a:r>
              <a:rPr lang="fr-FR" dirty="0" smtClean="0"/>
              <a:t>. Rédigeons donc cette vue, ajoutons son url et créons son </a:t>
            </a:r>
            <a:r>
              <a:rPr lang="fr-FR" dirty="0" err="1" smtClean="0"/>
              <a:t>template</a:t>
            </a:r>
            <a:r>
              <a:rPr lang="fr-FR" dirty="0" smtClean="0"/>
              <a:t>. Nous allons également créer une page dans le cas où l’authentification s’est mal passé. Pour authentifier notre utilisateur nous aurons besoin d’importer la méthode </a:t>
            </a:r>
            <a:r>
              <a:rPr lang="fr-FR" i="1" dirty="0" smtClean="0"/>
              <a:t>login</a:t>
            </a:r>
            <a:r>
              <a:rPr lang="fr-FR" dirty="0" smtClean="0"/>
              <a:t> ainsi que la méthode </a:t>
            </a:r>
            <a:r>
              <a:rPr lang="fr-FR" i="1" dirty="0" err="1" smtClean="0"/>
              <a:t>authenticate</a:t>
            </a:r>
            <a:r>
              <a:rPr lang="fr-FR" dirty="0" smtClean="0"/>
              <a:t>.</a:t>
            </a:r>
            <a:endParaRPr lang="fr-FR" dirty="0"/>
          </a:p>
        </p:txBody>
      </p:sp>
      <p:pic>
        <p:nvPicPr>
          <p:cNvPr id="2" name="Image 1"/>
          <p:cNvPicPr>
            <a:picLocks noChangeAspect="1"/>
          </p:cNvPicPr>
          <p:nvPr/>
        </p:nvPicPr>
        <p:blipFill>
          <a:blip r:embed="rId14"/>
          <a:stretch>
            <a:fillRect/>
          </a:stretch>
        </p:blipFill>
        <p:spPr>
          <a:xfrm>
            <a:off x="245542" y="3000375"/>
            <a:ext cx="6096000" cy="2571750"/>
          </a:xfrm>
          <a:prstGeom prst="rect">
            <a:avLst/>
          </a:prstGeom>
        </p:spPr>
      </p:pic>
      <p:pic>
        <p:nvPicPr>
          <p:cNvPr id="3" name="Image 2"/>
          <p:cNvPicPr>
            <a:picLocks noChangeAspect="1"/>
          </p:cNvPicPr>
          <p:nvPr/>
        </p:nvPicPr>
        <p:blipFill>
          <a:blip r:embed="rId15"/>
          <a:stretch>
            <a:fillRect/>
          </a:stretch>
        </p:blipFill>
        <p:spPr>
          <a:xfrm>
            <a:off x="245542" y="2581209"/>
            <a:ext cx="4438650" cy="247650"/>
          </a:xfrm>
          <a:prstGeom prst="rect">
            <a:avLst/>
          </a:prstGeom>
        </p:spPr>
      </p:pic>
      <p:pic>
        <p:nvPicPr>
          <p:cNvPr id="4" name="Image 3"/>
          <p:cNvPicPr>
            <a:picLocks noChangeAspect="1"/>
          </p:cNvPicPr>
          <p:nvPr/>
        </p:nvPicPr>
        <p:blipFill>
          <a:blip r:embed="rId16"/>
          <a:stretch>
            <a:fillRect/>
          </a:stretch>
        </p:blipFill>
        <p:spPr>
          <a:xfrm>
            <a:off x="250640" y="5728350"/>
            <a:ext cx="4505325" cy="285750"/>
          </a:xfrm>
          <a:prstGeom prst="rect">
            <a:avLst/>
          </a:prstGeom>
        </p:spPr>
      </p:pic>
      <p:sp>
        <p:nvSpPr>
          <p:cNvPr id="24" name="ZoneTexte 23"/>
          <p:cNvSpPr txBox="1"/>
          <p:nvPr/>
        </p:nvSpPr>
        <p:spPr>
          <a:xfrm>
            <a:off x="6448424" y="2781234"/>
            <a:ext cx="5299873" cy="1754326"/>
          </a:xfrm>
          <a:prstGeom prst="rect">
            <a:avLst/>
          </a:prstGeom>
          <a:noFill/>
        </p:spPr>
        <p:txBody>
          <a:bodyPr wrap="square" rtlCol="0">
            <a:spAutoFit/>
          </a:bodyPr>
          <a:lstStyle/>
          <a:p>
            <a:r>
              <a:rPr lang="fr-FR" dirty="0" smtClean="0"/>
              <a:t>Encore une fois nous récupérons les informations présentes dans l’attribut </a:t>
            </a:r>
            <a:r>
              <a:rPr lang="fr-FR" i="1" dirty="0" smtClean="0"/>
              <a:t>POST</a:t>
            </a:r>
            <a:r>
              <a:rPr lang="fr-FR" dirty="0" smtClean="0"/>
              <a:t> de la requête. Deux possibilité ici, soit la méthode à retourné un objet utilisateur et nous pouvons le connecter sur le site et afficher la page </a:t>
            </a:r>
            <a:r>
              <a:rPr lang="fr-FR" i="1" dirty="0" smtClean="0"/>
              <a:t>welcome.html</a:t>
            </a:r>
            <a:r>
              <a:rPr lang="fr-FR" dirty="0" smtClean="0"/>
              <a:t>, soit elle n’a rien retourné et nous affichons la page d’erreur.</a:t>
            </a:r>
            <a:endParaRPr lang="fr-FR" dirty="0"/>
          </a:p>
        </p:txBody>
      </p:sp>
      <p:pic>
        <p:nvPicPr>
          <p:cNvPr id="5" name="Image 4"/>
          <p:cNvPicPr>
            <a:picLocks noChangeAspect="1"/>
          </p:cNvPicPr>
          <p:nvPr/>
        </p:nvPicPr>
        <p:blipFill>
          <a:blip r:embed="rId17"/>
          <a:stretch>
            <a:fillRect/>
          </a:stretch>
        </p:blipFill>
        <p:spPr>
          <a:xfrm>
            <a:off x="6532573" y="5471175"/>
            <a:ext cx="3962400" cy="542925"/>
          </a:xfrm>
          <a:prstGeom prst="rect">
            <a:avLst/>
          </a:prstGeom>
        </p:spPr>
      </p:pic>
      <p:pic>
        <p:nvPicPr>
          <p:cNvPr id="6" name="Image 5"/>
          <p:cNvPicPr>
            <a:picLocks noChangeAspect="1"/>
          </p:cNvPicPr>
          <p:nvPr/>
        </p:nvPicPr>
        <p:blipFill>
          <a:blip r:embed="rId18"/>
          <a:stretch>
            <a:fillRect/>
          </a:stretch>
        </p:blipFill>
        <p:spPr>
          <a:xfrm>
            <a:off x="6548459" y="4543425"/>
            <a:ext cx="4714875" cy="819150"/>
          </a:xfrm>
          <a:prstGeom prst="rect">
            <a:avLst/>
          </a:prstGeom>
        </p:spPr>
      </p:pic>
    </p:spTree>
    <p:extLst>
      <p:ext uri="{BB962C8B-B14F-4D97-AF65-F5344CB8AC3E}">
        <p14:creationId xmlns:p14="http://schemas.microsoft.com/office/powerpoint/2010/main" val="42672260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64682" y="1285630"/>
            <a:ext cx="11488366" cy="923330"/>
          </a:xfrm>
          <a:prstGeom prst="rect">
            <a:avLst/>
          </a:prstGeom>
          <a:noFill/>
        </p:spPr>
        <p:txBody>
          <a:bodyPr wrap="square" rtlCol="0">
            <a:spAutoFit/>
          </a:bodyPr>
          <a:lstStyle/>
          <a:p>
            <a:r>
              <a:rPr lang="fr-FR" dirty="0" smtClean="0"/>
              <a:t>Enfin, voyons notre fonctionnalité de déconnexion en modifiant notre vue </a:t>
            </a:r>
            <a:r>
              <a:rPr lang="fr-FR" i="1" dirty="0" err="1" smtClean="0"/>
              <a:t>my_logout</a:t>
            </a:r>
            <a:r>
              <a:rPr lang="fr-FR" dirty="0" smtClean="0"/>
              <a:t>. Nous allons rajouter en plus de la redirection vers notre page </a:t>
            </a:r>
            <a:r>
              <a:rPr lang="fr-FR" i="1" dirty="0" smtClean="0"/>
              <a:t>logout.html </a:t>
            </a:r>
            <a:r>
              <a:rPr lang="fr-FR" dirty="0" smtClean="0"/>
              <a:t>un appel à la méthode </a:t>
            </a:r>
            <a:r>
              <a:rPr lang="fr-FR" i="1" dirty="0" err="1" smtClean="0"/>
              <a:t>logout</a:t>
            </a:r>
            <a:r>
              <a:rPr lang="fr-FR" dirty="0" smtClean="0"/>
              <a:t> de </a:t>
            </a:r>
            <a:r>
              <a:rPr lang="fr-FR" dirty="0" err="1" smtClean="0"/>
              <a:t>django</a:t>
            </a:r>
            <a:r>
              <a:rPr lang="fr-FR" dirty="0" smtClean="0"/>
              <a:t>, que nous devrons importer au préalable.</a:t>
            </a:r>
            <a:endParaRPr lang="fr-FR" dirty="0"/>
          </a:p>
        </p:txBody>
      </p:sp>
      <p:pic>
        <p:nvPicPr>
          <p:cNvPr id="2" name="Image 1"/>
          <p:cNvPicPr>
            <a:picLocks noChangeAspect="1"/>
          </p:cNvPicPr>
          <p:nvPr/>
        </p:nvPicPr>
        <p:blipFill>
          <a:blip r:embed="rId14"/>
          <a:stretch>
            <a:fillRect/>
          </a:stretch>
        </p:blipFill>
        <p:spPr>
          <a:xfrm>
            <a:off x="164682" y="3005886"/>
            <a:ext cx="4314825" cy="847725"/>
          </a:xfrm>
          <a:prstGeom prst="rect">
            <a:avLst/>
          </a:prstGeom>
        </p:spPr>
      </p:pic>
      <p:pic>
        <p:nvPicPr>
          <p:cNvPr id="3" name="Image 2"/>
          <p:cNvPicPr>
            <a:picLocks noChangeAspect="1"/>
          </p:cNvPicPr>
          <p:nvPr/>
        </p:nvPicPr>
        <p:blipFill>
          <a:blip r:embed="rId15"/>
          <a:stretch>
            <a:fillRect/>
          </a:stretch>
        </p:blipFill>
        <p:spPr>
          <a:xfrm>
            <a:off x="164682" y="2464548"/>
            <a:ext cx="5181600" cy="285750"/>
          </a:xfrm>
          <a:prstGeom prst="rect">
            <a:avLst/>
          </a:prstGeom>
        </p:spPr>
      </p:pic>
      <p:pic>
        <p:nvPicPr>
          <p:cNvPr id="4" name="Image 3"/>
          <p:cNvPicPr>
            <a:picLocks noChangeAspect="1"/>
          </p:cNvPicPr>
          <p:nvPr/>
        </p:nvPicPr>
        <p:blipFill>
          <a:blip r:embed="rId16"/>
          <a:stretch>
            <a:fillRect/>
          </a:stretch>
        </p:blipFill>
        <p:spPr>
          <a:xfrm>
            <a:off x="5020819" y="3011691"/>
            <a:ext cx="3971925" cy="495300"/>
          </a:xfrm>
          <a:prstGeom prst="rect">
            <a:avLst/>
          </a:prstGeom>
        </p:spPr>
      </p:pic>
      <p:sp>
        <p:nvSpPr>
          <p:cNvPr id="24" name="ZoneTexte 23"/>
          <p:cNvSpPr txBox="1"/>
          <p:nvPr/>
        </p:nvSpPr>
        <p:spPr>
          <a:xfrm>
            <a:off x="164682" y="4194677"/>
            <a:ext cx="11488366" cy="646331"/>
          </a:xfrm>
          <a:prstGeom prst="rect">
            <a:avLst/>
          </a:prstGeom>
          <a:noFill/>
        </p:spPr>
        <p:txBody>
          <a:bodyPr wrap="square" rtlCol="0">
            <a:spAutoFit/>
          </a:bodyPr>
          <a:lstStyle/>
          <a:p>
            <a:r>
              <a:rPr lang="fr-FR" dirty="0" smtClean="0"/>
              <a:t>Voyez qu’ici c’est sur notre objet </a:t>
            </a:r>
            <a:r>
              <a:rPr lang="fr-FR" i="1" dirty="0" err="1" smtClean="0"/>
              <a:t>request</a:t>
            </a:r>
            <a:r>
              <a:rPr lang="fr-FR" dirty="0" smtClean="0"/>
              <a:t> que nous appliquons la méthode </a:t>
            </a:r>
            <a:r>
              <a:rPr lang="fr-FR" i="1" dirty="0" err="1" smtClean="0"/>
              <a:t>logout</a:t>
            </a:r>
            <a:r>
              <a:rPr lang="fr-FR" dirty="0" smtClean="0"/>
              <a:t>. C’est parce-que cet objet contient toutes les informations de le requête http et donc également la connexion de l’utilisateur.</a:t>
            </a:r>
            <a:endParaRPr lang="fr-FR" dirty="0"/>
          </a:p>
        </p:txBody>
      </p:sp>
    </p:spTree>
    <p:extLst>
      <p:ext uri="{BB962C8B-B14F-4D97-AF65-F5344CB8AC3E}">
        <p14:creationId xmlns:p14="http://schemas.microsoft.com/office/powerpoint/2010/main" val="35360754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stretch>
            <a:fillRect/>
          </a:stretch>
        </p:blipFill>
        <p:spPr>
          <a:xfrm>
            <a:off x="332857" y="3143502"/>
            <a:ext cx="5419725" cy="1790700"/>
          </a:xfrm>
          <a:prstGeom prst="rect">
            <a:avLst/>
          </a:prstGeom>
        </p:spPr>
      </p:pic>
      <p:sp>
        <p:nvSpPr>
          <p:cNvPr id="19" name="ZoneTexte 18"/>
          <p:cNvSpPr txBox="1"/>
          <p:nvPr/>
        </p:nvSpPr>
        <p:spPr>
          <a:xfrm>
            <a:off x="5913843" y="3184272"/>
            <a:ext cx="5795173" cy="1754326"/>
          </a:xfrm>
          <a:prstGeom prst="rect">
            <a:avLst/>
          </a:prstGeom>
          <a:noFill/>
        </p:spPr>
        <p:txBody>
          <a:bodyPr wrap="square" rtlCol="0">
            <a:spAutoFit/>
          </a:bodyPr>
          <a:lstStyle/>
          <a:p>
            <a:r>
              <a:rPr lang="fr-FR" dirty="0" smtClean="0"/>
              <a:t>Via notre objet </a:t>
            </a:r>
            <a:r>
              <a:rPr lang="fr-FR" i="1" dirty="0" err="1" smtClean="0"/>
              <a:t>request</a:t>
            </a:r>
            <a:r>
              <a:rPr lang="fr-FR" dirty="0" smtClean="0"/>
              <a:t> nous pouvons vérifier si le visiteur de la page est un utilisateur authentifié ou non. Cela simplifie grandement les choses pour gérer nos pages. Nous affichons donc les boutons de connexion et d’inscription uniquement pour un utilisateur authentifié. Nous pouvons procéder de la même manière pour notre page de détail.</a:t>
            </a:r>
            <a:endParaRPr lang="fr-FR" dirty="0"/>
          </a:p>
        </p:txBody>
      </p:sp>
      <p:sp>
        <p:nvSpPr>
          <p:cNvPr id="20" name="ZoneTexte 19"/>
          <p:cNvSpPr txBox="1"/>
          <p:nvPr/>
        </p:nvSpPr>
        <p:spPr>
          <a:xfrm>
            <a:off x="169660" y="1584510"/>
            <a:ext cx="11488366" cy="1200329"/>
          </a:xfrm>
          <a:prstGeom prst="rect">
            <a:avLst/>
          </a:prstGeom>
          <a:noFill/>
        </p:spPr>
        <p:txBody>
          <a:bodyPr wrap="square" rtlCol="0">
            <a:spAutoFit/>
          </a:bodyPr>
          <a:lstStyle/>
          <a:p>
            <a:r>
              <a:rPr lang="fr-FR" dirty="0" smtClean="0"/>
              <a:t>Avec ces 3 fonctionnalités nous avons géré l’inscription, la connexion et la déconnexion d’utilisateurs. Nous allons maintenant faire en sorte que certaines fonctionnalités de notre site ne soient accessible qu’aux utilisateurs authentifiés. Par exemple nous ne voulons pas qu’un visiteur non connecté puisse cliquer sur le lien de déconnexion. Cela va se faire via l’utilisation de gabarits.</a:t>
            </a:r>
            <a:endParaRPr lang="fr-FR" dirty="0"/>
          </a:p>
        </p:txBody>
      </p:sp>
    </p:spTree>
    <p:extLst>
      <p:ext uri="{BB962C8B-B14F-4D97-AF65-F5344CB8AC3E}">
        <p14:creationId xmlns:p14="http://schemas.microsoft.com/office/powerpoint/2010/main" val="39581144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stretch>
            <a:fillRect/>
          </a:stretch>
        </p:blipFill>
        <p:spPr>
          <a:xfrm>
            <a:off x="286441" y="1809724"/>
            <a:ext cx="8905875" cy="4019550"/>
          </a:xfrm>
          <a:prstGeom prst="rect">
            <a:avLst/>
          </a:prstGeom>
        </p:spPr>
      </p:pic>
      <p:sp>
        <p:nvSpPr>
          <p:cNvPr id="19" name="ZoneTexte 18"/>
          <p:cNvSpPr txBox="1"/>
          <p:nvPr/>
        </p:nvSpPr>
        <p:spPr>
          <a:xfrm>
            <a:off x="9298327" y="1809724"/>
            <a:ext cx="2579348" cy="1477328"/>
          </a:xfrm>
          <a:prstGeom prst="rect">
            <a:avLst/>
          </a:prstGeom>
          <a:noFill/>
        </p:spPr>
        <p:txBody>
          <a:bodyPr wrap="square" rtlCol="0">
            <a:spAutoFit/>
          </a:bodyPr>
          <a:lstStyle/>
          <a:p>
            <a:r>
              <a:rPr lang="fr-FR" dirty="0" smtClean="0"/>
              <a:t>Le formulaire ne s’affiche que si l’utilisateur est authentifié. Sinon la page affiche un lien vers la page de connexion</a:t>
            </a:r>
            <a:endParaRPr lang="fr-FR" dirty="0"/>
          </a:p>
        </p:txBody>
      </p:sp>
    </p:spTree>
    <p:extLst>
      <p:ext uri="{BB962C8B-B14F-4D97-AF65-F5344CB8AC3E}">
        <p14:creationId xmlns:p14="http://schemas.microsoft.com/office/powerpoint/2010/main" val="3048648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69660" y="1242612"/>
            <a:ext cx="11488366" cy="1200329"/>
          </a:xfrm>
          <a:prstGeom prst="rect">
            <a:avLst/>
          </a:prstGeom>
          <a:noFill/>
        </p:spPr>
        <p:txBody>
          <a:bodyPr wrap="square" rtlCol="0">
            <a:spAutoFit/>
          </a:bodyPr>
          <a:lstStyle/>
          <a:p>
            <a:r>
              <a:rPr lang="fr-FR" dirty="0" smtClean="0"/>
              <a:t>Nous allons maintenant voir comment ajouter des champs à notre profil d’utilisateurs. Pour être plus précis nous n’allons pas modifier le modèle </a:t>
            </a:r>
            <a:r>
              <a:rPr lang="fr-FR" i="1" dirty="0" smtClean="0"/>
              <a:t>User</a:t>
            </a:r>
            <a:r>
              <a:rPr lang="fr-FR" dirty="0" smtClean="0"/>
              <a:t> de base, nous allons créer un modèle contenant les champs supplémentaires voulus et nous allons lier ce modèle au modèle de base par une relation 1 pour 1. Nous pourrons par la suite, au même titre que pour une relation 1 pour N ou N pour N, accéder aux champs de notre nouveau modèle par notre objet issu du mod</a:t>
            </a:r>
            <a:r>
              <a:rPr lang="fr-FR" dirty="0" smtClean="0"/>
              <a:t>èle </a:t>
            </a:r>
            <a:r>
              <a:rPr lang="fr-FR" i="1" dirty="0" smtClean="0"/>
              <a:t>User</a:t>
            </a:r>
            <a:r>
              <a:rPr lang="fr-FR" dirty="0" smtClean="0"/>
              <a:t>.</a:t>
            </a:r>
            <a:endParaRPr lang="fr-FR" dirty="0"/>
          </a:p>
        </p:txBody>
      </p:sp>
      <p:pic>
        <p:nvPicPr>
          <p:cNvPr id="2" name="Image 1"/>
          <p:cNvPicPr>
            <a:picLocks noChangeAspect="1"/>
          </p:cNvPicPr>
          <p:nvPr/>
        </p:nvPicPr>
        <p:blipFill>
          <a:blip r:embed="rId14"/>
          <a:stretch>
            <a:fillRect/>
          </a:stretch>
        </p:blipFill>
        <p:spPr>
          <a:xfrm>
            <a:off x="286441" y="2423892"/>
            <a:ext cx="5143989" cy="734856"/>
          </a:xfrm>
          <a:prstGeom prst="rect">
            <a:avLst/>
          </a:prstGeom>
        </p:spPr>
      </p:pic>
      <p:sp>
        <p:nvSpPr>
          <p:cNvPr id="20" name="ZoneTexte 19"/>
          <p:cNvSpPr txBox="1"/>
          <p:nvPr/>
        </p:nvSpPr>
        <p:spPr>
          <a:xfrm>
            <a:off x="5547211" y="2555060"/>
            <a:ext cx="6227596" cy="3416320"/>
          </a:xfrm>
          <a:prstGeom prst="rect">
            <a:avLst/>
          </a:prstGeom>
          <a:noFill/>
        </p:spPr>
        <p:txBody>
          <a:bodyPr wrap="square" rtlCol="0">
            <a:spAutoFit/>
          </a:bodyPr>
          <a:lstStyle/>
          <a:p>
            <a:r>
              <a:rPr lang="fr-FR" dirty="0" smtClean="0"/>
              <a:t>Nous avons donc notre nouveau model </a:t>
            </a:r>
            <a:r>
              <a:rPr lang="fr-FR" i="1" dirty="0" smtClean="0"/>
              <a:t>Citizen</a:t>
            </a:r>
            <a:r>
              <a:rPr lang="fr-FR" dirty="0" smtClean="0"/>
              <a:t> qui a une relation 1 pour 1 (</a:t>
            </a:r>
            <a:r>
              <a:rPr lang="fr-FR" i="1" dirty="0" err="1" smtClean="0"/>
              <a:t>OneToOneField</a:t>
            </a:r>
            <a:r>
              <a:rPr lang="fr-FR" dirty="0" smtClean="0"/>
              <a:t>) avec le modèle </a:t>
            </a:r>
            <a:r>
              <a:rPr lang="fr-FR" i="1" dirty="0" smtClean="0"/>
              <a:t>User</a:t>
            </a:r>
            <a:r>
              <a:rPr lang="fr-FR" dirty="0" smtClean="0"/>
              <a:t>. Nous définissons un attribut </a:t>
            </a:r>
            <a:r>
              <a:rPr lang="fr-FR" i="1" dirty="0" err="1" smtClean="0"/>
              <a:t>electeur</a:t>
            </a:r>
            <a:r>
              <a:rPr lang="fr-FR" dirty="0" smtClean="0"/>
              <a:t>, qui est un booléen à </a:t>
            </a:r>
            <a:r>
              <a:rPr lang="fr-FR" i="1" dirty="0" smtClean="0"/>
              <a:t>False </a:t>
            </a:r>
            <a:r>
              <a:rPr lang="fr-FR" dirty="0" smtClean="0"/>
              <a:t>par défaut permettant de dire si l’utilisateur a le droit de voter ou non.</a:t>
            </a:r>
          </a:p>
          <a:p>
            <a:endParaRPr lang="fr-FR" i="1" dirty="0"/>
          </a:p>
          <a:p>
            <a:r>
              <a:rPr lang="fr-FR" dirty="0" smtClean="0"/>
              <a:t>Nous ajoutons ensuite à notre vue de création d’utilisateurs l’enregistrement de l’utilisateur en tant qu’instance de la classe Citizen en lui passant en paramètre de construction l’objet </a:t>
            </a:r>
            <a:r>
              <a:rPr lang="fr-FR" i="1" dirty="0" smtClean="0"/>
              <a:t>User</a:t>
            </a:r>
            <a:r>
              <a:rPr lang="fr-FR" dirty="0" smtClean="0"/>
              <a:t> créé.</a:t>
            </a:r>
          </a:p>
          <a:p>
            <a:endParaRPr lang="fr-FR" dirty="0"/>
          </a:p>
          <a:p>
            <a:r>
              <a:rPr lang="fr-FR" dirty="0" smtClean="0"/>
              <a:t>Nous n’oublions pas de sauvegarder l’enregistrement de l’utilisateur.</a:t>
            </a:r>
            <a:endParaRPr lang="fr-FR" dirty="0"/>
          </a:p>
        </p:txBody>
      </p:sp>
      <p:pic>
        <p:nvPicPr>
          <p:cNvPr id="3" name="Image 2"/>
          <p:cNvPicPr>
            <a:picLocks noChangeAspect="1"/>
          </p:cNvPicPr>
          <p:nvPr/>
        </p:nvPicPr>
        <p:blipFill>
          <a:blip r:embed="rId15"/>
          <a:stretch>
            <a:fillRect/>
          </a:stretch>
        </p:blipFill>
        <p:spPr>
          <a:xfrm>
            <a:off x="286441" y="3200866"/>
            <a:ext cx="5143989" cy="3411181"/>
          </a:xfrm>
          <a:prstGeom prst="rect">
            <a:avLst/>
          </a:prstGeom>
        </p:spPr>
      </p:pic>
      <p:sp>
        <p:nvSpPr>
          <p:cNvPr id="4" name="Rectangle 3"/>
          <p:cNvSpPr/>
          <p:nvPr/>
        </p:nvSpPr>
        <p:spPr>
          <a:xfrm>
            <a:off x="502572" y="4838700"/>
            <a:ext cx="2478753"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23"/>
          <p:cNvSpPr/>
          <p:nvPr/>
        </p:nvSpPr>
        <p:spPr>
          <a:xfrm>
            <a:off x="502571" y="5592023"/>
            <a:ext cx="2478753"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4590662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9" name="ZoneTexte 18"/>
          <p:cNvSpPr txBox="1"/>
          <p:nvPr/>
        </p:nvSpPr>
        <p:spPr>
          <a:xfrm>
            <a:off x="169660" y="1242612"/>
            <a:ext cx="11488366" cy="1200329"/>
          </a:xfrm>
          <a:prstGeom prst="rect">
            <a:avLst/>
          </a:prstGeom>
          <a:noFill/>
        </p:spPr>
        <p:txBody>
          <a:bodyPr wrap="square" rtlCol="0">
            <a:spAutoFit/>
          </a:bodyPr>
          <a:lstStyle/>
          <a:p>
            <a:r>
              <a:rPr lang="fr-FR" dirty="0" smtClean="0"/>
              <a:t>Avec ces modifications, chaque visiteur qui se crée un compte est automatiquement enregistré en tant que </a:t>
            </a:r>
            <a:r>
              <a:rPr lang="fr-FR" i="1" dirty="0" err="1" smtClean="0"/>
              <a:t>citizen</a:t>
            </a:r>
            <a:r>
              <a:rPr lang="fr-FR" dirty="0" smtClean="0"/>
              <a:t> mais avec le booléen </a:t>
            </a:r>
            <a:r>
              <a:rPr lang="fr-FR" i="1" dirty="0" err="1" smtClean="0"/>
              <a:t>electeur</a:t>
            </a:r>
            <a:r>
              <a:rPr lang="fr-FR" dirty="0" smtClean="0"/>
              <a:t> à </a:t>
            </a:r>
            <a:r>
              <a:rPr lang="fr-FR" i="1" dirty="0" smtClean="0"/>
              <a:t>False</a:t>
            </a:r>
            <a:r>
              <a:rPr lang="fr-FR" dirty="0" smtClean="0"/>
              <a:t>. </a:t>
            </a:r>
            <a:r>
              <a:rPr lang="fr-FR" dirty="0" smtClean="0"/>
              <a:t>Il nous faut donc donner la possibilité à l’utilisateur de devenir citoyen. Pour cela nous allons rajouter une page </a:t>
            </a:r>
            <a:r>
              <a:rPr lang="fr-FR" i="1" dirty="0" smtClean="0"/>
              <a:t>profil</a:t>
            </a:r>
            <a:r>
              <a:rPr lang="fr-FR" dirty="0" smtClean="0"/>
              <a:t> affichant l’</a:t>
            </a:r>
            <a:r>
              <a:rPr lang="fr-FR" dirty="0" err="1" smtClean="0"/>
              <a:t>username</a:t>
            </a:r>
            <a:r>
              <a:rPr lang="fr-FR" dirty="0" smtClean="0"/>
              <a:t> de l’utilisateur et lui proposant un lien pour devenir citoyen si il ne l’est pas.</a:t>
            </a:r>
            <a:endParaRPr lang="fr-FR" dirty="0"/>
          </a:p>
        </p:txBody>
      </p:sp>
      <p:pic>
        <p:nvPicPr>
          <p:cNvPr id="2" name="Image 1"/>
          <p:cNvPicPr>
            <a:picLocks noChangeAspect="1"/>
          </p:cNvPicPr>
          <p:nvPr/>
        </p:nvPicPr>
        <p:blipFill>
          <a:blip r:embed="rId14"/>
          <a:stretch>
            <a:fillRect/>
          </a:stretch>
        </p:blipFill>
        <p:spPr>
          <a:xfrm>
            <a:off x="262650" y="2847987"/>
            <a:ext cx="5057775" cy="1047750"/>
          </a:xfrm>
          <a:prstGeom prst="rect">
            <a:avLst/>
          </a:prstGeom>
        </p:spPr>
      </p:pic>
      <p:pic>
        <p:nvPicPr>
          <p:cNvPr id="3" name="Image 2"/>
          <p:cNvPicPr>
            <a:picLocks noChangeAspect="1"/>
          </p:cNvPicPr>
          <p:nvPr/>
        </p:nvPicPr>
        <p:blipFill>
          <a:blip r:embed="rId15"/>
          <a:stretch>
            <a:fillRect/>
          </a:stretch>
        </p:blipFill>
        <p:spPr>
          <a:xfrm>
            <a:off x="262650" y="2512114"/>
            <a:ext cx="3952875" cy="266700"/>
          </a:xfrm>
          <a:prstGeom prst="rect">
            <a:avLst/>
          </a:prstGeom>
        </p:spPr>
      </p:pic>
      <p:pic>
        <p:nvPicPr>
          <p:cNvPr id="4" name="Image 3"/>
          <p:cNvPicPr>
            <a:picLocks noChangeAspect="1"/>
          </p:cNvPicPr>
          <p:nvPr/>
        </p:nvPicPr>
        <p:blipFill>
          <a:blip r:embed="rId16"/>
          <a:stretch>
            <a:fillRect/>
          </a:stretch>
        </p:blipFill>
        <p:spPr>
          <a:xfrm>
            <a:off x="262650" y="4007703"/>
            <a:ext cx="5705475" cy="2028825"/>
          </a:xfrm>
          <a:prstGeom prst="rect">
            <a:avLst/>
          </a:prstGeom>
        </p:spPr>
      </p:pic>
      <p:sp>
        <p:nvSpPr>
          <p:cNvPr id="24" name="ZoneTexte 23"/>
          <p:cNvSpPr txBox="1"/>
          <p:nvPr/>
        </p:nvSpPr>
        <p:spPr>
          <a:xfrm>
            <a:off x="6334125" y="2555060"/>
            <a:ext cx="5440682" cy="2862322"/>
          </a:xfrm>
          <a:prstGeom prst="rect">
            <a:avLst/>
          </a:prstGeom>
          <a:noFill/>
        </p:spPr>
        <p:txBody>
          <a:bodyPr wrap="square" rtlCol="0">
            <a:spAutoFit/>
          </a:bodyPr>
          <a:lstStyle/>
          <a:p>
            <a:r>
              <a:rPr lang="fr-FR" dirty="0" smtClean="0"/>
              <a:t>Pour accéder à notre objet </a:t>
            </a:r>
            <a:r>
              <a:rPr lang="fr-FR" i="1" dirty="0" smtClean="0"/>
              <a:t>Citizen</a:t>
            </a:r>
            <a:r>
              <a:rPr lang="fr-FR" dirty="0" smtClean="0"/>
              <a:t> nous pouvons tout d’abord le récupérer avec une méthode </a:t>
            </a:r>
            <a:r>
              <a:rPr lang="fr-FR" dirty="0" err="1" smtClean="0"/>
              <a:t>get</a:t>
            </a:r>
            <a:r>
              <a:rPr lang="fr-FR" dirty="0" smtClean="0"/>
              <a:t>, en lui passant en paramètre de filtrage l’user de la requête, puis l’envoyer à notre page par le contexte.</a:t>
            </a:r>
          </a:p>
          <a:p>
            <a:endParaRPr lang="fr-FR" dirty="0"/>
          </a:p>
          <a:p>
            <a:r>
              <a:rPr lang="fr-FR" dirty="0" smtClean="0"/>
              <a:t>Il sera donc ensuite utilisable par nos gabarits.</a:t>
            </a:r>
          </a:p>
          <a:p>
            <a:endParaRPr lang="fr-FR" dirty="0"/>
          </a:p>
          <a:p>
            <a:r>
              <a:rPr lang="fr-FR" dirty="0" smtClean="0"/>
              <a:t>Voyons maintenant la vue </a:t>
            </a:r>
            <a:r>
              <a:rPr lang="fr-FR" i="1" dirty="0" err="1" smtClean="0"/>
              <a:t>become</a:t>
            </a:r>
            <a:r>
              <a:rPr lang="fr-FR" i="1" dirty="0" smtClean="0"/>
              <a:t> </a:t>
            </a:r>
            <a:r>
              <a:rPr lang="fr-FR" dirty="0" smtClean="0"/>
              <a:t>permettant de gérer le passage d’un utilisateur vers un compte autorisé à voter.</a:t>
            </a:r>
            <a:endParaRPr lang="fr-FR" dirty="0"/>
          </a:p>
        </p:txBody>
      </p:sp>
    </p:spTree>
    <p:extLst>
      <p:ext uri="{BB962C8B-B14F-4D97-AF65-F5344CB8AC3E}">
        <p14:creationId xmlns:p14="http://schemas.microsoft.com/office/powerpoint/2010/main" val="6246158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stretch>
            <a:fillRect/>
          </a:stretch>
        </p:blipFill>
        <p:spPr>
          <a:xfrm>
            <a:off x="1253307" y="1681136"/>
            <a:ext cx="4457700" cy="257175"/>
          </a:xfrm>
          <a:prstGeom prst="rect">
            <a:avLst/>
          </a:prstGeom>
        </p:spPr>
      </p:pic>
      <p:pic>
        <p:nvPicPr>
          <p:cNvPr id="3" name="Image 2"/>
          <p:cNvPicPr>
            <a:picLocks noChangeAspect="1"/>
          </p:cNvPicPr>
          <p:nvPr/>
        </p:nvPicPr>
        <p:blipFill>
          <a:blip r:embed="rId15"/>
          <a:stretch>
            <a:fillRect/>
          </a:stretch>
        </p:blipFill>
        <p:spPr>
          <a:xfrm>
            <a:off x="6200558" y="1306034"/>
            <a:ext cx="3543300" cy="1057275"/>
          </a:xfrm>
          <a:prstGeom prst="rect">
            <a:avLst/>
          </a:prstGeom>
        </p:spPr>
      </p:pic>
      <p:sp>
        <p:nvSpPr>
          <p:cNvPr id="20" name="ZoneTexte 19"/>
          <p:cNvSpPr txBox="1"/>
          <p:nvPr/>
        </p:nvSpPr>
        <p:spPr>
          <a:xfrm>
            <a:off x="288018" y="2449034"/>
            <a:ext cx="11468099" cy="3693319"/>
          </a:xfrm>
          <a:prstGeom prst="rect">
            <a:avLst/>
          </a:prstGeom>
          <a:noFill/>
        </p:spPr>
        <p:txBody>
          <a:bodyPr wrap="square" rtlCol="0">
            <a:spAutoFit/>
          </a:bodyPr>
          <a:lstStyle/>
          <a:p>
            <a:r>
              <a:rPr lang="fr-FR" dirty="0" smtClean="0"/>
              <a:t>Ici nous pouvons voir une autre méthode pour accéder à notre objet </a:t>
            </a:r>
            <a:r>
              <a:rPr lang="fr-FR" i="1" dirty="0" smtClean="0"/>
              <a:t>Citizen</a:t>
            </a:r>
            <a:r>
              <a:rPr lang="fr-FR" dirty="0" smtClean="0"/>
              <a:t> en passant directement par l’objet </a:t>
            </a:r>
            <a:r>
              <a:rPr lang="fr-FR" i="1" dirty="0" smtClean="0"/>
              <a:t>User</a:t>
            </a:r>
            <a:r>
              <a:rPr lang="fr-FR" dirty="0" smtClean="0"/>
              <a:t>. Etant donnée qu’il y a une relation 1 pour 1 entre </a:t>
            </a:r>
            <a:r>
              <a:rPr lang="fr-FR" i="1" dirty="0" smtClean="0"/>
              <a:t>User</a:t>
            </a:r>
            <a:r>
              <a:rPr lang="fr-FR" dirty="0" smtClean="0"/>
              <a:t> et </a:t>
            </a:r>
            <a:r>
              <a:rPr lang="fr-FR" i="1" dirty="0" smtClean="0"/>
              <a:t>Citizen</a:t>
            </a:r>
            <a:r>
              <a:rPr lang="fr-FR" dirty="0" smtClean="0"/>
              <a:t> nous pouvons accéder à l’attribut </a:t>
            </a:r>
            <a:r>
              <a:rPr lang="fr-FR" i="1" dirty="0" err="1" smtClean="0"/>
              <a:t>electeur</a:t>
            </a:r>
            <a:r>
              <a:rPr lang="fr-FR" dirty="0" smtClean="0"/>
              <a:t> de notre objet </a:t>
            </a:r>
            <a:r>
              <a:rPr lang="fr-FR" i="1" dirty="0" smtClean="0"/>
              <a:t>Citizen </a:t>
            </a:r>
            <a:r>
              <a:rPr lang="fr-FR" dirty="0" smtClean="0"/>
              <a:t>par l’utilisateur stocké dans la requête via </a:t>
            </a:r>
            <a:r>
              <a:rPr lang="fr-FR" i="1" dirty="0" err="1" smtClean="0"/>
              <a:t>request.user.citizen.electeur</a:t>
            </a:r>
            <a:r>
              <a:rPr lang="fr-FR" i="1" dirty="0" smtClean="0"/>
              <a:t>.</a:t>
            </a:r>
            <a:r>
              <a:rPr lang="fr-FR" dirty="0" smtClean="0"/>
              <a:t> Encore une fois nous sauvegardons la modifications.</a:t>
            </a:r>
          </a:p>
          <a:p>
            <a:endParaRPr lang="fr-FR" dirty="0"/>
          </a:p>
          <a:p>
            <a:r>
              <a:rPr lang="fr-FR" dirty="0" smtClean="0"/>
              <a:t>Ici nous voyons aussi comment depuis une vue appeler une autre vue. Il suffit de return la fonction de cette vue en lui passant le paramètre </a:t>
            </a:r>
            <a:r>
              <a:rPr lang="fr-FR" i="1" dirty="0" err="1" smtClean="0"/>
              <a:t>request</a:t>
            </a:r>
            <a:r>
              <a:rPr lang="fr-FR" dirty="0" smtClean="0"/>
              <a:t>. Etant donné que nous utilisons une classe de vues la syntaxe est légèrement différentes d’un appel de fonction classique. Si nous avions gardé notre vue </a:t>
            </a:r>
            <a:r>
              <a:rPr lang="fr-FR" i="1" dirty="0" smtClean="0"/>
              <a:t>index</a:t>
            </a:r>
            <a:r>
              <a:rPr lang="fr-FR" dirty="0" smtClean="0"/>
              <a:t> (décrite dans la fonction </a:t>
            </a:r>
            <a:r>
              <a:rPr lang="fr-FR" i="1" dirty="0" err="1" smtClean="0"/>
              <a:t>def</a:t>
            </a:r>
            <a:r>
              <a:rPr lang="fr-FR" i="1" dirty="0" smtClean="0"/>
              <a:t> index(</a:t>
            </a:r>
            <a:r>
              <a:rPr lang="fr-FR" i="1" dirty="0" err="1" smtClean="0"/>
              <a:t>request</a:t>
            </a:r>
            <a:r>
              <a:rPr lang="fr-FR" i="1" dirty="0" smtClean="0"/>
              <a:t>)</a:t>
            </a:r>
            <a:r>
              <a:rPr lang="fr-FR" dirty="0" smtClean="0"/>
              <a:t>) nous aurions simplement indiqué en retour de fonction :</a:t>
            </a:r>
          </a:p>
          <a:p>
            <a:endParaRPr lang="fr-FR" dirty="0"/>
          </a:p>
          <a:p>
            <a:r>
              <a:rPr lang="fr-FR" i="1" dirty="0" smtClean="0"/>
              <a:t>return index(</a:t>
            </a:r>
            <a:r>
              <a:rPr lang="fr-FR" i="1" dirty="0" err="1" smtClean="0"/>
              <a:t>request</a:t>
            </a:r>
            <a:r>
              <a:rPr lang="fr-FR" i="1" dirty="0" smtClean="0"/>
              <a:t>)</a:t>
            </a:r>
          </a:p>
          <a:p>
            <a:endParaRPr lang="fr-FR" i="1" dirty="0"/>
          </a:p>
          <a:p>
            <a:r>
              <a:rPr lang="fr-FR" dirty="0" smtClean="0"/>
              <a:t>Nous pouvons maintenant modifier notre page </a:t>
            </a:r>
            <a:r>
              <a:rPr lang="fr-FR" i="1" dirty="0" smtClean="0"/>
              <a:t>detail.html</a:t>
            </a:r>
            <a:r>
              <a:rPr lang="fr-FR" dirty="0" smtClean="0"/>
              <a:t> pour qu’elle n’autorise le vote que pour des citoyens</a:t>
            </a:r>
            <a:endParaRPr lang="fr-FR" dirty="0"/>
          </a:p>
        </p:txBody>
      </p:sp>
    </p:spTree>
    <p:extLst>
      <p:ext uri="{BB962C8B-B14F-4D97-AF65-F5344CB8AC3E}">
        <p14:creationId xmlns:p14="http://schemas.microsoft.com/office/powerpoint/2010/main" val="9034003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stretch>
            <a:fillRect/>
          </a:stretch>
        </p:blipFill>
        <p:spPr>
          <a:xfrm>
            <a:off x="1475005" y="1337241"/>
            <a:ext cx="9248775" cy="5038725"/>
          </a:xfrm>
          <a:prstGeom prst="rect">
            <a:avLst/>
          </a:prstGeom>
        </p:spPr>
      </p:pic>
      <p:sp>
        <p:nvSpPr>
          <p:cNvPr id="19" name="Rectangle 18"/>
          <p:cNvSpPr/>
          <p:nvPr/>
        </p:nvSpPr>
        <p:spPr>
          <a:xfrm>
            <a:off x="1803343" y="1562100"/>
            <a:ext cx="3321107" cy="3093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p:cNvSpPr/>
          <p:nvPr/>
        </p:nvSpPr>
        <p:spPr>
          <a:xfrm>
            <a:off x="1799888" y="5334000"/>
            <a:ext cx="3321107" cy="3093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73945537"/>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5858</TotalTime>
  <Words>1304</Words>
  <Application>Microsoft Office PowerPoint</Application>
  <PresentationFormat>Grand écran</PresentationFormat>
  <Paragraphs>76</Paragraphs>
  <Slides>14</Slides>
  <Notes>14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14</vt:i4>
      </vt:variant>
    </vt:vector>
  </HeadingPairs>
  <TitlesOfParts>
    <vt:vector size="18"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chretienne jerome</dc:creator>
  <cp:lastModifiedBy>Maxime PRZYBYLO</cp:lastModifiedBy>
  <cp:revision>390</cp:revision>
  <dcterms:created xsi:type="dcterms:W3CDTF">2016-05-20T16:12:03Z</dcterms:created>
  <dcterms:modified xsi:type="dcterms:W3CDTF">2022-03-21T17:06:05Z</dcterms:modified>
</cp:coreProperties>
</file>