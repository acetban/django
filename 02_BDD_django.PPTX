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75" r:id="rId2"/>
    <p:sldId id="315" r:id="rId3"/>
    <p:sldId id="317" r:id="rId4"/>
    <p:sldId id="318" r:id="rId5"/>
    <p:sldId id="319" r:id="rId6"/>
    <p:sldId id="320" r:id="rId7"/>
    <p:sldId id="321" r:id="rId8"/>
    <p:sldId id="323" r:id="rId9"/>
    <p:sldId id="322" r:id="rId10"/>
    <p:sldId id="324" r:id="rId11"/>
    <p:sldId id="325" r:id="rId12"/>
    <p:sldId id="326" r:id="rId13"/>
    <p:sldId id="327" r:id="rId14"/>
    <p:sldId id="328" r:id="rId15"/>
    <p:sldId id="329" r:id="rId16"/>
    <p:sldId id="330" r:id="rId17"/>
    <p:sldId id="331" r:id="rId18"/>
    <p:sldId id="332" r:id="rId19"/>
    <p:sldId id="333" r:id="rId20"/>
    <p:sldId id="334" r:id="rId21"/>
  </p:sldIdLst>
  <p:sldSz cx="12192000" cy="6858000"/>
  <p:notesSz cx="6808788" cy="994092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xime PRZYBYLO" initials="MP" lastIdx="2" clrIdx="0">
    <p:extLst>
      <p:ext uri="{19B8F6BF-5375-455C-9EA6-DF929625EA0E}">
        <p15:presenceInfo xmlns:p15="http://schemas.microsoft.com/office/powerpoint/2012/main" userId="Maxime PRZYBYL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2F1"/>
    <a:srgbClr val="D5D5D5"/>
    <a:srgbClr val="A162D0"/>
    <a:srgbClr val="FFFB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6" autoAdjust="0"/>
    <p:restoredTop sz="89803" autoAdjust="0"/>
  </p:normalViewPr>
  <p:slideViewPr>
    <p:cSldViewPr snapToGrid="0">
      <p:cViewPr varScale="1">
        <p:scale>
          <a:sx n="79" d="100"/>
          <a:sy n="79" d="100"/>
        </p:scale>
        <p:origin x="802" y="6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50475" cy="49704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6737" y="0"/>
            <a:ext cx="2950475" cy="497046"/>
          </a:xfrm>
          <a:prstGeom prst="rect">
            <a:avLst/>
          </a:prstGeom>
        </p:spPr>
        <p:txBody>
          <a:bodyPr vert="horz" lIns="91440" tIns="45720" rIns="91440" bIns="45720" rtlCol="0"/>
          <a:lstStyle>
            <a:lvl1pPr algn="r">
              <a:defRPr sz="1200"/>
            </a:lvl1pPr>
          </a:lstStyle>
          <a:p>
            <a:fld id="{1C17683B-26D8-724E-89B0-02249384450D}" type="datetimeFigureOut">
              <a:rPr lang="fr-FR" smtClean="0"/>
              <a:t>16/03/2022</a:t>
            </a:fld>
            <a:endParaRPr lang="fr-FR"/>
          </a:p>
        </p:txBody>
      </p:sp>
      <p:sp>
        <p:nvSpPr>
          <p:cNvPr id="4" name="Espace réservé de l'image des diapositives 3"/>
          <p:cNvSpPr>
            <a:spLocks noGrp="1" noRot="1" noChangeAspect="1"/>
          </p:cNvSpPr>
          <p:nvPr>
            <p:ph type="sldImg" idx="2"/>
          </p:nvPr>
        </p:nvSpPr>
        <p:spPr>
          <a:xfrm>
            <a:off x="92075" y="746125"/>
            <a:ext cx="6624638" cy="372745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0879" y="4721940"/>
            <a:ext cx="5447030" cy="4473416"/>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42154"/>
            <a:ext cx="2950475" cy="497046"/>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6737" y="9442154"/>
            <a:ext cx="2950475" cy="497046"/>
          </a:xfrm>
          <a:prstGeom prst="rect">
            <a:avLst/>
          </a:prstGeom>
        </p:spPr>
        <p:txBody>
          <a:bodyPr vert="horz" lIns="91440" tIns="45720" rIns="91440" bIns="45720" rtlCol="0" anchor="b"/>
          <a:lstStyle>
            <a:lvl1pPr algn="r">
              <a:defRPr sz="1200"/>
            </a:lvl1pPr>
          </a:lstStyle>
          <a:p>
            <a:fld id="{80B64375-EE74-1B43-ADD9-C3016E9127A8}" type="slidenum">
              <a:rPr lang="fr-FR" smtClean="0"/>
              <a:t>‹N°›</a:t>
            </a:fld>
            <a:endParaRPr lang="fr-FR"/>
          </a:p>
        </p:txBody>
      </p:sp>
    </p:spTree>
    <p:extLst>
      <p:ext uri="{BB962C8B-B14F-4D97-AF65-F5344CB8AC3E}">
        <p14:creationId xmlns:p14="http://schemas.microsoft.com/office/powerpoint/2010/main" val="288130351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a:t>
            </a:fld>
            <a:endParaRPr lang="fr-FR"/>
          </a:p>
        </p:txBody>
      </p:sp>
    </p:spTree>
    <p:extLst>
      <p:ext uri="{BB962C8B-B14F-4D97-AF65-F5344CB8AC3E}">
        <p14:creationId xmlns:p14="http://schemas.microsoft.com/office/powerpoint/2010/main" val="2121712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Django est un </a:t>
            </a:r>
            <a:r>
              <a:rPr lang="fr-FR" dirty="0" err="1" smtClean="0"/>
              <a:t>framework</a:t>
            </a:r>
            <a:r>
              <a:rPr lang="fr-FR" dirty="0" smtClean="0"/>
              <a:t> web gratuit et open source écrit</a:t>
            </a:r>
            <a:r>
              <a:rPr lang="fr-FR" baseline="0" dirty="0" smtClean="0"/>
              <a:t> en python. </a:t>
            </a:r>
            <a:r>
              <a:rPr lang="fr-FR" sz="1200" b="0" i="0" kern="1200" dirty="0" smtClean="0">
                <a:solidFill>
                  <a:schemeClr val="tx1"/>
                </a:solidFill>
                <a:effectLst/>
                <a:latin typeface="+mn-lt"/>
                <a:ea typeface="+mn-ea"/>
                <a:cs typeface="+mn-cs"/>
              </a:rPr>
              <a:t>Un </a:t>
            </a:r>
            <a:r>
              <a:rPr lang="fr-FR" sz="1200" b="0" i="0" kern="1200" dirty="0" err="1" smtClean="0">
                <a:solidFill>
                  <a:schemeClr val="tx1"/>
                </a:solidFill>
                <a:effectLst/>
                <a:latin typeface="+mn-lt"/>
                <a:ea typeface="+mn-ea"/>
                <a:cs typeface="+mn-cs"/>
              </a:rPr>
              <a:t>framework</a:t>
            </a:r>
            <a:r>
              <a:rPr lang="fr-FR" sz="1200" b="0" i="0" kern="1200" dirty="0" smtClean="0">
                <a:solidFill>
                  <a:schemeClr val="tx1"/>
                </a:solidFill>
                <a:effectLst/>
                <a:latin typeface="+mn-lt"/>
                <a:ea typeface="+mn-ea"/>
                <a:cs typeface="+mn-cs"/>
              </a:rPr>
              <a:t> web est un ensemble de composants qui vous aide à développer des sites web plus rapidement et plus facilement. Cela permet de ne</a:t>
            </a:r>
            <a:r>
              <a:rPr lang="fr-FR" sz="1200" b="0" i="0" kern="1200" baseline="0" dirty="0" smtClean="0">
                <a:solidFill>
                  <a:schemeClr val="tx1"/>
                </a:solidFill>
                <a:effectLst/>
                <a:latin typeface="+mn-lt"/>
                <a:ea typeface="+mn-ea"/>
                <a:cs typeface="+mn-cs"/>
              </a:rPr>
              <a:t> pas avoir à </a:t>
            </a:r>
            <a:r>
              <a:rPr lang="fr-FR" sz="1200" b="0" i="0" kern="1200" baseline="0" dirty="0" err="1" smtClean="0">
                <a:solidFill>
                  <a:schemeClr val="tx1"/>
                </a:solidFill>
                <a:effectLst/>
                <a:latin typeface="+mn-lt"/>
                <a:ea typeface="+mn-ea"/>
                <a:cs typeface="+mn-cs"/>
              </a:rPr>
              <a:t>re</a:t>
            </a:r>
            <a:r>
              <a:rPr lang="fr-FR" sz="1200" b="0" i="0" kern="1200" baseline="0" dirty="0" smtClean="0">
                <a:solidFill>
                  <a:schemeClr val="tx1"/>
                </a:solidFill>
                <a:effectLst/>
                <a:latin typeface="+mn-lt"/>
                <a:ea typeface="+mn-ea"/>
                <a:cs typeface="+mn-cs"/>
              </a:rPr>
              <a:t> coder la roue, mais d’utiliser les outils du </a:t>
            </a:r>
            <a:r>
              <a:rPr lang="fr-FR" sz="1200" b="0" i="0" kern="1200" baseline="0" dirty="0" err="1" smtClean="0">
                <a:solidFill>
                  <a:schemeClr val="tx1"/>
                </a:solidFill>
                <a:effectLst/>
                <a:latin typeface="+mn-lt"/>
                <a:ea typeface="+mn-ea"/>
                <a:cs typeface="+mn-cs"/>
              </a:rPr>
              <a:t>framework</a:t>
            </a:r>
            <a:r>
              <a:rPr lang="fr-FR" sz="1200" b="0" i="0" kern="1200" baseline="0" dirty="0" smtClean="0">
                <a:solidFill>
                  <a:schemeClr val="tx1"/>
                </a:solidFill>
                <a:effectLst/>
                <a:latin typeface="+mn-lt"/>
                <a:ea typeface="+mn-ea"/>
                <a:cs typeface="+mn-cs"/>
              </a:rPr>
              <a:t> pour le faire.</a:t>
            </a:r>
            <a:endParaRPr lang="fr-FR" dirty="0" smtClean="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2</a:t>
            </a:fld>
            <a:endParaRPr lang="fr-FR"/>
          </a:p>
        </p:txBody>
      </p:sp>
    </p:spTree>
    <p:extLst>
      <p:ext uri="{BB962C8B-B14F-4D97-AF65-F5344CB8AC3E}">
        <p14:creationId xmlns:p14="http://schemas.microsoft.com/office/powerpoint/2010/main" val="3654963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3</a:t>
            </a:fld>
            <a:endParaRPr lang="fr-FR"/>
          </a:p>
        </p:txBody>
      </p:sp>
    </p:spTree>
    <p:extLst>
      <p:ext uri="{BB962C8B-B14F-4D97-AF65-F5344CB8AC3E}">
        <p14:creationId xmlns:p14="http://schemas.microsoft.com/office/powerpoint/2010/main" val="1822077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4</a:t>
            </a:fld>
            <a:endParaRPr lang="fr-FR"/>
          </a:p>
        </p:txBody>
      </p:sp>
    </p:spTree>
    <p:extLst>
      <p:ext uri="{BB962C8B-B14F-4D97-AF65-F5344CB8AC3E}">
        <p14:creationId xmlns:p14="http://schemas.microsoft.com/office/powerpoint/2010/main" val="1146582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5</a:t>
            </a:fld>
            <a:endParaRPr lang="fr-FR"/>
          </a:p>
        </p:txBody>
      </p:sp>
    </p:spTree>
    <p:extLst>
      <p:ext uri="{BB962C8B-B14F-4D97-AF65-F5344CB8AC3E}">
        <p14:creationId xmlns:p14="http://schemas.microsoft.com/office/powerpoint/2010/main" val="29941189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6</a:t>
            </a:fld>
            <a:endParaRPr lang="fr-FR"/>
          </a:p>
        </p:txBody>
      </p:sp>
    </p:spTree>
    <p:extLst>
      <p:ext uri="{BB962C8B-B14F-4D97-AF65-F5344CB8AC3E}">
        <p14:creationId xmlns:p14="http://schemas.microsoft.com/office/powerpoint/2010/main" val="4176121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7</a:t>
            </a:fld>
            <a:endParaRPr lang="fr-FR"/>
          </a:p>
        </p:txBody>
      </p:sp>
    </p:spTree>
    <p:extLst>
      <p:ext uri="{BB962C8B-B14F-4D97-AF65-F5344CB8AC3E}">
        <p14:creationId xmlns:p14="http://schemas.microsoft.com/office/powerpoint/2010/main" val="1631714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8</a:t>
            </a:fld>
            <a:endParaRPr lang="fr-FR"/>
          </a:p>
        </p:txBody>
      </p:sp>
    </p:spTree>
    <p:extLst>
      <p:ext uri="{BB962C8B-B14F-4D97-AF65-F5344CB8AC3E}">
        <p14:creationId xmlns:p14="http://schemas.microsoft.com/office/powerpoint/2010/main" val="1961549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9</a:t>
            </a:fld>
            <a:endParaRPr lang="fr-FR"/>
          </a:p>
        </p:txBody>
      </p:sp>
    </p:spTree>
    <p:extLst>
      <p:ext uri="{BB962C8B-B14F-4D97-AF65-F5344CB8AC3E}">
        <p14:creationId xmlns:p14="http://schemas.microsoft.com/office/powerpoint/2010/main" val="804570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10</a:t>
            </a:fld>
            <a:endParaRPr lang="fr-FR"/>
          </a:p>
        </p:txBody>
      </p:sp>
    </p:spTree>
    <p:extLst>
      <p:ext uri="{BB962C8B-B14F-4D97-AF65-F5344CB8AC3E}">
        <p14:creationId xmlns:p14="http://schemas.microsoft.com/office/powerpoint/2010/main" val="8102639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11</a:t>
            </a:fld>
            <a:endParaRPr lang="fr-FR"/>
          </a:p>
        </p:txBody>
      </p:sp>
    </p:spTree>
    <p:extLst>
      <p:ext uri="{BB962C8B-B14F-4D97-AF65-F5344CB8AC3E}">
        <p14:creationId xmlns:p14="http://schemas.microsoft.com/office/powerpoint/2010/main" val="22692435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12</a:t>
            </a:fld>
            <a:endParaRPr lang="fr-FR"/>
          </a:p>
        </p:txBody>
      </p:sp>
    </p:spTree>
    <p:extLst>
      <p:ext uri="{BB962C8B-B14F-4D97-AF65-F5344CB8AC3E}">
        <p14:creationId xmlns:p14="http://schemas.microsoft.com/office/powerpoint/2010/main" val="12523529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13</a:t>
            </a:fld>
            <a:endParaRPr lang="fr-FR"/>
          </a:p>
        </p:txBody>
      </p:sp>
    </p:spTree>
    <p:extLst>
      <p:ext uri="{BB962C8B-B14F-4D97-AF65-F5344CB8AC3E}">
        <p14:creationId xmlns:p14="http://schemas.microsoft.com/office/powerpoint/2010/main" val="16653108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14</a:t>
            </a:fld>
            <a:endParaRPr lang="fr-FR"/>
          </a:p>
        </p:txBody>
      </p:sp>
    </p:spTree>
    <p:extLst>
      <p:ext uri="{BB962C8B-B14F-4D97-AF65-F5344CB8AC3E}">
        <p14:creationId xmlns:p14="http://schemas.microsoft.com/office/powerpoint/2010/main" val="2775311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15</a:t>
            </a:fld>
            <a:endParaRPr lang="fr-FR"/>
          </a:p>
        </p:txBody>
      </p:sp>
    </p:spTree>
    <p:extLst>
      <p:ext uri="{BB962C8B-B14F-4D97-AF65-F5344CB8AC3E}">
        <p14:creationId xmlns:p14="http://schemas.microsoft.com/office/powerpoint/2010/main" val="41568499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16</a:t>
            </a:fld>
            <a:endParaRPr lang="fr-FR"/>
          </a:p>
        </p:txBody>
      </p:sp>
    </p:spTree>
    <p:extLst>
      <p:ext uri="{BB962C8B-B14F-4D97-AF65-F5344CB8AC3E}">
        <p14:creationId xmlns:p14="http://schemas.microsoft.com/office/powerpoint/2010/main" val="34397725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17</a:t>
            </a:fld>
            <a:endParaRPr lang="fr-FR"/>
          </a:p>
        </p:txBody>
      </p:sp>
    </p:spTree>
    <p:extLst>
      <p:ext uri="{BB962C8B-B14F-4D97-AF65-F5344CB8AC3E}">
        <p14:creationId xmlns:p14="http://schemas.microsoft.com/office/powerpoint/2010/main" val="15913979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18</a:t>
            </a:fld>
            <a:endParaRPr lang="fr-FR"/>
          </a:p>
        </p:txBody>
      </p:sp>
    </p:spTree>
    <p:extLst>
      <p:ext uri="{BB962C8B-B14F-4D97-AF65-F5344CB8AC3E}">
        <p14:creationId xmlns:p14="http://schemas.microsoft.com/office/powerpoint/2010/main" val="39840996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19</a:t>
            </a:fld>
            <a:endParaRPr lang="fr-FR"/>
          </a:p>
        </p:txBody>
      </p:sp>
    </p:spTree>
    <p:extLst>
      <p:ext uri="{BB962C8B-B14F-4D97-AF65-F5344CB8AC3E}">
        <p14:creationId xmlns:p14="http://schemas.microsoft.com/office/powerpoint/2010/main" val="32790817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20</a:t>
            </a:fld>
            <a:endParaRPr lang="fr-FR"/>
          </a:p>
        </p:txBody>
      </p:sp>
    </p:spTree>
    <p:extLst>
      <p:ext uri="{BB962C8B-B14F-4D97-AF65-F5344CB8AC3E}">
        <p14:creationId xmlns:p14="http://schemas.microsoft.com/office/powerpoint/2010/main" val="3764164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16/03/2022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796455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16/03/2022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142329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16/03/2022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377981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59C091AA-3F0C-4182-9D7B-1EB634D8256B}" type="datetimeFigureOut">
              <a:rPr lang="fr-FR" smtClean="0"/>
              <a:t>16/03/2022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577741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59C091AA-3F0C-4182-9D7B-1EB634D8256B}" type="datetimeFigureOut">
              <a:rPr lang="fr-FR" smtClean="0"/>
              <a:t>16/03/2022</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459691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59C091AA-3F0C-4182-9D7B-1EB634D8256B}" type="datetimeFigureOut">
              <a:rPr lang="fr-FR" smtClean="0"/>
              <a:t>16/03/2022</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002490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59C091AA-3F0C-4182-9D7B-1EB634D8256B}" type="datetimeFigureOut">
              <a:rPr lang="fr-FR" smtClean="0"/>
              <a:t>16/03/2022</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101026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9C091AA-3F0C-4182-9D7B-1EB634D8256B}" type="datetimeFigureOut">
              <a:rPr lang="fr-FR" smtClean="0"/>
              <a:t>16/03/2022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968089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9C091AA-3F0C-4182-9D7B-1EB634D8256B}" type="datetimeFigureOut">
              <a:rPr lang="fr-FR" smtClean="0"/>
              <a:t>16/03/2022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841683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16/03/2022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031157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16/03/2022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290548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lumMod val="85000"/>
              </a:schemeClr>
            </a:gs>
            <a:gs pos="100000">
              <a:schemeClr val="tx1">
                <a:lumMod val="65000"/>
                <a:lumOff val="35000"/>
              </a:schemeClr>
            </a:gs>
          </a:gsLst>
          <a:lin ang="2700000" scaled="1"/>
          <a:tileRect/>
        </a:grad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C091AA-3F0C-4182-9D7B-1EB634D8256B}" type="datetimeFigureOut">
              <a:rPr lang="fr-FR" smtClean="0"/>
              <a:t>16/03/2022</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25B0E8-7D99-4688-B6D3-8DC5133195E9}" type="slidenum">
              <a:rPr lang="fr-FR" smtClean="0"/>
              <a:t>‹N°›</a:t>
            </a:fld>
            <a:endParaRPr lang="fr-FR"/>
          </a:p>
        </p:txBody>
      </p:sp>
    </p:spTree>
    <p:extLst>
      <p:ext uri="{BB962C8B-B14F-4D97-AF65-F5344CB8AC3E}">
        <p14:creationId xmlns:p14="http://schemas.microsoft.com/office/powerpoint/2010/main" val="1355722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jp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4.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6.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1.xml"/><Relationship Id="rId16"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2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2.png"/></Relationships>
</file>

<file path=ppt/slides/_rels/slide12.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26.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3.xml"/><Relationship Id="rId16"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28.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7.png"/></Relationships>
</file>

<file path=ppt/slides/_rels/slide14.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4.xml"/><Relationship Id="rId16"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31.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30.png"/></Relationships>
</file>

<file path=ppt/slides/_rels/slide15.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34.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33.png"/></Relationships>
</file>

<file path=ppt/slides/_rels/slide16.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18" Type="http://schemas.openxmlformats.org/officeDocument/2006/relationships/image" Target="../media/image39.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17" Type="http://schemas.openxmlformats.org/officeDocument/2006/relationships/image" Target="../media/image38.png"/><Relationship Id="rId2" Type="http://schemas.openxmlformats.org/officeDocument/2006/relationships/notesSlide" Target="../notesSlides/notesSlide16.xml"/><Relationship Id="rId16"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36.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35.png"/></Relationships>
</file>

<file path=ppt/slides/_rels/slide17.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41.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40.png"/></Relationships>
</file>

<file path=ppt/slides/_rels/slide18.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42.png"/></Relationships>
</file>

<file path=ppt/slides/_rels/slide19.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44.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43.png"/></Relationships>
</file>

<file path=ppt/slides/_rels/slide20.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rotWithShape="1">
          <a:blip r:embed="rId3">
            <a:extLst>
              <a:ext uri="{28A0092B-C50C-407E-A947-70E740481C1C}">
                <a14:useLocalDpi xmlns:a14="http://schemas.microsoft.com/office/drawing/2010/main" val="0"/>
              </a:ext>
            </a:extLst>
          </a:blip>
          <a:srcRect t="17344"/>
          <a:stretch/>
        </p:blipFill>
        <p:spPr>
          <a:xfrm>
            <a:off x="-1" y="1161751"/>
            <a:ext cx="12247963" cy="5696249"/>
          </a:xfrm>
          <a:prstGeom prst="rect">
            <a:avLst/>
          </a:prstGeom>
        </p:spPr>
      </p:pic>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p:cNvSpPr txBox="1"/>
          <p:nvPr/>
        </p:nvSpPr>
        <p:spPr>
          <a:xfrm>
            <a:off x="0" y="696885"/>
            <a:ext cx="12198786" cy="369332"/>
          </a:xfrm>
          <a:prstGeom prst="rect">
            <a:avLst/>
          </a:prstGeom>
          <a:noFill/>
        </p:spPr>
        <p:txBody>
          <a:bodyPr wrap="square" rtlCol="0">
            <a:spAutoFit/>
          </a:bodyPr>
          <a:lstStyle/>
          <a:p>
            <a:pPr algn="ctr"/>
            <a:r>
              <a:rPr lang="fr-FR" dirty="0" smtClean="0">
                <a:solidFill>
                  <a:schemeClr val="bg1"/>
                </a:solidFill>
              </a:rPr>
              <a:t>Présentation ADRAR Pôle Numérique</a:t>
            </a:r>
            <a:endParaRPr lang="fr-FR" dirty="0">
              <a:solidFill>
                <a:schemeClr val="bg1"/>
              </a:solidFill>
            </a:endParaRPr>
          </a:p>
        </p:txBody>
      </p:sp>
      <p:sp>
        <p:nvSpPr>
          <p:cNvPr id="40" name="ZoneTexte 39"/>
          <p:cNvSpPr txBox="1"/>
          <p:nvPr/>
        </p:nvSpPr>
        <p:spPr>
          <a:xfrm>
            <a:off x="6456211" y="1313092"/>
            <a:ext cx="4151883" cy="246221"/>
          </a:xfrm>
          <a:prstGeom prst="rect">
            <a:avLst/>
          </a:prstGeom>
          <a:noFill/>
        </p:spPr>
        <p:txBody>
          <a:bodyPr wrap="square" rtlCol="0">
            <a:spAutoFit/>
          </a:bodyPr>
          <a:lstStyle/>
          <a:p>
            <a:pPr algn="ctr"/>
            <a:r>
              <a:rPr lang="fr-FR" sz="1000" dirty="0">
                <a:solidFill>
                  <a:schemeClr val="bg1"/>
                </a:solidFill>
              </a:rPr>
              <a:t>Suivez-nous… </a:t>
            </a:r>
            <a:r>
              <a:rPr lang="fr-FR" sz="1000" dirty="0" smtClean="0">
                <a:solidFill>
                  <a:schemeClr val="bg1"/>
                </a:solidFill>
              </a:rPr>
              <a:t>LinkedIn            et Twitter           </a:t>
            </a:r>
            <a:r>
              <a:rPr lang="fr-FR" sz="1000" b="1" dirty="0" smtClean="0">
                <a:solidFill>
                  <a:schemeClr val="bg1">
                    <a:lumMod val="95000"/>
                  </a:schemeClr>
                </a:solidFill>
              </a:rPr>
              <a:t>@</a:t>
            </a:r>
            <a:r>
              <a:rPr lang="fr-FR" sz="1000" b="1" dirty="0" err="1">
                <a:solidFill>
                  <a:schemeClr val="bg1">
                    <a:lumMod val="95000"/>
                  </a:schemeClr>
                </a:solidFill>
              </a:rPr>
              <a:t>Adrar_Numerique</a:t>
            </a:r>
            <a:endParaRPr lang="fr-FR" sz="1000" b="1" dirty="0">
              <a:solidFill>
                <a:schemeClr val="bg1">
                  <a:lumMod val="95000"/>
                </a:schemeClr>
              </a:solidFill>
            </a:endParaRPr>
          </a:p>
        </p:txBody>
      </p:sp>
      <p:pic>
        <p:nvPicPr>
          <p:cNvPr id="41" name="Image 4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79541" y="1320857"/>
            <a:ext cx="228243" cy="217374"/>
          </a:xfrm>
          <a:prstGeom prst="rect">
            <a:avLst/>
          </a:prstGeom>
        </p:spPr>
      </p:pic>
      <p:pic>
        <p:nvPicPr>
          <p:cNvPr id="42" name="Image 41"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77911" y="1344858"/>
            <a:ext cx="169371" cy="169371"/>
          </a:xfrm>
          <a:prstGeom prst="rect">
            <a:avLst/>
          </a:prstGeom>
        </p:spPr>
      </p:pic>
      <p:grpSp>
        <p:nvGrpSpPr>
          <p:cNvPr id="5" name="Groupe 4"/>
          <p:cNvGrpSpPr/>
          <p:nvPr/>
        </p:nvGrpSpPr>
        <p:grpSpPr>
          <a:xfrm>
            <a:off x="70311" y="-41891"/>
            <a:ext cx="12056372" cy="746449"/>
            <a:chOff x="70311" y="-41891"/>
            <a:chExt cx="12056372" cy="746449"/>
          </a:xfrm>
        </p:grpSpPr>
        <p:grpSp>
          <p:nvGrpSpPr>
            <p:cNvPr id="16" name="Groupe 15"/>
            <p:cNvGrpSpPr/>
            <p:nvPr/>
          </p:nvGrpSpPr>
          <p:grpSpPr>
            <a:xfrm>
              <a:off x="70311" y="-41891"/>
              <a:ext cx="12056372" cy="746449"/>
              <a:chOff x="51808" y="-49564"/>
              <a:chExt cx="12056372" cy="746449"/>
            </a:xfrm>
          </p:grpSpPr>
          <p:pic>
            <p:nvPicPr>
              <p:cNvPr id="19" name="Image 18"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20" name="Image 19"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21" name="Image 20"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22" name="Image 21"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24" name="Image 23"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25" name="Image 24"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26" name="Image 25"/>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4" name="Image 3"/>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Tree>
    <p:extLst>
      <p:ext uri="{BB962C8B-B14F-4D97-AF65-F5344CB8AC3E}">
        <p14:creationId xmlns:p14="http://schemas.microsoft.com/office/powerpoint/2010/main" val="38234442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3" name="Image 2"/>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411697" y="1809724"/>
            <a:ext cx="7004292" cy="3922403"/>
          </a:xfrm>
          <a:prstGeom prst="rect">
            <a:avLst/>
          </a:prstGeom>
        </p:spPr>
      </p:pic>
    </p:spTree>
    <p:extLst>
      <p:ext uri="{BB962C8B-B14F-4D97-AF65-F5344CB8AC3E}">
        <p14:creationId xmlns:p14="http://schemas.microsoft.com/office/powerpoint/2010/main" val="5266954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2675256" y="2569933"/>
            <a:ext cx="6848273" cy="2554545"/>
          </a:xfrm>
          <a:prstGeom prst="rect">
            <a:avLst/>
          </a:prstGeom>
          <a:noFill/>
        </p:spPr>
        <p:txBody>
          <a:bodyPr wrap="square" rtlCol="0">
            <a:spAutoFit/>
          </a:bodyPr>
          <a:lstStyle/>
          <a:p>
            <a:pPr algn="ctr"/>
            <a:r>
              <a:rPr lang="fr-FR" sz="8000" b="1" u="sng" dirty="0" smtClean="0"/>
              <a:t>MISE EN PLACE DES DONNEES</a:t>
            </a:r>
            <a:endParaRPr lang="fr-FR" sz="8000" b="1" u="sng" dirty="0"/>
          </a:p>
        </p:txBody>
      </p:sp>
    </p:spTree>
    <p:extLst>
      <p:ext uri="{BB962C8B-B14F-4D97-AF65-F5344CB8AC3E}">
        <p14:creationId xmlns:p14="http://schemas.microsoft.com/office/powerpoint/2010/main" val="798114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4" name="ZoneTexte 3"/>
          <p:cNvSpPr txBox="1"/>
          <p:nvPr/>
        </p:nvSpPr>
        <p:spPr>
          <a:xfrm>
            <a:off x="502572" y="1400783"/>
            <a:ext cx="10878790" cy="4247317"/>
          </a:xfrm>
          <a:prstGeom prst="rect">
            <a:avLst/>
          </a:prstGeom>
          <a:noFill/>
        </p:spPr>
        <p:txBody>
          <a:bodyPr wrap="square" rtlCol="0">
            <a:spAutoFit/>
          </a:bodyPr>
          <a:lstStyle/>
          <a:p>
            <a:r>
              <a:rPr lang="fr-FR" dirty="0" smtClean="0"/>
              <a:t>Nous allons maintenant apprendre a mettre en place notre base de donnée, à l’intégrer dans notre projet et à la manipuler.</a:t>
            </a:r>
          </a:p>
          <a:p>
            <a:endParaRPr lang="fr-FR" dirty="0"/>
          </a:p>
          <a:p>
            <a:r>
              <a:rPr lang="fr-FR" dirty="0" smtClean="0"/>
              <a:t>Les informations relatives à la connexion à la base de données se trouvent dans le fichier </a:t>
            </a:r>
            <a:r>
              <a:rPr lang="fr-FR" i="1" dirty="0" err="1" smtClean="0"/>
              <a:t>monsite</a:t>
            </a:r>
            <a:r>
              <a:rPr lang="fr-FR" i="1" dirty="0" smtClean="0"/>
              <a:t>/settings.py</a:t>
            </a:r>
            <a:r>
              <a:rPr lang="fr-FR" dirty="0" smtClean="0"/>
              <a:t>. Dans ce fichier vous avez une variable DATABASES qui est un dictionnaire comprenant les diverses informations de la BDD : le moteur de base de donnée utilisé ainsi que le nom de la base. Une base sqlite3 est configuré par défaut, c’est ce que nous utiliserons pour ce </a:t>
            </a:r>
            <a:r>
              <a:rPr lang="fr-FR" dirty="0" err="1" smtClean="0"/>
              <a:t>tp</a:t>
            </a:r>
            <a:r>
              <a:rPr lang="fr-FR" dirty="0"/>
              <a:t> </a:t>
            </a:r>
            <a:r>
              <a:rPr lang="fr-FR" dirty="0" smtClean="0"/>
              <a:t>mais vous pourriez très bien en utiliser une autre. Il faudrait pour cela modifier la clef ENGINE pour y indiquer le moteur de votre base et la clef NAME pour le nom de la base (dans le cas de sqlite3 le nom de la base est un fichier sur votre machine. Voici un exemple de moteurs possibles (d’autre sont également disponibles sur la doc officielle de </a:t>
            </a:r>
            <a:r>
              <a:rPr lang="fr-FR" dirty="0" err="1" smtClean="0"/>
              <a:t>django</a:t>
            </a:r>
            <a:r>
              <a:rPr lang="fr-FR" dirty="0" smtClean="0"/>
              <a:t>) :</a:t>
            </a:r>
          </a:p>
          <a:p>
            <a:endParaRPr lang="fr-FR" dirty="0" smtClean="0"/>
          </a:p>
          <a:p>
            <a:r>
              <a:rPr lang="fr-FR" b="1" dirty="0" smtClean="0"/>
              <a:t>django.db.backends.sqlite3</a:t>
            </a:r>
          </a:p>
          <a:p>
            <a:r>
              <a:rPr lang="fr-FR" b="1" dirty="0" err="1" smtClean="0"/>
              <a:t>django.db.backends.postgresql</a:t>
            </a:r>
            <a:endParaRPr lang="fr-FR" b="1" dirty="0" smtClean="0"/>
          </a:p>
          <a:p>
            <a:r>
              <a:rPr lang="fr-FR" b="1" dirty="0" err="1" smtClean="0"/>
              <a:t>django.db.backends.mysql</a:t>
            </a:r>
            <a:endParaRPr lang="fr-FR" b="1" dirty="0" smtClean="0"/>
          </a:p>
          <a:p>
            <a:r>
              <a:rPr lang="fr-FR" b="1" dirty="0" err="1"/>
              <a:t>django.db.backends.oracle</a:t>
            </a:r>
            <a:endParaRPr lang="fr-FR" dirty="0"/>
          </a:p>
        </p:txBody>
      </p:sp>
      <p:pic>
        <p:nvPicPr>
          <p:cNvPr id="7" name="Image 6"/>
          <p:cNvPicPr>
            <a:picLocks noChangeAspect="1"/>
          </p:cNvPicPr>
          <p:nvPr/>
        </p:nvPicPr>
        <p:blipFill>
          <a:blip r:embed="rId14"/>
          <a:stretch>
            <a:fillRect/>
          </a:stretch>
        </p:blipFill>
        <p:spPr>
          <a:xfrm>
            <a:off x="6726650" y="4272266"/>
            <a:ext cx="4286250" cy="1543050"/>
          </a:xfrm>
          <a:prstGeom prst="rect">
            <a:avLst/>
          </a:prstGeom>
        </p:spPr>
      </p:pic>
    </p:spTree>
    <p:extLst>
      <p:ext uri="{BB962C8B-B14F-4D97-AF65-F5344CB8AC3E}">
        <p14:creationId xmlns:p14="http://schemas.microsoft.com/office/powerpoint/2010/main" val="31444637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502572" y="1400783"/>
            <a:ext cx="10878790" cy="923330"/>
          </a:xfrm>
          <a:prstGeom prst="rect">
            <a:avLst/>
          </a:prstGeom>
          <a:noFill/>
        </p:spPr>
        <p:txBody>
          <a:bodyPr wrap="square" rtlCol="0">
            <a:spAutoFit/>
          </a:bodyPr>
          <a:lstStyle/>
          <a:p>
            <a:r>
              <a:rPr lang="fr-FR" dirty="0" smtClean="0"/>
              <a:t>Tant que vous êtes dans le fichier </a:t>
            </a:r>
            <a:r>
              <a:rPr lang="fr-FR" i="1" dirty="0" smtClean="0"/>
              <a:t>monsite/settings.py</a:t>
            </a:r>
            <a:r>
              <a:rPr lang="fr-FR" dirty="0" smtClean="0"/>
              <a:t> dirigez vous tout en bas du fichier afin de modifier la valeur de la variable TIME_ZONE afin d’y indiquer ‘Europe/Paris’. Cela permettra, lorsqu’on utilisera des fonctions de dates et d’heure, d’être sur le bon fuseau horaire.</a:t>
            </a:r>
            <a:endParaRPr lang="fr-FR" dirty="0"/>
          </a:p>
        </p:txBody>
      </p:sp>
      <p:pic>
        <p:nvPicPr>
          <p:cNvPr id="2" name="Image 1"/>
          <p:cNvPicPr>
            <a:picLocks noChangeAspect="1"/>
          </p:cNvPicPr>
          <p:nvPr/>
        </p:nvPicPr>
        <p:blipFill>
          <a:blip r:embed="rId14"/>
          <a:stretch>
            <a:fillRect/>
          </a:stretch>
        </p:blipFill>
        <p:spPr>
          <a:xfrm>
            <a:off x="615619" y="2629515"/>
            <a:ext cx="4691775" cy="716799"/>
          </a:xfrm>
          <a:prstGeom prst="rect">
            <a:avLst/>
          </a:prstGeom>
        </p:spPr>
      </p:pic>
      <p:sp>
        <p:nvSpPr>
          <p:cNvPr id="20" name="ZoneTexte 19"/>
          <p:cNvSpPr txBox="1"/>
          <p:nvPr/>
        </p:nvSpPr>
        <p:spPr>
          <a:xfrm>
            <a:off x="502572" y="3793214"/>
            <a:ext cx="5275658" cy="1477328"/>
          </a:xfrm>
          <a:prstGeom prst="rect">
            <a:avLst/>
          </a:prstGeom>
          <a:noFill/>
        </p:spPr>
        <p:txBody>
          <a:bodyPr wrap="square" rtlCol="0">
            <a:spAutoFit/>
          </a:bodyPr>
          <a:lstStyle/>
          <a:p>
            <a:r>
              <a:rPr lang="fr-FR" dirty="0" smtClean="0"/>
              <a:t>Nous allons également rajouter notre application dans la liste des applications de notre projet, toujours dans le fichier </a:t>
            </a:r>
            <a:r>
              <a:rPr lang="fr-FR" i="1" dirty="0" err="1" smtClean="0"/>
              <a:t>monsite</a:t>
            </a:r>
            <a:r>
              <a:rPr lang="fr-FR" i="1" dirty="0" smtClean="0"/>
              <a:t>/settings.py.</a:t>
            </a:r>
            <a:r>
              <a:rPr lang="fr-FR" dirty="0" smtClean="0"/>
              <a:t> Repérer la variable liste nommé INSTALLED_APPS et rajoutez y la valeur</a:t>
            </a:r>
            <a:r>
              <a:rPr lang="fr-FR" i="1" dirty="0"/>
              <a:t> </a:t>
            </a:r>
            <a:r>
              <a:rPr lang="fr-FR" dirty="0"/>
              <a:t>:</a:t>
            </a:r>
            <a:endParaRPr lang="fr-FR" i="1" dirty="0" smtClean="0"/>
          </a:p>
          <a:p>
            <a:r>
              <a:rPr lang="fr-FR" i="1" dirty="0" smtClean="0"/>
              <a:t>‘</a:t>
            </a:r>
            <a:r>
              <a:rPr lang="fr-FR" i="1" dirty="0" err="1" smtClean="0"/>
              <a:t>sondage.apps.SondageConfig</a:t>
            </a:r>
            <a:r>
              <a:rPr lang="fr-FR" i="1" dirty="0" smtClean="0"/>
              <a:t>’,</a:t>
            </a:r>
            <a:endParaRPr lang="fr-FR" dirty="0"/>
          </a:p>
        </p:txBody>
      </p:sp>
      <p:pic>
        <p:nvPicPr>
          <p:cNvPr id="3" name="Image 2"/>
          <p:cNvPicPr>
            <a:picLocks noChangeAspect="1"/>
          </p:cNvPicPr>
          <p:nvPr/>
        </p:nvPicPr>
        <p:blipFill>
          <a:blip r:embed="rId15"/>
          <a:stretch>
            <a:fillRect/>
          </a:stretch>
        </p:blipFill>
        <p:spPr>
          <a:xfrm>
            <a:off x="6726650" y="3793214"/>
            <a:ext cx="3267075" cy="2266950"/>
          </a:xfrm>
          <a:prstGeom prst="rect">
            <a:avLst/>
          </a:prstGeom>
        </p:spPr>
      </p:pic>
    </p:spTree>
    <p:extLst>
      <p:ext uri="{BB962C8B-B14F-4D97-AF65-F5344CB8AC3E}">
        <p14:creationId xmlns:p14="http://schemas.microsoft.com/office/powerpoint/2010/main" val="22658601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583660" y="1459149"/>
            <a:ext cx="10856068" cy="1200329"/>
          </a:xfrm>
          <a:prstGeom prst="rect">
            <a:avLst/>
          </a:prstGeom>
          <a:noFill/>
        </p:spPr>
        <p:txBody>
          <a:bodyPr wrap="square" rtlCol="0">
            <a:spAutoFit/>
          </a:bodyPr>
          <a:lstStyle/>
          <a:p>
            <a:r>
              <a:rPr lang="fr-FR" dirty="0" smtClean="0"/>
              <a:t>Ayant configuré notre projet nous pouvons maintenant mettre en place nos modèles servant à la mise en place de notre base de donnée. Cela se passe dans le fichier </a:t>
            </a:r>
            <a:r>
              <a:rPr lang="fr-FR" i="1" dirty="0" smtClean="0"/>
              <a:t>sondage/models.py</a:t>
            </a:r>
            <a:r>
              <a:rPr lang="fr-FR" dirty="0" smtClean="0"/>
              <a:t>. Notre projet va consister en un site visant à recueillir les avis de personnes grâce à des sondages. Il y aura donc dans notre base des questions ainsi que des choix. Voici le contenu de notre fichier </a:t>
            </a:r>
            <a:r>
              <a:rPr lang="fr-FR" i="1" dirty="0" smtClean="0"/>
              <a:t>sondage/models.py</a:t>
            </a:r>
            <a:r>
              <a:rPr lang="fr-FR" dirty="0" smtClean="0"/>
              <a:t> :</a:t>
            </a:r>
            <a:endParaRPr lang="fr-FR" dirty="0"/>
          </a:p>
        </p:txBody>
      </p:sp>
      <p:pic>
        <p:nvPicPr>
          <p:cNvPr id="3" name="Image 2"/>
          <p:cNvPicPr>
            <a:picLocks noChangeAspect="1"/>
          </p:cNvPicPr>
          <p:nvPr/>
        </p:nvPicPr>
        <p:blipFill rotWithShape="1">
          <a:blip r:embed="rId14"/>
          <a:srcRect l="-2" r="14744"/>
          <a:stretch/>
        </p:blipFill>
        <p:spPr>
          <a:xfrm>
            <a:off x="678764" y="2805922"/>
            <a:ext cx="5904000" cy="3152775"/>
          </a:xfrm>
          <a:prstGeom prst="rect">
            <a:avLst/>
          </a:prstGeom>
        </p:spPr>
      </p:pic>
      <p:sp>
        <p:nvSpPr>
          <p:cNvPr id="4" name="ZoneTexte 3"/>
          <p:cNvSpPr txBox="1"/>
          <p:nvPr/>
        </p:nvSpPr>
        <p:spPr>
          <a:xfrm>
            <a:off x="6796671" y="2663712"/>
            <a:ext cx="4713078" cy="3970318"/>
          </a:xfrm>
          <a:prstGeom prst="rect">
            <a:avLst/>
          </a:prstGeom>
          <a:noFill/>
        </p:spPr>
        <p:txBody>
          <a:bodyPr wrap="square" rtlCol="0">
            <a:spAutoFit/>
          </a:bodyPr>
          <a:lstStyle/>
          <a:p>
            <a:r>
              <a:rPr lang="fr-FR" dirty="0" smtClean="0"/>
              <a:t>Nous commençons par import </a:t>
            </a:r>
            <a:r>
              <a:rPr lang="fr-FR" i="1" dirty="0" err="1" smtClean="0"/>
              <a:t>models</a:t>
            </a:r>
            <a:r>
              <a:rPr lang="fr-FR" dirty="0" smtClean="0"/>
              <a:t> du module </a:t>
            </a:r>
            <a:r>
              <a:rPr lang="fr-FR" i="1" dirty="0" err="1" smtClean="0"/>
              <a:t>django.db</a:t>
            </a:r>
            <a:r>
              <a:rPr lang="fr-FR" dirty="0" smtClean="0"/>
              <a:t>.</a:t>
            </a:r>
          </a:p>
          <a:p>
            <a:endParaRPr lang="fr-FR" dirty="0" smtClean="0"/>
          </a:p>
          <a:p>
            <a:r>
              <a:rPr lang="fr-FR" dirty="0" smtClean="0"/>
              <a:t>Nous créons ensuite une classe par tables de notre base héritant de la classe Model.</a:t>
            </a:r>
          </a:p>
          <a:p>
            <a:endParaRPr lang="fr-FR" dirty="0"/>
          </a:p>
          <a:p>
            <a:r>
              <a:rPr lang="fr-FR" dirty="0" smtClean="0"/>
              <a:t>Nous définissons ensuite les champs de nos tables sous formes d’objets de classes </a:t>
            </a:r>
            <a:r>
              <a:rPr lang="fr-FR" dirty="0" err="1" smtClean="0"/>
              <a:t>Charfield</a:t>
            </a:r>
            <a:r>
              <a:rPr lang="fr-FR" dirty="0" smtClean="0"/>
              <a:t>, </a:t>
            </a:r>
            <a:r>
              <a:rPr lang="fr-FR" dirty="0" err="1" smtClean="0"/>
              <a:t>DateTimeField</a:t>
            </a:r>
            <a:r>
              <a:rPr lang="fr-FR" dirty="0" smtClean="0"/>
              <a:t>, </a:t>
            </a:r>
            <a:r>
              <a:rPr lang="fr-FR" dirty="0" err="1" smtClean="0"/>
              <a:t>ForeignKey</a:t>
            </a:r>
            <a:r>
              <a:rPr lang="fr-FR" dirty="0" smtClean="0"/>
              <a:t> ou encore </a:t>
            </a:r>
            <a:r>
              <a:rPr lang="fr-FR" dirty="0" err="1" smtClean="0"/>
              <a:t>IntegerField</a:t>
            </a:r>
            <a:r>
              <a:rPr lang="fr-FR" dirty="0" smtClean="0"/>
              <a:t>. Plusieurs paramètres sont </a:t>
            </a:r>
            <a:r>
              <a:rPr lang="fr-FR" dirty="0" err="1" smtClean="0"/>
              <a:t>précisables</a:t>
            </a:r>
            <a:r>
              <a:rPr lang="fr-FR" dirty="0" smtClean="0"/>
              <a:t> dans la construction. Le premier paramètre, facultatif, d’un objet Field est utilisé pour donner un nom plus lisible au champ (comme pour la variable </a:t>
            </a:r>
            <a:r>
              <a:rPr lang="fr-FR" dirty="0" err="1" smtClean="0"/>
              <a:t>pub_date</a:t>
            </a:r>
            <a:r>
              <a:rPr lang="fr-FR" dirty="0" smtClean="0"/>
              <a:t>)</a:t>
            </a:r>
            <a:endParaRPr lang="fr-FR" dirty="0"/>
          </a:p>
        </p:txBody>
      </p:sp>
    </p:spTree>
    <p:extLst>
      <p:ext uri="{BB962C8B-B14F-4D97-AF65-F5344CB8AC3E}">
        <p14:creationId xmlns:p14="http://schemas.microsoft.com/office/powerpoint/2010/main" val="42609353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583660" y="1459149"/>
            <a:ext cx="10856068" cy="923330"/>
          </a:xfrm>
          <a:prstGeom prst="rect">
            <a:avLst/>
          </a:prstGeom>
          <a:noFill/>
        </p:spPr>
        <p:txBody>
          <a:bodyPr wrap="square" rtlCol="0">
            <a:spAutoFit/>
          </a:bodyPr>
          <a:lstStyle/>
          <a:p>
            <a:r>
              <a:rPr lang="fr-FR" dirty="0" smtClean="0"/>
              <a:t>Maintenant que nos modèles sont fait nous pouvons indiquer à </a:t>
            </a:r>
            <a:r>
              <a:rPr lang="fr-FR" dirty="0" err="1" smtClean="0"/>
              <a:t>django</a:t>
            </a:r>
            <a:r>
              <a:rPr lang="fr-FR" dirty="0" smtClean="0"/>
              <a:t> de l’appliquer à notre base de données. Cela se fait en deux étapes : tout d’abord préparer la migration vers notre base, puis la migrer. Pour préparer la migration il faut utiliser la commande </a:t>
            </a:r>
            <a:r>
              <a:rPr lang="fr-FR" i="1" dirty="0" err="1" smtClean="0"/>
              <a:t>makemigrations</a:t>
            </a:r>
            <a:r>
              <a:rPr lang="fr-FR" i="1" dirty="0" smtClean="0"/>
              <a:t> sondage</a:t>
            </a:r>
            <a:r>
              <a:rPr lang="fr-FR" dirty="0" smtClean="0"/>
              <a:t> du script </a:t>
            </a:r>
            <a:r>
              <a:rPr lang="fr-FR" i="1" dirty="0" smtClean="0"/>
              <a:t>manage.py</a:t>
            </a:r>
            <a:endParaRPr lang="fr-FR" dirty="0"/>
          </a:p>
        </p:txBody>
      </p:sp>
      <p:pic>
        <p:nvPicPr>
          <p:cNvPr id="2" name="Image 1"/>
          <p:cNvPicPr>
            <a:picLocks noChangeAspect="1"/>
          </p:cNvPicPr>
          <p:nvPr/>
        </p:nvPicPr>
        <p:blipFill>
          <a:blip r:embed="rId14"/>
          <a:stretch>
            <a:fillRect/>
          </a:stretch>
        </p:blipFill>
        <p:spPr>
          <a:xfrm>
            <a:off x="714469" y="2818547"/>
            <a:ext cx="10242064" cy="1451897"/>
          </a:xfrm>
          <a:prstGeom prst="rect">
            <a:avLst/>
          </a:prstGeom>
        </p:spPr>
      </p:pic>
    </p:spTree>
    <p:extLst>
      <p:ext uri="{BB962C8B-B14F-4D97-AF65-F5344CB8AC3E}">
        <p14:creationId xmlns:p14="http://schemas.microsoft.com/office/powerpoint/2010/main" val="20019620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18" name="Image 17"/>
          <p:cNvPicPr>
            <a:picLocks noChangeAspect="1"/>
          </p:cNvPicPr>
          <p:nvPr/>
        </p:nvPicPr>
        <p:blipFill>
          <a:blip r:embed="rId14"/>
          <a:stretch>
            <a:fillRect/>
          </a:stretch>
        </p:blipFill>
        <p:spPr>
          <a:xfrm>
            <a:off x="0" y="2569516"/>
            <a:ext cx="12174120" cy="2209378"/>
          </a:xfrm>
          <a:prstGeom prst="rect">
            <a:avLst/>
          </a:prstGeom>
        </p:spPr>
      </p:pic>
      <p:sp>
        <p:nvSpPr>
          <p:cNvPr id="19" name="ZoneTexte 18"/>
          <p:cNvSpPr txBox="1"/>
          <p:nvPr/>
        </p:nvSpPr>
        <p:spPr>
          <a:xfrm>
            <a:off x="502572" y="1265661"/>
            <a:ext cx="10856068" cy="1200329"/>
          </a:xfrm>
          <a:prstGeom prst="rect">
            <a:avLst/>
          </a:prstGeom>
          <a:noFill/>
        </p:spPr>
        <p:txBody>
          <a:bodyPr wrap="square" rtlCol="0">
            <a:spAutoFit/>
          </a:bodyPr>
          <a:lstStyle/>
          <a:p>
            <a:r>
              <a:rPr lang="fr-FR" dirty="0" smtClean="0"/>
              <a:t>Suite à la première commande </a:t>
            </a:r>
            <a:r>
              <a:rPr lang="fr-FR" dirty="0" err="1" smtClean="0"/>
              <a:t>django</a:t>
            </a:r>
            <a:r>
              <a:rPr lang="fr-FR" dirty="0" smtClean="0"/>
              <a:t> créé un fichier de migration dans le dossier </a:t>
            </a:r>
            <a:r>
              <a:rPr lang="fr-FR" i="1" dirty="0" smtClean="0"/>
              <a:t>migrations</a:t>
            </a:r>
            <a:r>
              <a:rPr lang="fr-FR" dirty="0" smtClean="0"/>
              <a:t> de notre répertoire </a:t>
            </a:r>
            <a:r>
              <a:rPr lang="fr-FR" i="1" dirty="0" smtClean="0"/>
              <a:t>sondage</a:t>
            </a:r>
            <a:r>
              <a:rPr lang="fr-FR" dirty="0" smtClean="0"/>
              <a:t>. Vous pouvez visualiser le code </a:t>
            </a:r>
            <a:r>
              <a:rPr lang="fr-FR" dirty="0" err="1" smtClean="0"/>
              <a:t>sql</a:t>
            </a:r>
            <a:r>
              <a:rPr lang="fr-FR" dirty="0" smtClean="0"/>
              <a:t> de votre migration grâce à la commande </a:t>
            </a:r>
            <a:r>
              <a:rPr lang="fr-FR" i="1" dirty="0" err="1" smtClean="0"/>
              <a:t>sqlmigrate</a:t>
            </a:r>
            <a:r>
              <a:rPr lang="fr-FR" i="1" dirty="0" smtClean="0"/>
              <a:t> sondage 0001</a:t>
            </a:r>
            <a:r>
              <a:rPr lang="fr-FR" dirty="0" smtClean="0"/>
              <a:t>. 0001 ici symbolise le numéro de la migrations que vous voulez visualiser. /!\ Cette commande n’a aucune action sur votre base, elle permet juste de visualiser la requête.</a:t>
            </a:r>
            <a:endParaRPr lang="fr-FR" dirty="0"/>
          </a:p>
        </p:txBody>
      </p:sp>
      <p:sp>
        <p:nvSpPr>
          <p:cNvPr id="20" name="ZoneTexte 19"/>
          <p:cNvSpPr txBox="1"/>
          <p:nvPr/>
        </p:nvSpPr>
        <p:spPr>
          <a:xfrm>
            <a:off x="502572" y="4882420"/>
            <a:ext cx="10856068" cy="646331"/>
          </a:xfrm>
          <a:prstGeom prst="rect">
            <a:avLst/>
          </a:prstGeom>
          <a:noFill/>
        </p:spPr>
        <p:txBody>
          <a:bodyPr wrap="square" rtlCol="0">
            <a:spAutoFit/>
          </a:bodyPr>
          <a:lstStyle/>
          <a:p>
            <a:r>
              <a:rPr lang="fr-FR" dirty="0" smtClean="0"/>
              <a:t>Vous pouvez constater que </a:t>
            </a:r>
            <a:r>
              <a:rPr lang="fr-FR" dirty="0" err="1" smtClean="0"/>
              <a:t>django</a:t>
            </a:r>
            <a:r>
              <a:rPr lang="fr-FR" dirty="0" smtClean="0"/>
              <a:t> crée automatiquement un champ </a:t>
            </a:r>
            <a:r>
              <a:rPr lang="fr-FR" i="1" dirty="0" smtClean="0"/>
              <a:t>id</a:t>
            </a:r>
            <a:r>
              <a:rPr lang="fr-FR" dirty="0" smtClean="0"/>
              <a:t> comme clef primaire de chaque table. Le code que vous voyez affiché via cette commande varie en fonction du moteur que vous avez sélectionné.</a:t>
            </a:r>
            <a:endParaRPr lang="fr-FR" dirty="0"/>
          </a:p>
        </p:txBody>
      </p:sp>
    </p:spTree>
    <p:extLst>
      <p:ext uri="{BB962C8B-B14F-4D97-AF65-F5344CB8AC3E}">
        <p14:creationId xmlns:p14="http://schemas.microsoft.com/office/powerpoint/2010/main" val="14297929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3" name="ZoneTexte 2"/>
          <p:cNvSpPr txBox="1"/>
          <p:nvPr/>
        </p:nvSpPr>
        <p:spPr>
          <a:xfrm>
            <a:off x="291830" y="1420238"/>
            <a:ext cx="11138170" cy="369332"/>
          </a:xfrm>
          <a:prstGeom prst="rect">
            <a:avLst/>
          </a:prstGeom>
          <a:noFill/>
        </p:spPr>
        <p:txBody>
          <a:bodyPr wrap="square" rtlCol="0">
            <a:spAutoFit/>
          </a:bodyPr>
          <a:lstStyle/>
          <a:p>
            <a:r>
              <a:rPr lang="fr-FR" dirty="0" smtClean="0"/>
              <a:t>Une fois la migrations créée vous devez l’appliquer grâce à la commande </a:t>
            </a:r>
            <a:r>
              <a:rPr lang="fr-FR" i="1" dirty="0" err="1" smtClean="0"/>
              <a:t>migrate</a:t>
            </a:r>
            <a:r>
              <a:rPr lang="fr-FR" dirty="0" smtClean="0"/>
              <a:t> du script </a:t>
            </a:r>
            <a:r>
              <a:rPr lang="fr-FR" i="1" dirty="0" smtClean="0"/>
              <a:t>manage.py</a:t>
            </a:r>
            <a:endParaRPr lang="fr-FR" dirty="0"/>
          </a:p>
        </p:txBody>
      </p:sp>
      <p:pic>
        <p:nvPicPr>
          <p:cNvPr id="4" name="Image 3"/>
          <p:cNvPicPr>
            <a:picLocks noChangeAspect="1"/>
          </p:cNvPicPr>
          <p:nvPr/>
        </p:nvPicPr>
        <p:blipFill>
          <a:blip r:embed="rId14"/>
          <a:stretch>
            <a:fillRect/>
          </a:stretch>
        </p:blipFill>
        <p:spPr>
          <a:xfrm>
            <a:off x="354956" y="1809724"/>
            <a:ext cx="5838489" cy="4495120"/>
          </a:xfrm>
          <a:prstGeom prst="rect">
            <a:avLst/>
          </a:prstGeom>
        </p:spPr>
      </p:pic>
      <p:sp>
        <p:nvSpPr>
          <p:cNvPr id="5" name="ZoneTexte 4"/>
          <p:cNvSpPr txBox="1"/>
          <p:nvPr/>
        </p:nvSpPr>
        <p:spPr>
          <a:xfrm>
            <a:off x="6303523" y="2775928"/>
            <a:ext cx="4951379" cy="923330"/>
          </a:xfrm>
          <a:prstGeom prst="rect">
            <a:avLst/>
          </a:prstGeom>
          <a:noFill/>
        </p:spPr>
        <p:txBody>
          <a:bodyPr wrap="square" rtlCol="0">
            <a:spAutoFit/>
          </a:bodyPr>
          <a:lstStyle/>
          <a:p>
            <a:r>
              <a:rPr lang="fr-FR" dirty="0" smtClean="0"/>
              <a:t>On voit ici que </a:t>
            </a:r>
            <a:r>
              <a:rPr lang="fr-FR" dirty="0" err="1" smtClean="0"/>
              <a:t>django</a:t>
            </a:r>
            <a:r>
              <a:rPr lang="fr-FR" dirty="0" smtClean="0"/>
              <a:t> applique les migrations de toutes les application renseignées dans le fichier </a:t>
            </a:r>
            <a:r>
              <a:rPr lang="fr-FR" i="1" dirty="0" smtClean="0"/>
              <a:t>monsite/settings.py</a:t>
            </a:r>
            <a:r>
              <a:rPr lang="fr-FR" dirty="0" smtClean="0"/>
              <a:t> </a:t>
            </a:r>
            <a:endParaRPr lang="fr-FR" dirty="0"/>
          </a:p>
        </p:txBody>
      </p:sp>
    </p:spTree>
    <p:extLst>
      <p:ext uri="{BB962C8B-B14F-4D97-AF65-F5344CB8AC3E}">
        <p14:creationId xmlns:p14="http://schemas.microsoft.com/office/powerpoint/2010/main" val="6506516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9" name="ZoneTexte 18"/>
          <p:cNvSpPr txBox="1"/>
          <p:nvPr/>
        </p:nvSpPr>
        <p:spPr>
          <a:xfrm>
            <a:off x="502572" y="1265661"/>
            <a:ext cx="10856068" cy="646331"/>
          </a:xfrm>
          <a:prstGeom prst="rect">
            <a:avLst/>
          </a:prstGeom>
          <a:noFill/>
        </p:spPr>
        <p:txBody>
          <a:bodyPr wrap="square" rtlCol="0">
            <a:spAutoFit/>
          </a:bodyPr>
          <a:lstStyle/>
          <a:p>
            <a:r>
              <a:rPr lang="fr-FR" dirty="0" smtClean="0"/>
              <a:t>Nous pouvons maintenant utiliser le </a:t>
            </a:r>
            <a:r>
              <a:rPr lang="fr-FR" dirty="0" err="1" smtClean="0"/>
              <a:t>shell</a:t>
            </a:r>
            <a:r>
              <a:rPr lang="fr-FR" dirty="0" smtClean="0"/>
              <a:t> fournit avec le scripte </a:t>
            </a:r>
            <a:r>
              <a:rPr lang="fr-FR" i="1" dirty="0" smtClean="0"/>
              <a:t>manage.py</a:t>
            </a:r>
            <a:r>
              <a:rPr lang="fr-FR" dirty="0" smtClean="0"/>
              <a:t> afin de tester nos tables. Ce </a:t>
            </a:r>
            <a:r>
              <a:rPr lang="fr-FR" dirty="0" err="1" smtClean="0"/>
              <a:t>shell</a:t>
            </a:r>
            <a:r>
              <a:rPr lang="fr-FR" dirty="0" smtClean="0"/>
              <a:t> est simplement un invité de commande python en liens directe avec votre projet.</a:t>
            </a:r>
            <a:endParaRPr lang="fr-FR" dirty="0"/>
          </a:p>
        </p:txBody>
      </p:sp>
      <p:pic>
        <p:nvPicPr>
          <p:cNvPr id="3" name="Image 2"/>
          <p:cNvPicPr>
            <a:picLocks noChangeAspect="1"/>
          </p:cNvPicPr>
          <p:nvPr/>
        </p:nvPicPr>
        <p:blipFill>
          <a:blip r:embed="rId14"/>
          <a:stretch>
            <a:fillRect/>
          </a:stretch>
        </p:blipFill>
        <p:spPr>
          <a:xfrm>
            <a:off x="502572" y="1920042"/>
            <a:ext cx="6711922" cy="4495800"/>
          </a:xfrm>
          <a:prstGeom prst="rect">
            <a:avLst/>
          </a:prstGeom>
        </p:spPr>
      </p:pic>
      <p:sp>
        <p:nvSpPr>
          <p:cNvPr id="21" name="ZoneTexte 20"/>
          <p:cNvSpPr txBox="1"/>
          <p:nvPr/>
        </p:nvSpPr>
        <p:spPr>
          <a:xfrm>
            <a:off x="7387319" y="2023568"/>
            <a:ext cx="4713078" cy="3970318"/>
          </a:xfrm>
          <a:prstGeom prst="rect">
            <a:avLst/>
          </a:prstGeom>
          <a:noFill/>
        </p:spPr>
        <p:txBody>
          <a:bodyPr wrap="square" rtlCol="0">
            <a:spAutoFit/>
          </a:bodyPr>
          <a:lstStyle/>
          <a:p>
            <a:r>
              <a:rPr lang="fr-FR" dirty="0" smtClean="0"/>
              <a:t>Nous commençons par importer nos différents modèles.</a:t>
            </a:r>
          </a:p>
          <a:p>
            <a:r>
              <a:rPr lang="fr-FR" dirty="0" smtClean="0"/>
              <a:t>Nos classes disposent de différentes méthodes, notamment </a:t>
            </a:r>
            <a:r>
              <a:rPr lang="fr-FR" dirty="0" err="1" smtClean="0"/>
              <a:t>objects.all</a:t>
            </a:r>
            <a:r>
              <a:rPr lang="fr-FR" dirty="0" smtClean="0"/>
              <a:t>() </a:t>
            </a:r>
            <a:r>
              <a:rPr lang="fr-FR" dirty="0" err="1" smtClean="0"/>
              <a:t>premettant</a:t>
            </a:r>
            <a:r>
              <a:rPr lang="fr-FR" dirty="0" smtClean="0"/>
              <a:t> d’afficher tous les éléments présents dans notre table.</a:t>
            </a:r>
          </a:p>
          <a:p>
            <a:r>
              <a:rPr lang="fr-FR" dirty="0" smtClean="0"/>
              <a:t>On peut très bien faire des enregistrement dans notre base en créant un objet de la classe de notre table puis en utilisant la méthode </a:t>
            </a:r>
            <a:r>
              <a:rPr lang="fr-FR" dirty="0" err="1" smtClean="0"/>
              <a:t>save</a:t>
            </a:r>
            <a:r>
              <a:rPr lang="fr-FR" dirty="0" smtClean="0"/>
              <a:t>() sur notre objet pour l’enregistrer dans la base.</a:t>
            </a:r>
          </a:p>
          <a:p>
            <a:r>
              <a:rPr lang="fr-FR" dirty="0" smtClean="0"/>
              <a:t>Nous pouvons ensuite accéder aux champs de notre élément inséré en utilisant les attributs de notre objet. Nous pouvons également modifier les champs de notre enregistrement en modifiant ses attributs.</a:t>
            </a:r>
            <a:endParaRPr lang="fr-FR" dirty="0"/>
          </a:p>
        </p:txBody>
      </p:sp>
    </p:spTree>
    <p:extLst>
      <p:ext uri="{BB962C8B-B14F-4D97-AF65-F5344CB8AC3E}">
        <p14:creationId xmlns:p14="http://schemas.microsoft.com/office/powerpoint/2010/main" val="38684183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stretch>
            <a:fillRect/>
          </a:stretch>
        </p:blipFill>
        <p:spPr>
          <a:xfrm>
            <a:off x="443215" y="1682566"/>
            <a:ext cx="3848100" cy="495300"/>
          </a:xfrm>
          <a:prstGeom prst="rect">
            <a:avLst/>
          </a:prstGeom>
        </p:spPr>
      </p:pic>
      <p:sp>
        <p:nvSpPr>
          <p:cNvPr id="3" name="ZoneTexte 2"/>
          <p:cNvSpPr txBox="1"/>
          <p:nvPr/>
        </p:nvSpPr>
        <p:spPr>
          <a:xfrm>
            <a:off x="272374" y="1313234"/>
            <a:ext cx="11070077" cy="369332"/>
          </a:xfrm>
          <a:prstGeom prst="rect">
            <a:avLst/>
          </a:prstGeom>
          <a:noFill/>
        </p:spPr>
        <p:txBody>
          <a:bodyPr wrap="square" rtlCol="0">
            <a:spAutoFit/>
          </a:bodyPr>
          <a:lstStyle/>
          <a:p>
            <a:r>
              <a:rPr lang="fr-FR" dirty="0" smtClean="0"/>
              <a:t>Lorsque nous avons utilisé la méthode </a:t>
            </a:r>
            <a:r>
              <a:rPr lang="fr-FR" dirty="0" err="1" smtClean="0"/>
              <a:t>objects.all</a:t>
            </a:r>
            <a:r>
              <a:rPr lang="fr-FR" dirty="0" smtClean="0"/>
              <a:t>() sur notre objet créé l’affichage n’était pas parlant du tout</a:t>
            </a:r>
            <a:endParaRPr lang="fr-FR" dirty="0"/>
          </a:p>
        </p:txBody>
      </p:sp>
      <p:sp>
        <p:nvSpPr>
          <p:cNvPr id="20" name="ZoneTexte 19"/>
          <p:cNvSpPr txBox="1"/>
          <p:nvPr/>
        </p:nvSpPr>
        <p:spPr>
          <a:xfrm>
            <a:off x="305798" y="2263302"/>
            <a:ext cx="11070077" cy="646331"/>
          </a:xfrm>
          <a:prstGeom prst="rect">
            <a:avLst/>
          </a:prstGeom>
          <a:noFill/>
        </p:spPr>
        <p:txBody>
          <a:bodyPr wrap="square" rtlCol="0">
            <a:spAutoFit/>
          </a:bodyPr>
          <a:lstStyle/>
          <a:p>
            <a:r>
              <a:rPr lang="fr-FR" dirty="0" smtClean="0"/>
              <a:t>Pour bénéficier d’un affichage plus représentatif il faudra définir la super méthode __</a:t>
            </a:r>
            <a:r>
              <a:rPr lang="fr-FR" dirty="0" err="1" smtClean="0"/>
              <a:t>str</a:t>
            </a:r>
            <a:r>
              <a:rPr lang="fr-FR" dirty="0" smtClean="0"/>
              <a:t>__ de notre classe. Cela se passe du coup dans notre fichier </a:t>
            </a:r>
            <a:r>
              <a:rPr lang="fr-FR" i="1" dirty="0" smtClean="0"/>
              <a:t>sondage/models.py </a:t>
            </a:r>
            <a:endParaRPr lang="fr-FR" dirty="0"/>
          </a:p>
        </p:txBody>
      </p:sp>
      <p:pic>
        <p:nvPicPr>
          <p:cNvPr id="4" name="Image 3"/>
          <p:cNvPicPr>
            <a:picLocks noChangeAspect="1"/>
          </p:cNvPicPr>
          <p:nvPr/>
        </p:nvPicPr>
        <p:blipFill>
          <a:blip r:embed="rId15"/>
          <a:stretch>
            <a:fillRect/>
          </a:stretch>
        </p:blipFill>
        <p:spPr>
          <a:xfrm>
            <a:off x="433638" y="2995069"/>
            <a:ext cx="5181600" cy="1524000"/>
          </a:xfrm>
          <a:prstGeom prst="rect">
            <a:avLst/>
          </a:prstGeom>
        </p:spPr>
      </p:pic>
      <p:sp>
        <p:nvSpPr>
          <p:cNvPr id="24" name="ZoneTexte 23"/>
          <p:cNvSpPr txBox="1"/>
          <p:nvPr/>
        </p:nvSpPr>
        <p:spPr>
          <a:xfrm>
            <a:off x="305797" y="4607724"/>
            <a:ext cx="11070077" cy="369332"/>
          </a:xfrm>
          <a:prstGeom prst="rect">
            <a:avLst/>
          </a:prstGeom>
          <a:noFill/>
        </p:spPr>
        <p:txBody>
          <a:bodyPr wrap="square" rtlCol="0">
            <a:spAutoFit/>
          </a:bodyPr>
          <a:lstStyle/>
          <a:p>
            <a:r>
              <a:rPr lang="fr-FR" dirty="0" smtClean="0"/>
              <a:t>Maintenant, lorsqu’on utilisera la méthode </a:t>
            </a:r>
            <a:r>
              <a:rPr lang="fr-FR" dirty="0" err="1" smtClean="0"/>
              <a:t>objects.all</a:t>
            </a:r>
            <a:r>
              <a:rPr lang="fr-FR" dirty="0" smtClean="0"/>
              <a:t>() sur notre classe Question il affichera l’attribut </a:t>
            </a:r>
            <a:r>
              <a:rPr lang="fr-FR" dirty="0" err="1" smtClean="0"/>
              <a:t>question_text</a:t>
            </a:r>
            <a:endParaRPr lang="fr-FR" dirty="0"/>
          </a:p>
        </p:txBody>
      </p:sp>
      <p:pic>
        <p:nvPicPr>
          <p:cNvPr id="6" name="Image 5"/>
          <p:cNvPicPr>
            <a:picLocks noChangeAspect="1"/>
          </p:cNvPicPr>
          <p:nvPr/>
        </p:nvPicPr>
        <p:blipFill>
          <a:blip r:embed="rId16"/>
          <a:stretch>
            <a:fillRect/>
          </a:stretch>
        </p:blipFill>
        <p:spPr>
          <a:xfrm>
            <a:off x="433638" y="5093099"/>
            <a:ext cx="6105525" cy="495300"/>
          </a:xfrm>
          <a:prstGeom prst="rect">
            <a:avLst/>
          </a:prstGeom>
        </p:spPr>
      </p:pic>
      <p:sp>
        <p:nvSpPr>
          <p:cNvPr id="26" name="ZoneTexte 25"/>
          <p:cNvSpPr txBox="1"/>
          <p:nvPr/>
        </p:nvSpPr>
        <p:spPr>
          <a:xfrm>
            <a:off x="305796" y="5830596"/>
            <a:ext cx="11070077" cy="369332"/>
          </a:xfrm>
          <a:prstGeom prst="rect">
            <a:avLst/>
          </a:prstGeom>
          <a:noFill/>
        </p:spPr>
        <p:txBody>
          <a:bodyPr wrap="square" rtlCol="0">
            <a:spAutoFit/>
          </a:bodyPr>
          <a:lstStyle/>
          <a:p>
            <a:r>
              <a:rPr lang="fr-FR" dirty="0" smtClean="0"/>
              <a:t>Définissez la super méthode __</a:t>
            </a:r>
            <a:r>
              <a:rPr lang="fr-FR" dirty="0" err="1" smtClean="0"/>
              <a:t>str</a:t>
            </a:r>
            <a:r>
              <a:rPr lang="fr-FR" dirty="0" smtClean="0"/>
              <a:t>__ pour votre classe </a:t>
            </a:r>
            <a:r>
              <a:rPr lang="fr-FR" dirty="0" err="1" smtClean="0"/>
              <a:t>Choice</a:t>
            </a:r>
            <a:r>
              <a:rPr lang="fr-FR" dirty="0" smtClean="0"/>
              <a:t> et relancez votre </a:t>
            </a:r>
            <a:r>
              <a:rPr lang="fr-FR" dirty="0" err="1" smtClean="0"/>
              <a:t>shell</a:t>
            </a:r>
            <a:r>
              <a:rPr lang="fr-FR" dirty="0" smtClean="0"/>
              <a:t> afin de constater le changement.</a:t>
            </a:r>
            <a:endParaRPr lang="fr-FR" dirty="0"/>
          </a:p>
        </p:txBody>
      </p:sp>
    </p:spTree>
    <p:extLst>
      <p:ext uri="{BB962C8B-B14F-4D97-AF65-F5344CB8AC3E}">
        <p14:creationId xmlns:p14="http://schemas.microsoft.com/office/powerpoint/2010/main" val="36047213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272374" y="1313234"/>
            <a:ext cx="11070077" cy="923330"/>
          </a:xfrm>
          <a:prstGeom prst="rect">
            <a:avLst/>
          </a:prstGeom>
          <a:noFill/>
        </p:spPr>
        <p:txBody>
          <a:bodyPr wrap="square" rtlCol="0">
            <a:spAutoFit/>
          </a:bodyPr>
          <a:lstStyle/>
          <a:p>
            <a:r>
              <a:rPr lang="fr-FR" dirty="0" smtClean="0"/>
              <a:t>Il nous est aussi possible de définir des méthode dans nos classes afin de les utiliser dans notre </a:t>
            </a:r>
            <a:r>
              <a:rPr lang="fr-FR" dirty="0" err="1" smtClean="0"/>
              <a:t>shell</a:t>
            </a:r>
            <a:r>
              <a:rPr lang="fr-FR" dirty="0" smtClean="0"/>
              <a:t>, et plus tard dans notre projet web. Rajoutons donc une méthode à notre classe Question permettant de vérifier si une question a été publié récemment:</a:t>
            </a:r>
            <a:endParaRPr lang="fr-FR" dirty="0"/>
          </a:p>
        </p:txBody>
      </p:sp>
      <p:pic>
        <p:nvPicPr>
          <p:cNvPr id="2" name="Image 1"/>
          <p:cNvPicPr>
            <a:picLocks noChangeAspect="1"/>
          </p:cNvPicPr>
          <p:nvPr/>
        </p:nvPicPr>
        <p:blipFill>
          <a:blip r:embed="rId14"/>
          <a:stretch>
            <a:fillRect/>
          </a:stretch>
        </p:blipFill>
        <p:spPr>
          <a:xfrm>
            <a:off x="371559" y="2244614"/>
            <a:ext cx="6524625" cy="695325"/>
          </a:xfrm>
          <a:prstGeom prst="rect">
            <a:avLst/>
          </a:prstGeom>
        </p:spPr>
      </p:pic>
      <p:sp>
        <p:nvSpPr>
          <p:cNvPr id="20" name="ZoneTexte 19"/>
          <p:cNvSpPr txBox="1"/>
          <p:nvPr/>
        </p:nvSpPr>
        <p:spPr>
          <a:xfrm>
            <a:off x="286441" y="2999425"/>
            <a:ext cx="11070077" cy="369332"/>
          </a:xfrm>
          <a:prstGeom prst="rect">
            <a:avLst/>
          </a:prstGeom>
          <a:noFill/>
        </p:spPr>
        <p:txBody>
          <a:bodyPr wrap="square" rtlCol="0">
            <a:spAutoFit/>
          </a:bodyPr>
          <a:lstStyle/>
          <a:p>
            <a:r>
              <a:rPr lang="fr-FR" dirty="0" smtClean="0"/>
              <a:t>Il faudra bien sûr importer </a:t>
            </a:r>
            <a:r>
              <a:rPr lang="fr-FR" dirty="0" err="1" smtClean="0"/>
              <a:t>datetime</a:t>
            </a:r>
            <a:r>
              <a:rPr lang="fr-FR" dirty="0" smtClean="0"/>
              <a:t> et </a:t>
            </a:r>
            <a:r>
              <a:rPr lang="fr-FR" dirty="0" err="1" smtClean="0"/>
              <a:t>timezone</a:t>
            </a:r>
            <a:r>
              <a:rPr lang="fr-FR" dirty="0" smtClean="0"/>
              <a:t> pour faire fonctionner ces méthode</a:t>
            </a:r>
            <a:endParaRPr lang="fr-FR" dirty="0"/>
          </a:p>
        </p:txBody>
      </p:sp>
      <p:pic>
        <p:nvPicPr>
          <p:cNvPr id="3" name="Image 2"/>
          <p:cNvPicPr>
            <a:picLocks noChangeAspect="1"/>
          </p:cNvPicPr>
          <p:nvPr/>
        </p:nvPicPr>
        <p:blipFill>
          <a:blip r:embed="rId15"/>
          <a:stretch>
            <a:fillRect/>
          </a:stretch>
        </p:blipFill>
        <p:spPr>
          <a:xfrm>
            <a:off x="339413" y="3431337"/>
            <a:ext cx="3133725" cy="542925"/>
          </a:xfrm>
          <a:prstGeom prst="rect">
            <a:avLst/>
          </a:prstGeom>
        </p:spPr>
      </p:pic>
      <p:sp>
        <p:nvSpPr>
          <p:cNvPr id="24" name="ZoneTexte 23"/>
          <p:cNvSpPr txBox="1"/>
          <p:nvPr/>
        </p:nvSpPr>
        <p:spPr>
          <a:xfrm>
            <a:off x="272373" y="4317604"/>
            <a:ext cx="11070077" cy="646331"/>
          </a:xfrm>
          <a:prstGeom prst="rect">
            <a:avLst/>
          </a:prstGeom>
          <a:noFill/>
        </p:spPr>
        <p:txBody>
          <a:bodyPr wrap="square" rtlCol="0">
            <a:spAutoFit/>
          </a:bodyPr>
          <a:lstStyle/>
          <a:p>
            <a:r>
              <a:rPr lang="fr-FR" dirty="0" smtClean="0"/>
              <a:t>Cette méthode return donc </a:t>
            </a:r>
            <a:r>
              <a:rPr lang="fr-FR" dirty="0" err="1" smtClean="0"/>
              <a:t>True</a:t>
            </a:r>
            <a:r>
              <a:rPr lang="fr-FR" dirty="0" smtClean="0"/>
              <a:t> si la valeur l’attribut </a:t>
            </a:r>
            <a:r>
              <a:rPr lang="fr-FR" dirty="0" err="1" smtClean="0"/>
              <a:t>pub_date</a:t>
            </a:r>
            <a:r>
              <a:rPr lang="fr-FR" dirty="0" smtClean="0"/>
              <a:t> de notre objet est supérieur ou égal à la date du jours -1 jour (donc hier)</a:t>
            </a:r>
            <a:endParaRPr lang="fr-FR" dirty="0"/>
          </a:p>
        </p:txBody>
      </p:sp>
    </p:spTree>
    <p:extLst>
      <p:ext uri="{BB962C8B-B14F-4D97-AF65-F5344CB8AC3E}">
        <p14:creationId xmlns:p14="http://schemas.microsoft.com/office/powerpoint/2010/main" val="40138758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stretch>
            <a:fillRect/>
          </a:stretch>
        </p:blipFill>
        <p:spPr>
          <a:xfrm>
            <a:off x="286441" y="2244614"/>
            <a:ext cx="6096000" cy="1028700"/>
          </a:xfrm>
          <a:prstGeom prst="rect">
            <a:avLst/>
          </a:prstGeom>
        </p:spPr>
      </p:pic>
      <p:sp>
        <p:nvSpPr>
          <p:cNvPr id="19" name="ZoneTexte 18"/>
          <p:cNvSpPr txBox="1"/>
          <p:nvPr/>
        </p:nvSpPr>
        <p:spPr>
          <a:xfrm>
            <a:off x="272374" y="1313234"/>
            <a:ext cx="11070077" cy="923330"/>
          </a:xfrm>
          <a:prstGeom prst="rect">
            <a:avLst/>
          </a:prstGeom>
          <a:noFill/>
        </p:spPr>
        <p:txBody>
          <a:bodyPr wrap="square" rtlCol="0">
            <a:spAutoFit/>
          </a:bodyPr>
          <a:lstStyle/>
          <a:p>
            <a:r>
              <a:rPr lang="fr-FR" dirty="0" smtClean="0"/>
              <a:t>Continuons de tester nos modèles avec le </a:t>
            </a:r>
            <a:r>
              <a:rPr lang="fr-FR" dirty="0" err="1" smtClean="0"/>
              <a:t>shell</a:t>
            </a:r>
            <a:r>
              <a:rPr lang="fr-FR" dirty="0" smtClean="0"/>
              <a:t> du script </a:t>
            </a:r>
            <a:r>
              <a:rPr lang="fr-FR" i="1" dirty="0" smtClean="0"/>
              <a:t>manage.py</a:t>
            </a:r>
            <a:r>
              <a:rPr lang="fr-FR" dirty="0" smtClean="0"/>
              <a:t>. Il est possible d’appliquer un filtre de recherche pour </a:t>
            </a:r>
            <a:r>
              <a:rPr lang="fr-FR" dirty="0" err="1" smtClean="0"/>
              <a:t>intérroger</a:t>
            </a:r>
            <a:r>
              <a:rPr lang="fr-FR" dirty="0" smtClean="0"/>
              <a:t> notre base. Ce filtre peut prendre comme paramètre la clé primaire (</a:t>
            </a:r>
            <a:r>
              <a:rPr lang="fr-FR" i="1" dirty="0" smtClean="0"/>
              <a:t>pk=</a:t>
            </a:r>
            <a:r>
              <a:rPr lang="fr-FR" dirty="0" smtClean="0"/>
              <a:t>), recherche de chaine de caractères dans un champ (</a:t>
            </a:r>
            <a:r>
              <a:rPr lang="fr-FR" i="1" dirty="0" smtClean="0"/>
              <a:t>champ__</a:t>
            </a:r>
            <a:r>
              <a:rPr lang="fr-FR" i="1" dirty="0" err="1" smtClean="0"/>
              <a:t>startswith</a:t>
            </a:r>
            <a:r>
              <a:rPr lang="fr-FR" i="1" dirty="0" smtClean="0"/>
              <a:t>=</a:t>
            </a:r>
            <a:r>
              <a:rPr lang="fr-FR" dirty="0" smtClean="0"/>
              <a:t>) ou encore une correspondance de dates.</a:t>
            </a:r>
            <a:endParaRPr lang="fr-FR" dirty="0"/>
          </a:p>
        </p:txBody>
      </p:sp>
      <p:pic>
        <p:nvPicPr>
          <p:cNvPr id="3" name="Image 2"/>
          <p:cNvPicPr>
            <a:picLocks noChangeAspect="1"/>
          </p:cNvPicPr>
          <p:nvPr/>
        </p:nvPicPr>
        <p:blipFill>
          <a:blip r:embed="rId15"/>
          <a:stretch>
            <a:fillRect/>
          </a:stretch>
        </p:blipFill>
        <p:spPr>
          <a:xfrm>
            <a:off x="272374" y="3390236"/>
            <a:ext cx="6162675" cy="762000"/>
          </a:xfrm>
          <a:prstGeom prst="rect">
            <a:avLst/>
          </a:prstGeom>
        </p:spPr>
      </p:pic>
      <p:pic>
        <p:nvPicPr>
          <p:cNvPr id="4" name="Image 3"/>
          <p:cNvPicPr>
            <a:picLocks noChangeAspect="1"/>
          </p:cNvPicPr>
          <p:nvPr/>
        </p:nvPicPr>
        <p:blipFill>
          <a:blip r:embed="rId16"/>
          <a:stretch>
            <a:fillRect/>
          </a:stretch>
        </p:blipFill>
        <p:spPr>
          <a:xfrm>
            <a:off x="263109" y="4755412"/>
            <a:ext cx="4953000" cy="1028700"/>
          </a:xfrm>
          <a:prstGeom prst="rect">
            <a:avLst/>
          </a:prstGeom>
        </p:spPr>
      </p:pic>
      <p:sp>
        <p:nvSpPr>
          <p:cNvPr id="24" name="ZoneTexte 23"/>
          <p:cNvSpPr txBox="1"/>
          <p:nvPr/>
        </p:nvSpPr>
        <p:spPr>
          <a:xfrm>
            <a:off x="272373" y="4269158"/>
            <a:ext cx="11070077" cy="369332"/>
          </a:xfrm>
          <a:prstGeom prst="rect">
            <a:avLst/>
          </a:prstGeom>
          <a:noFill/>
        </p:spPr>
        <p:txBody>
          <a:bodyPr wrap="square" rtlCol="0">
            <a:spAutoFit/>
          </a:bodyPr>
          <a:lstStyle/>
          <a:p>
            <a:r>
              <a:rPr lang="fr-FR" dirty="0" smtClean="0"/>
              <a:t>Le même genre de recherche peut s’</a:t>
            </a:r>
            <a:r>
              <a:rPr lang="fr-FR" dirty="0"/>
              <a:t>e</a:t>
            </a:r>
            <a:r>
              <a:rPr lang="fr-FR" dirty="0" smtClean="0"/>
              <a:t>ffectuer sur un </a:t>
            </a:r>
            <a:r>
              <a:rPr lang="fr-FR" dirty="0" err="1" smtClean="0"/>
              <a:t>get</a:t>
            </a:r>
            <a:r>
              <a:rPr lang="fr-FR" dirty="0" smtClean="0"/>
              <a:t>, le type d’objets retourné n’est cependant pas le même.</a:t>
            </a:r>
            <a:endParaRPr lang="fr-FR" dirty="0"/>
          </a:p>
        </p:txBody>
      </p:sp>
    </p:spTree>
    <p:extLst>
      <p:ext uri="{BB962C8B-B14F-4D97-AF65-F5344CB8AC3E}">
        <p14:creationId xmlns:p14="http://schemas.microsoft.com/office/powerpoint/2010/main" val="20751360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272374" y="1313234"/>
            <a:ext cx="11070077" cy="1200329"/>
          </a:xfrm>
          <a:prstGeom prst="rect">
            <a:avLst/>
          </a:prstGeom>
          <a:noFill/>
        </p:spPr>
        <p:txBody>
          <a:bodyPr wrap="square" rtlCol="0">
            <a:spAutoFit/>
          </a:bodyPr>
          <a:lstStyle/>
          <a:p>
            <a:r>
              <a:rPr lang="fr-FR" dirty="0" smtClean="0"/>
              <a:t>La différence entre le </a:t>
            </a:r>
            <a:r>
              <a:rPr lang="fr-FR" i="1" dirty="0" err="1" smtClean="0"/>
              <a:t>get</a:t>
            </a:r>
            <a:r>
              <a:rPr lang="fr-FR" i="1" dirty="0" smtClean="0"/>
              <a:t> </a:t>
            </a:r>
            <a:r>
              <a:rPr lang="fr-FR" dirty="0" smtClean="0"/>
              <a:t>et le </a:t>
            </a:r>
            <a:r>
              <a:rPr lang="fr-FR" i="1" dirty="0" err="1" smtClean="0"/>
              <a:t>filter</a:t>
            </a:r>
            <a:r>
              <a:rPr lang="fr-FR" i="1" dirty="0" smtClean="0"/>
              <a:t> </a:t>
            </a:r>
            <a:r>
              <a:rPr lang="fr-FR" dirty="0" smtClean="0"/>
              <a:t>est que le </a:t>
            </a:r>
            <a:r>
              <a:rPr lang="fr-FR" i="1" dirty="0" err="1" smtClean="0"/>
              <a:t>get</a:t>
            </a:r>
            <a:r>
              <a:rPr lang="fr-FR" i="1" dirty="0" smtClean="0"/>
              <a:t> </a:t>
            </a:r>
            <a:r>
              <a:rPr lang="fr-FR" dirty="0" smtClean="0"/>
              <a:t>nous retourne un objet unique correspondant au critères de recherche alors que le </a:t>
            </a:r>
            <a:r>
              <a:rPr lang="fr-FR" i="1" dirty="0" err="1" smtClean="0"/>
              <a:t>filter</a:t>
            </a:r>
            <a:r>
              <a:rPr lang="fr-FR" i="1" dirty="0" smtClean="0"/>
              <a:t> </a:t>
            </a:r>
            <a:r>
              <a:rPr lang="fr-FR" dirty="0" smtClean="0"/>
              <a:t>nous retourne un objet de type </a:t>
            </a:r>
            <a:r>
              <a:rPr lang="fr-FR" i="1" dirty="0" err="1" smtClean="0"/>
              <a:t>QuesrySet</a:t>
            </a:r>
            <a:r>
              <a:rPr lang="fr-FR" dirty="0" smtClean="0"/>
              <a:t> comprenant des objets correspondant aux critères. Cette différence change ce que nous pourrons faire avec et la manière de les manipuler. Déclarons une nouvelle question pour pouvoir tester le fonctionnement :</a:t>
            </a:r>
            <a:endParaRPr lang="fr-FR" dirty="0"/>
          </a:p>
        </p:txBody>
      </p:sp>
      <p:pic>
        <p:nvPicPr>
          <p:cNvPr id="2" name="Image 1"/>
          <p:cNvPicPr>
            <a:picLocks noChangeAspect="1"/>
          </p:cNvPicPr>
          <p:nvPr/>
        </p:nvPicPr>
        <p:blipFill>
          <a:blip r:embed="rId14"/>
          <a:stretch>
            <a:fillRect/>
          </a:stretch>
        </p:blipFill>
        <p:spPr>
          <a:xfrm>
            <a:off x="377656" y="2639823"/>
            <a:ext cx="7000875" cy="257175"/>
          </a:xfrm>
          <a:prstGeom prst="rect">
            <a:avLst/>
          </a:prstGeom>
        </p:spPr>
      </p:pic>
      <p:pic>
        <p:nvPicPr>
          <p:cNvPr id="3" name="Image 2"/>
          <p:cNvPicPr>
            <a:picLocks noChangeAspect="1"/>
          </p:cNvPicPr>
          <p:nvPr/>
        </p:nvPicPr>
        <p:blipFill>
          <a:blip r:embed="rId15"/>
          <a:stretch>
            <a:fillRect/>
          </a:stretch>
        </p:blipFill>
        <p:spPr>
          <a:xfrm>
            <a:off x="377656" y="2899433"/>
            <a:ext cx="1162050" cy="247650"/>
          </a:xfrm>
          <a:prstGeom prst="rect">
            <a:avLst/>
          </a:prstGeom>
        </p:spPr>
      </p:pic>
      <p:sp>
        <p:nvSpPr>
          <p:cNvPr id="21" name="ZoneTexte 20"/>
          <p:cNvSpPr txBox="1"/>
          <p:nvPr/>
        </p:nvSpPr>
        <p:spPr>
          <a:xfrm>
            <a:off x="272374" y="3157214"/>
            <a:ext cx="11070077" cy="646331"/>
          </a:xfrm>
          <a:prstGeom prst="rect">
            <a:avLst/>
          </a:prstGeom>
          <a:noFill/>
        </p:spPr>
        <p:txBody>
          <a:bodyPr wrap="square" rtlCol="0">
            <a:spAutoFit/>
          </a:bodyPr>
          <a:lstStyle/>
          <a:p>
            <a:r>
              <a:rPr lang="fr-FR" dirty="0" smtClean="0"/>
              <a:t>Tentons maintenant d’appliquer notre filtre de recherche basé sur la présence d’une chaine de caractères au début de notre attribut </a:t>
            </a:r>
            <a:r>
              <a:rPr lang="fr-FR" i="1" dirty="0" err="1" smtClean="0"/>
              <a:t>question_text</a:t>
            </a:r>
            <a:r>
              <a:rPr lang="fr-FR" dirty="0" smtClean="0"/>
              <a:t> avec un </a:t>
            </a:r>
            <a:r>
              <a:rPr lang="fr-FR" dirty="0" err="1" smtClean="0"/>
              <a:t>filter</a:t>
            </a:r>
            <a:r>
              <a:rPr lang="fr-FR" dirty="0" smtClean="0"/>
              <a:t> puis avec un </a:t>
            </a:r>
            <a:r>
              <a:rPr lang="fr-FR" dirty="0" err="1" smtClean="0"/>
              <a:t>get</a:t>
            </a:r>
            <a:r>
              <a:rPr lang="fr-FR" dirty="0" smtClean="0"/>
              <a:t> :</a:t>
            </a:r>
            <a:endParaRPr lang="fr-FR" dirty="0"/>
          </a:p>
        </p:txBody>
      </p:sp>
      <p:pic>
        <p:nvPicPr>
          <p:cNvPr id="5" name="Image 4"/>
          <p:cNvPicPr>
            <a:picLocks noChangeAspect="1"/>
          </p:cNvPicPr>
          <p:nvPr/>
        </p:nvPicPr>
        <p:blipFill>
          <a:blip r:embed="rId16"/>
          <a:stretch>
            <a:fillRect/>
          </a:stretch>
        </p:blipFill>
        <p:spPr>
          <a:xfrm>
            <a:off x="377656" y="3840780"/>
            <a:ext cx="9324975" cy="1981200"/>
          </a:xfrm>
          <a:prstGeom prst="rect">
            <a:avLst/>
          </a:prstGeom>
        </p:spPr>
      </p:pic>
      <p:sp>
        <p:nvSpPr>
          <p:cNvPr id="25" name="ZoneTexte 24"/>
          <p:cNvSpPr txBox="1"/>
          <p:nvPr/>
        </p:nvSpPr>
        <p:spPr>
          <a:xfrm>
            <a:off x="286441" y="5823100"/>
            <a:ext cx="11070077" cy="646331"/>
          </a:xfrm>
          <a:prstGeom prst="rect">
            <a:avLst/>
          </a:prstGeom>
          <a:noFill/>
        </p:spPr>
        <p:txBody>
          <a:bodyPr wrap="square" rtlCol="0">
            <a:spAutoFit/>
          </a:bodyPr>
          <a:lstStyle/>
          <a:p>
            <a:r>
              <a:rPr lang="fr-FR" dirty="0" smtClean="0"/>
              <a:t>La </a:t>
            </a:r>
            <a:r>
              <a:rPr lang="fr-FR" dirty="0" err="1" smtClean="0"/>
              <a:t>requète</a:t>
            </a:r>
            <a:r>
              <a:rPr lang="fr-FR" dirty="0" smtClean="0"/>
              <a:t> se passe correctement, il nous retourne bien un objet </a:t>
            </a:r>
            <a:r>
              <a:rPr lang="fr-FR" i="1" dirty="0" err="1" smtClean="0"/>
              <a:t>QuerySet</a:t>
            </a:r>
            <a:r>
              <a:rPr lang="fr-FR" i="1" dirty="0" smtClean="0"/>
              <a:t> </a:t>
            </a:r>
            <a:r>
              <a:rPr lang="fr-FR" dirty="0" smtClean="0"/>
              <a:t>comprenant les question correspondantes dans lequel on peut itérer</a:t>
            </a:r>
            <a:endParaRPr lang="fr-FR" i="1" dirty="0"/>
          </a:p>
        </p:txBody>
      </p:sp>
    </p:spTree>
    <p:extLst>
      <p:ext uri="{BB962C8B-B14F-4D97-AF65-F5344CB8AC3E}">
        <p14:creationId xmlns:p14="http://schemas.microsoft.com/office/powerpoint/2010/main" val="3963491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272374" y="1313234"/>
            <a:ext cx="11070077" cy="369332"/>
          </a:xfrm>
          <a:prstGeom prst="rect">
            <a:avLst/>
          </a:prstGeom>
          <a:noFill/>
        </p:spPr>
        <p:txBody>
          <a:bodyPr wrap="square" rtlCol="0">
            <a:spAutoFit/>
          </a:bodyPr>
          <a:lstStyle/>
          <a:p>
            <a:r>
              <a:rPr lang="fr-FR" dirty="0" smtClean="0"/>
              <a:t>Faisons la même chose avec la fonction </a:t>
            </a:r>
            <a:r>
              <a:rPr lang="fr-FR" i="1" dirty="0" err="1" smtClean="0"/>
              <a:t>get</a:t>
            </a:r>
            <a:r>
              <a:rPr lang="fr-FR" i="1" dirty="0" smtClean="0"/>
              <a:t> :</a:t>
            </a:r>
            <a:endParaRPr lang="fr-FR" dirty="0"/>
          </a:p>
        </p:txBody>
      </p:sp>
      <p:pic>
        <p:nvPicPr>
          <p:cNvPr id="2" name="Image 1"/>
          <p:cNvPicPr>
            <a:picLocks noChangeAspect="1"/>
          </p:cNvPicPr>
          <p:nvPr/>
        </p:nvPicPr>
        <p:blipFill>
          <a:blip r:embed="rId14"/>
          <a:stretch>
            <a:fillRect/>
          </a:stretch>
        </p:blipFill>
        <p:spPr>
          <a:xfrm>
            <a:off x="286441" y="1690616"/>
            <a:ext cx="9477375" cy="2543175"/>
          </a:xfrm>
          <a:prstGeom prst="rect">
            <a:avLst/>
          </a:prstGeom>
        </p:spPr>
      </p:pic>
      <p:sp>
        <p:nvSpPr>
          <p:cNvPr id="20" name="ZoneTexte 19"/>
          <p:cNvSpPr txBox="1"/>
          <p:nvPr/>
        </p:nvSpPr>
        <p:spPr>
          <a:xfrm>
            <a:off x="272373" y="4335294"/>
            <a:ext cx="11070077" cy="646331"/>
          </a:xfrm>
          <a:prstGeom prst="rect">
            <a:avLst/>
          </a:prstGeom>
          <a:noFill/>
        </p:spPr>
        <p:txBody>
          <a:bodyPr wrap="square" rtlCol="0">
            <a:spAutoFit/>
          </a:bodyPr>
          <a:lstStyle/>
          <a:p>
            <a:r>
              <a:rPr lang="fr-FR" dirty="0" smtClean="0"/>
              <a:t>On constate que la fonction</a:t>
            </a:r>
            <a:r>
              <a:rPr lang="fr-FR" i="1" dirty="0" smtClean="0"/>
              <a:t> </a:t>
            </a:r>
            <a:r>
              <a:rPr lang="fr-FR" i="1" dirty="0" err="1" smtClean="0"/>
              <a:t>get</a:t>
            </a:r>
            <a:r>
              <a:rPr lang="fr-FR" dirty="0" smtClean="0"/>
              <a:t> nous retourne une erreur car plusieurs objets correspondent à la recherche. Nous pouvons cependant utiliser notre méthode </a:t>
            </a:r>
            <a:r>
              <a:rPr lang="fr-FR" i="1" dirty="0" err="1" smtClean="0"/>
              <a:t>was_published_recently</a:t>
            </a:r>
            <a:r>
              <a:rPr lang="fr-FR" i="1" dirty="0" smtClean="0"/>
              <a:t>()</a:t>
            </a:r>
            <a:r>
              <a:rPr lang="fr-FR" dirty="0" smtClean="0"/>
              <a:t> </a:t>
            </a:r>
            <a:r>
              <a:rPr lang="fr-FR" dirty="0" smtClean="0"/>
              <a:t>lorsque </a:t>
            </a:r>
            <a:r>
              <a:rPr lang="fr-FR" i="1" dirty="0" err="1" smtClean="0"/>
              <a:t>get</a:t>
            </a:r>
            <a:r>
              <a:rPr lang="fr-FR" dirty="0" smtClean="0"/>
              <a:t> nous retourne bien un </a:t>
            </a:r>
            <a:r>
              <a:rPr lang="fr-FR" dirty="0" smtClean="0"/>
              <a:t>seul objet </a:t>
            </a:r>
            <a:r>
              <a:rPr lang="fr-FR" dirty="0" smtClean="0"/>
              <a:t>:</a:t>
            </a:r>
            <a:endParaRPr lang="fr-FR" dirty="0"/>
          </a:p>
        </p:txBody>
      </p:sp>
      <p:pic>
        <p:nvPicPr>
          <p:cNvPr id="3" name="Image 2"/>
          <p:cNvPicPr>
            <a:picLocks noChangeAspect="1"/>
          </p:cNvPicPr>
          <p:nvPr/>
        </p:nvPicPr>
        <p:blipFill>
          <a:blip r:embed="rId15"/>
          <a:stretch>
            <a:fillRect/>
          </a:stretch>
        </p:blipFill>
        <p:spPr>
          <a:xfrm>
            <a:off x="286441" y="5083128"/>
            <a:ext cx="5295900" cy="781050"/>
          </a:xfrm>
          <a:prstGeom prst="rect">
            <a:avLst/>
          </a:prstGeom>
        </p:spPr>
      </p:pic>
    </p:spTree>
    <p:extLst>
      <p:ext uri="{BB962C8B-B14F-4D97-AF65-F5344CB8AC3E}">
        <p14:creationId xmlns:p14="http://schemas.microsoft.com/office/powerpoint/2010/main" val="294022420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272374" y="1313234"/>
            <a:ext cx="11070077" cy="369332"/>
          </a:xfrm>
          <a:prstGeom prst="rect">
            <a:avLst/>
          </a:prstGeom>
          <a:noFill/>
        </p:spPr>
        <p:txBody>
          <a:bodyPr wrap="square" rtlCol="0">
            <a:spAutoFit/>
          </a:bodyPr>
          <a:lstStyle/>
          <a:p>
            <a:r>
              <a:rPr lang="fr-FR" dirty="0" smtClean="0"/>
              <a:t>Nous pouvons aussi nous servir de la relation clef étrangère pour manipuler nos tables :</a:t>
            </a:r>
            <a:endParaRPr lang="fr-FR" dirty="0"/>
          </a:p>
        </p:txBody>
      </p:sp>
      <p:pic>
        <p:nvPicPr>
          <p:cNvPr id="2" name="Image 1"/>
          <p:cNvPicPr>
            <a:picLocks noChangeAspect="1"/>
          </p:cNvPicPr>
          <p:nvPr/>
        </p:nvPicPr>
        <p:blipFill>
          <a:blip r:embed="rId14"/>
          <a:stretch>
            <a:fillRect/>
          </a:stretch>
        </p:blipFill>
        <p:spPr>
          <a:xfrm>
            <a:off x="344080" y="1809724"/>
            <a:ext cx="5086350" cy="1285875"/>
          </a:xfrm>
          <a:prstGeom prst="rect">
            <a:avLst/>
          </a:prstGeom>
        </p:spPr>
      </p:pic>
      <p:pic>
        <p:nvPicPr>
          <p:cNvPr id="3" name="Image 2"/>
          <p:cNvPicPr>
            <a:picLocks noChangeAspect="1"/>
          </p:cNvPicPr>
          <p:nvPr/>
        </p:nvPicPr>
        <p:blipFill>
          <a:blip r:embed="rId15"/>
          <a:stretch>
            <a:fillRect/>
          </a:stretch>
        </p:blipFill>
        <p:spPr>
          <a:xfrm>
            <a:off x="5807412" y="1809724"/>
            <a:ext cx="5324475" cy="990600"/>
          </a:xfrm>
          <a:prstGeom prst="rect">
            <a:avLst/>
          </a:prstGeom>
        </p:spPr>
      </p:pic>
      <p:sp>
        <p:nvSpPr>
          <p:cNvPr id="21" name="ZoneTexte 20"/>
          <p:cNvSpPr txBox="1"/>
          <p:nvPr/>
        </p:nvSpPr>
        <p:spPr>
          <a:xfrm>
            <a:off x="344080" y="3220409"/>
            <a:ext cx="11070077" cy="369332"/>
          </a:xfrm>
          <a:prstGeom prst="rect">
            <a:avLst/>
          </a:prstGeom>
          <a:noFill/>
        </p:spPr>
        <p:txBody>
          <a:bodyPr wrap="square" rtlCol="0">
            <a:spAutoFit/>
          </a:bodyPr>
          <a:lstStyle/>
          <a:p>
            <a:r>
              <a:rPr lang="fr-FR" dirty="0" smtClean="0"/>
              <a:t>Nous pouvons du coup également manipuler notre set de clef étrangères de la même manière que nos objets :</a:t>
            </a:r>
            <a:endParaRPr lang="fr-FR" dirty="0"/>
          </a:p>
        </p:txBody>
      </p:sp>
      <p:pic>
        <p:nvPicPr>
          <p:cNvPr id="4" name="Image 3"/>
          <p:cNvPicPr>
            <a:picLocks noChangeAspect="1"/>
          </p:cNvPicPr>
          <p:nvPr/>
        </p:nvPicPr>
        <p:blipFill>
          <a:blip r:embed="rId16"/>
          <a:stretch>
            <a:fillRect/>
          </a:stretch>
        </p:blipFill>
        <p:spPr>
          <a:xfrm>
            <a:off x="385246" y="3714551"/>
            <a:ext cx="5600700" cy="1000125"/>
          </a:xfrm>
          <a:prstGeom prst="rect">
            <a:avLst/>
          </a:prstGeom>
        </p:spPr>
      </p:pic>
      <p:pic>
        <p:nvPicPr>
          <p:cNvPr id="5" name="Image 4"/>
          <p:cNvPicPr>
            <a:picLocks noChangeAspect="1"/>
          </p:cNvPicPr>
          <p:nvPr/>
        </p:nvPicPr>
        <p:blipFill>
          <a:blip r:embed="rId17"/>
          <a:stretch>
            <a:fillRect/>
          </a:stretch>
        </p:blipFill>
        <p:spPr>
          <a:xfrm>
            <a:off x="385246" y="4714676"/>
            <a:ext cx="4505325" cy="485775"/>
          </a:xfrm>
          <a:prstGeom prst="rect">
            <a:avLst/>
          </a:prstGeom>
        </p:spPr>
      </p:pic>
      <p:pic>
        <p:nvPicPr>
          <p:cNvPr id="6" name="Image 5"/>
          <p:cNvPicPr>
            <a:picLocks noChangeAspect="1"/>
          </p:cNvPicPr>
          <p:nvPr/>
        </p:nvPicPr>
        <p:blipFill>
          <a:blip r:embed="rId18"/>
          <a:stretch>
            <a:fillRect/>
          </a:stretch>
        </p:blipFill>
        <p:spPr>
          <a:xfrm>
            <a:off x="6169152" y="3703397"/>
            <a:ext cx="4819650" cy="1247775"/>
          </a:xfrm>
          <a:prstGeom prst="rect">
            <a:avLst/>
          </a:prstGeom>
        </p:spPr>
      </p:pic>
    </p:spTree>
    <p:extLst>
      <p:ext uri="{BB962C8B-B14F-4D97-AF65-F5344CB8AC3E}">
        <p14:creationId xmlns:p14="http://schemas.microsoft.com/office/powerpoint/2010/main" val="40132320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272374" y="1313234"/>
            <a:ext cx="11070077" cy="1200329"/>
          </a:xfrm>
          <a:prstGeom prst="rect">
            <a:avLst/>
          </a:prstGeom>
          <a:noFill/>
        </p:spPr>
        <p:txBody>
          <a:bodyPr wrap="square" rtlCol="0">
            <a:spAutoFit/>
          </a:bodyPr>
          <a:lstStyle/>
          <a:p>
            <a:r>
              <a:rPr lang="fr-FR" dirty="0" smtClean="0"/>
              <a:t>Nous avons également la possibilité d’utiliser la page d’administration généré par </a:t>
            </a:r>
            <a:r>
              <a:rPr lang="fr-FR" dirty="0" err="1" smtClean="0"/>
              <a:t>django</a:t>
            </a:r>
            <a:r>
              <a:rPr lang="fr-FR" dirty="0" smtClean="0"/>
              <a:t> pour manipuler notre BDD.</a:t>
            </a:r>
          </a:p>
          <a:p>
            <a:r>
              <a:rPr lang="fr-FR" dirty="0" smtClean="0"/>
              <a:t>Cette page est présente par défaut (vous l’avez peut-être vue dans la liste INSTALLED_APPS du fichier </a:t>
            </a:r>
            <a:r>
              <a:rPr lang="fr-FR" i="1" dirty="0" smtClean="0"/>
              <a:t>settings.py</a:t>
            </a:r>
            <a:r>
              <a:rPr lang="fr-FR" dirty="0" smtClean="0"/>
              <a:t>) mais pour pouvoir l’utiliser il faut tout d’abord créer un utilisateur administrateur. Cela se fait encore une fois grâce au script </a:t>
            </a:r>
            <a:r>
              <a:rPr lang="fr-FR" i="1" dirty="0" smtClean="0"/>
              <a:t>manage.py</a:t>
            </a:r>
            <a:r>
              <a:rPr lang="fr-FR" dirty="0" smtClean="0"/>
              <a:t> avec l’option </a:t>
            </a:r>
            <a:r>
              <a:rPr lang="fr-FR" i="1" dirty="0" err="1" smtClean="0"/>
              <a:t>createsuperuser</a:t>
            </a:r>
            <a:r>
              <a:rPr lang="fr-FR" dirty="0" smtClean="0"/>
              <a:t> :</a:t>
            </a:r>
            <a:endParaRPr lang="fr-FR" dirty="0"/>
          </a:p>
        </p:txBody>
      </p:sp>
      <p:pic>
        <p:nvPicPr>
          <p:cNvPr id="2" name="Image 1"/>
          <p:cNvPicPr>
            <a:picLocks noChangeAspect="1"/>
          </p:cNvPicPr>
          <p:nvPr/>
        </p:nvPicPr>
        <p:blipFill>
          <a:blip r:embed="rId14"/>
          <a:stretch>
            <a:fillRect/>
          </a:stretch>
        </p:blipFill>
        <p:spPr>
          <a:xfrm>
            <a:off x="361240" y="2672712"/>
            <a:ext cx="8201025" cy="1485900"/>
          </a:xfrm>
          <a:prstGeom prst="rect">
            <a:avLst/>
          </a:prstGeom>
        </p:spPr>
      </p:pic>
      <p:sp>
        <p:nvSpPr>
          <p:cNvPr id="20" name="ZoneTexte 19"/>
          <p:cNvSpPr txBox="1"/>
          <p:nvPr/>
        </p:nvSpPr>
        <p:spPr>
          <a:xfrm>
            <a:off x="361240" y="4325094"/>
            <a:ext cx="11070077" cy="646331"/>
          </a:xfrm>
          <a:prstGeom prst="rect">
            <a:avLst/>
          </a:prstGeom>
          <a:noFill/>
        </p:spPr>
        <p:txBody>
          <a:bodyPr wrap="square" rtlCol="0">
            <a:spAutoFit/>
          </a:bodyPr>
          <a:lstStyle/>
          <a:p>
            <a:r>
              <a:rPr lang="fr-FR" dirty="0" smtClean="0"/>
              <a:t>Nous pouvons maintenant nous connecter à la page d’administration de notre projet (en oubliant pas de démarrer notre serveur au préalable)</a:t>
            </a:r>
            <a:endParaRPr lang="fr-FR" dirty="0"/>
          </a:p>
        </p:txBody>
      </p:sp>
      <p:pic>
        <p:nvPicPr>
          <p:cNvPr id="3" name="Image 2"/>
          <p:cNvPicPr>
            <a:picLocks noChangeAspect="1"/>
          </p:cNvPicPr>
          <p:nvPr/>
        </p:nvPicPr>
        <p:blipFill>
          <a:blip r:embed="rId15"/>
          <a:stretch>
            <a:fillRect/>
          </a:stretch>
        </p:blipFill>
        <p:spPr>
          <a:xfrm>
            <a:off x="361240" y="4979475"/>
            <a:ext cx="7934325" cy="285750"/>
          </a:xfrm>
          <a:prstGeom prst="rect">
            <a:avLst/>
          </a:prstGeom>
        </p:spPr>
      </p:pic>
      <p:sp>
        <p:nvSpPr>
          <p:cNvPr id="24" name="ZoneTexte 23"/>
          <p:cNvSpPr txBox="1"/>
          <p:nvPr/>
        </p:nvSpPr>
        <p:spPr>
          <a:xfrm>
            <a:off x="361239" y="5420284"/>
            <a:ext cx="11070077" cy="369332"/>
          </a:xfrm>
          <a:prstGeom prst="rect">
            <a:avLst/>
          </a:prstGeom>
          <a:noFill/>
        </p:spPr>
        <p:txBody>
          <a:bodyPr wrap="square" rtlCol="0">
            <a:spAutoFit/>
          </a:bodyPr>
          <a:lstStyle/>
          <a:p>
            <a:r>
              <a:rPr lang="fr-FR" dirty="0" smtClean="0"/>
              <a:t>Comme indiqué dans le fichier </a:t>
            </a:r>
            <a:r>
              <a:rPr lang="fr-FR" i="1" dirty="0" smtClean="0"/>
              <a:t>monsite/urls.py</a:t>
            </a:r>
            <a:r>
              <a:rPr lang="fr-FR" dirty="0" smtClean="0"/>
              <a:t> la page d’administration est accessible à l’url http://localhost/admin</a:t>
            </a:r>
          </a:p>
        </p:txBody>
      </p:sp>
    </p:spTree>
    <p:extLst>
      <p:ext uri="{BB962C8B-B14F-4D97-AF65-F5344CB8AC3E}">
        <p14:creationId xmlns:p14="http://schemas.microsoft.com/office/powerpoint/2010/main" val="17483865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stretch>
            <a:fillRect/>
          </a:stretch>
        </p:blipFill>
        <p:spPr>
          <a:xfrm>
            <a:off x="3556405" y="2118714"/>
            <a:ext cx="4714875" cy="3495675"/>
          </a:xfrm>
          <a:prstGeom prst="rect">
            <a:avLst/>
          </a:prstGeom>
        </p:spPr>
      </p:pic>
      <p:sp>
        <p:nvSpPr>
          <p:cNvPr id="19" name="ZoneTexte 18"/>
          <p:cNvSpPr txBox="1"/>
          <p:nvPr/>
        </p:nvSpPr>
        <p:spPr>
          <a:xfrm>
            <a:off x="272374" y="1313234"/>
            <a:ext cx="11070077" cy="646331"/>
          </a:xfrm>
          <a:prstGeom prst="rect">
            <a:avLst/>
          </a:prstGeom>
          <a:noFill/>
        </p:spPr>
        <p:txBody>
          <a:bodyPr wrap="square" rtlCol="0">
            <a:spAutoFit/>
          </a:bodyPr>
          <a:lstStyle/>
          <a:p>
            <a:r>
              <a:rPr lang="fr-FR" dirty="0" smtClean="0"/>
              <a:t>En </a:t>
            </a:r>
            <a:r>
              <a:rPr lang="fr-FR" dirty="0" err="1" smtClean="0"/>
              <a:t>tappant</a:t>
            </a:r>
            <a:r>
              <a:rPr lang="fr-FR" dirty="0" smtClean="0"/>
              <a:t> l’url vous arrivez sur la page de connexion de l’outil d’administration de votre projet. Saisissez les informations indiquées lors de la commande </a:t>
            </a:r>
            <a:r>
              <a:rPr lang="fr-FR" i="1" dirty="0" err="1" smtClean="0"/>
              <a:t>createuser</a:t>
            </a:r>
            <a:r>
              <a:rPr lang="fr-FR" i="1" dirty="0" smtClean="0"/>
              <a:t>.</a:t>
            </a:r>
            <a:endParaRPr lang="fr-FR" dirty="0"/>
          </a:p>
        </p:txBody>
      </p:sp>
    </p:spTree>
    <p:extLst>
      <p:ext uri="{BB962C8B-B14F-4D97-AF65-F5344CB8AC3E}">
        <p14:creationId xmlns:p14="http://schemas.microsoft.com/office/powerpoint/2010/main" val="400071104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stretch>
            <a:fillRect/>
          </a:stretch>
        </p:blipFill>
        <p:spPr>
          <a:xfrm>
            <a:off x="3783326" y="1313234"/>
            <a:ext cx="8343357" cy="4337152"/>
          </a:xfrm>
          <a:prstGeom prst="rect">
            <a:avLst/>
          </a:prstGeom>
        </p:spPr>
      </p:pic>
      <p:sp>
        <p:nvSpPr>
          <p:cNvPr id="19" name="ZoneTexte 18"/>
          <p:cNvSpPr txBox="1"/>
          <p:nvPr/>
        </p:nvSpPr>
        <p:spPr>
          <a:xfrm>
            <a:off x="272375" y="1313234"/>
            <a:ext cx="3443592" cy="3139321"/>
          </a:xfrm>
          <a:prstGeom prst="rect">
            <a:avLst/>
          </a:prstGeom>
          <a:noFill/>
        </p:spPr>
        <p:txBody>
          <a:bodyPr wrap="square" rtlCol="0">
            <a:spAutoFit/>
          </a:bodyPr>
          <a:lstStyle/>
          <a:p>
            <a:r>
              <a:rPr lang="fr-FR" dirty="0" smtClean="0"/>
              <a:t>Par défaut vous ne voyez pas vos modèles sur la page d’administration. Vous ne voyez que ce qui est préconfiguré par </a:t>
            </a:r>
            <a:r>
              <a:rPr lang="fr-FR" dirty="0" err="1" smtClean="0"/>
              <a:t>django</a:t>
            </a:r>
            <a:r>
              <a:rPr lang="fr-FR" dirty="0" smtClean="0"/>
              <a:t>, c’est-à-dire les utilisateurs et le groupes. Nous allons ajouter l’administration de nos tables à cette page. Cela se passe dans le fichier </a:t>
            </a:r>
            <a:r>
              <a:rPr lang="fr-FR" i="1" dirty="0" smtClean="0"/>
              <a:t>admin.py </a:t>
            </a:r>
            <a:r>
              <a:rPr lang="fr-FR" dirty="0" smtClean="0"/>
              <a:t>de votre application. Rajoutez y les lignes suivantes :</a:t>
            </a:r>
            <a:endParaRPr lang="fr-FR" dirty="0"/>
          </a:p>
        </p:txBody>
      </p:sp>
      <p:pic>
        <p:nvPicPr>
          <p:cNvPr id="3" name="Image 2"/>
          <p:cNvPicPr>
            <a:picLocks noChangeAspect="1"/>
          </p:cNvPicPr>
          <p:nvPr/>
        </p:nvPicPr>
        <p:blipFill>
          <a:blip r:embed="rId15"/>
          <a:stretch>
            <a:fillRect/>
          </a:stretch>
        </p:blipFill>
        <p:spPr>
          <a:xfrm>
            <a:off x="327296" y="4555011"/>
            <a:ext cx="3333750" cy="1095375"/>
          </a:xfrm>
          <a:prstGeom prst="rect">
            <a:avLst/>
          </a:prstGeom>
        </p:spPr>
      </p:pic>
    </p:spTree>
    <p:extLst>
      <p:ext uri="{BB962C8B-B14F-4D97-AF65-F5344CB8AC3E}">
        <p14:creationId xmlns:p14="http://schemas.microsoft.com/office/powerpoint/2010/main" val="2310797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272374" y="1313234"/>
            <a:ext cx="3492229" cy="2031325"/>
          </a:xfrm>
          <a:prstGeom prst="rect">
            <a:avLst/>
          </a:prstGeom>
          <a:noFill/>
        </p:spPr>
        <p:txBody>
          <a:bodyPr wrap="square" rtlCol="0">
            <a:spAutoFit/>
          </a:bodyPr>
          <a:lstStyle/>
          <a:p>
            <a:r>
              <a:rPr lang="fr-FR" dirty="0" smtClean="0"/>
              <a:t>Rechargez la page pour voir que les catégories </a:t>
            </a:r>
            <a:r>
              <a:rPr lang="fr-FR" i="1" dirty="0" err="1" smtClean="0"/>
              <a:t>Choices</a:t>
            </a:r>
            <a:r>
              <a:rPr lang="fr-FR" i="1" dirty="0" smtClean="0"/>
              <a:t> </a:t>
            </a:r>
            <a:r>
              <a:rPr lang="fr-FR" dirty="0" smtClean="0"/>
              <a:t>et </a:t>
            </a:r>
            <a:r>
              <a:rPr lang="fr-FR" i="1" dirty="0" smtClean="0"/>
              <a:t> Questions </a:t>
            </a:r>
            <a:r>
              <a:rPr lang="fr-FR" dirty="0" smtClean="0"/>
              <a:t>se sont rajoutées.</a:t>
            </a:r>
          </a:p>
          <a:p>
            <a:r>
              <a:rPr lang="fr-FR" dirty="0" smtClean="0"/>
              <a:t>Vous pouvez maintenant cliquer sur ces catégories pour créer, voir, mettre à jours ou supprimer des éléments de vos tables.</a:t>
            </a:r>
            <a:endParaRPr lang="fr-FR" dirty="0"/>
          </a:p>
        </p:txBody>
      </p:sp>
      <p:pic>
        <p:nvPicPr>
          <p:cNvPr id="2" name="Image 1"/>
          <p:cNvPicPr>
            <a:picLocks noChangeAspect="1"/>
          </p:cNvPicPr>
          <p:nvPr/>
        </p:nvPicPr>
        <p:blipFill>
          <a:blip r:embed="rId14"/>
          <a:stretch>
            <a:fillRect/>
          </a:stretch>
        </p:blipFill>
        <p:spPr>
          <a:xfrm>
            <a:off x="3931842" y="1376188"/>
            <a:ext cx="7865039" cy="4281075"/>
          </a:xfrm>
          <a:prstGeom prst="rect">
            <a:avLst/>
          </a:prstGeom>
        </p:spPr>
      </p:pic>
    </p:spTree>
    <p:extLst>
      <p:ext uri="{BB962C8B-B14F-4D97-AF65-F5344CB8AC3E}">
        <p14:creationId xmlns:p14="http://schemas.microsoft.com/office/powerpoint/2010/main" val="853067508"/>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4172</TotalTime>
  <Words>1681</Words>
  <Application>Microsoft Office PowerPoint</Application>
  <PresentationFormat>Grand écran</PresentationFormat>
  <Paragraphs>113</Paragraphs>
  <Slides>20</Slides>
  <Notes>20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20</vt:i4>
      </vt:variant>
    </vt:vector>
  </HeadingPairs>
  <TitlesOfParts>
    <vt:vector size="24" baseType="lpstr">
      <vt:lpstr>Arial</vt:lpstr>
      <vt:lpstr>Calibri</vt:lpstr>
      <vt:lpstr>Calibri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chretienne jerome</dc:creator>
  <cp:lastModifiedBy>Maxime PRZYBYLO</cp:lastModifiedBy>
  <cp:revision>309</cp:revision>
  <dcterms:created xsi:type="dcterms:W3CDTF">2016-05-20T16:12:03Z</dcterms:created>
  <dcterms:modified xsi:type="dcterms:W3CDTF">2022-03-16T20:07:30Z</dcterms:modified>
</cp:coreProperties>
</file>