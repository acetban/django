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75" r:id="rId2"/>
    <p:sldId id="315" r:id="rId3"/>
    <p:sldId id="317" r:id="rId4"/>
    <p:sldId id="318" r:id="rId5"/>
    <p:sldId id="319" r:id="rId6"/>
    <p:sldId id="320" r:id="rId7"/>
    <p:sldId id="321" r:id="rId8"/>
    <p:sldId id="322" r:id="rId9"/>
    <p:sldId id="323" r:id="rId10"/>
    <p:sldId id="324" r:id="rId11"/>
    <p:sldId id="325" r:id="rId12"/>
    <p:sldId id="326" r:id="rId13"/>
    <p:sldId id="327" r:id="rId14"/>
  </p:sldIdLst>
  <p:sldSz cx="12192000" cy="6858000"/>
  <p:notesSz cx="6808788" cy="99409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xime PRZYBYLO" initials="MP" lastIdx="2" clrIdx="0">
    <p:extLst>
      <p:ext uri="{19B8F6BF-5375-455C-9EA6-DF929625EA0E}">
        <p15:presenceInfo xmlns:p15="http://schemas.microsoft.com/office/powerpoint/2012/main" userId="Maxime PRZYBYL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F1"/>
    <a:srgbClr val="D5D5D5"/>
    <a:srgbClr val="A162D0"/>
    <a:srgbClr val="FF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6" autoAdjust="0"/>
    <p:restoredTop sz="90909" autoAdjust="0"/>
  </p:normalViewPr>
  <p:slideViewPr>
    <p:cSldViewPr snapToGrid="0">
      <p:cViewPr varScale="1">
        <p:scale>
          <a:sx n="80" d="100"/>
          <a:sy n="80" d="100"/>
        </p:scale>
        <p:origin x="739" y="4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50475" cy="49704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6737" y="0"/>
            <a:ext cx="2950475" cy="497046"/>
          </a:xfrm>
          <a:prstGeom prst="rect">
            <a:avLst/>
          </a:prstGeom>
        </p:spPr>
        <p:txBody>
          <a:bodyPr vert="horz" lIns="91440" tIns="45720" rIns="91440" bIns="45720" rtlCol="0"/>
          <a:lstStyle>
            <a:lvl1pPr algn="r">
              <a:defRPr sz="1200"/>
            </a:lvl1pPr>
          </a:lstStyle>
          <a:p>
            <a:fld id="{1C17683B-26D8-724E-89B0-02249384450D}" type="datetimeFigureOut">
              <a:rPr lang="fr-FR" smtClean="0"/>
              <a:t>16/03/2022</a:t>
            </a:fld>
            <a:endParaRPr lang="fr-FR"/>
          </a:p>
        </p:txBody>
      </p:sp>
      <p:sp>
        <p:nvSpPr>
          <p:cNvPr id="4" name="Espace réservé de l'image des diapositives 3"/>
          <p:cNvSpPr>
            <a:spLocks noGrp="1" noRot="1" noChangeAspect="1"/>
          </p:cNvSpPr>
          <p:nvPr>
            <p:ph type="sldImg" idx="2"/>
          </p:nvPr>
        </p:nvSpPr>
        <p:spPr>
          <a:xfrm>
            <a:off x="92075" y="746125"/>
            <a:ext cx="6624638" cy="37274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0879" y="4721940"/>
            <a:ext cx="5447030" cy="4473416"/>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42154"/>
            <a:ext cx="2950475" cy="497046"/>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6737" y="9442154"/>
            <a:ext cx="2950475" cy="497046"/>
          </a:xfrm>
          <a:prstGeom prst="rect">
            <a:avLst/>
          </a:prstGeom>
        </p:spPr>
        <p:txBody>
          <a:bodyPr vert="horz" lIns="91440" tIns="45720" rIns="91440" bIns="45720" rtlCol="0" anchor="b"/>
          <a:lstStyle>
            <a:lvl1pPr algn="r">
              <a:defRPr sz="1200"/>
            </a:lvl1pPr>
          </a:lstStyle>
          <a:p>
            <a:fld id="{80B64375-EE74-1B43-ADD9-C3016E9127A8}" type="slidenum">
              <a:rPr lang="fr-FR" smtClean="0"/>
              <a:t>‹N°›</a:t>
            </a:fld>
            <a:endParaRPr lang="fr-FR"/>
          </a:p>
        </p:txBody>
      </p:sp>
    </p:spTree>
    <p:extLst>
      <p:ext uri="{BB962C8B-B14F-4D97-AF65-F5344CB8AC3E}">
        <p14:creationId xmlns:p14="http://schemas.microsoft.com/office/powerpoint/2010/main" val="28813035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a:t>
            </a:fld>
            <a:endParaRPr lang="fr-FR"/>
          </a:p>
        </p:txBody>
      </p:sp>
    </p:spTree>
    <p:extLst>
      <p:ext uri="{BB962C8B-B14F-4D97-AF65-F5344CB8AC3E}">
        <p14:creationId xmlns:p14="http://schemas.microsoft.com/office/powerpoint/2010/main" val="212171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smtClean="0"/>
              <a:t>Django est un </a:t>
            </a:r>
            <a:r>
              <a:rPr lang="fr-FR" dirty="0" err="1" smtClean="0"/>
              <a:t>framework</a:t>
            </a:r>
            <a:r>
              <a:rPr lang="fr-FR" dirty="0" smtClean="0"/>
              <a:t> web gratuit et open source écrit</a:t>
            </a:r>
            <a:r>
              <a:rPr lang="fr-FR" baseline="0" dirty="0" smtClean="0"/>
              <a:t> en python. </a:t>
            </a:r>
            <a:r>
              <a:rPr lang="fr-FR" sz="1200" b="0" i="0" kern="1200" dirty="0" smtClean="0">
                <a:solidFill>
                  <a:schemeClr val="tx1"/>
                </a:solidFill>
                <a:effectLst/>
                <a:latin typeface="+mn-lt"/>
                <a:ea typeface="+mn-ea"/>
                <a:cs typeface="+mn-cs"/>
              </a:rPr>
              <a:t>Un </a:t>
            </a:r>
            <a:r>
              <a:rPr lang="fr-FR" sz="1200" b="0" i="0" kern="1200" dirty="0" err="1" smtClean="0">
                <a:solidFill>
                  <a:schemeClr val="tx1"/>
                </a:solidFill>
                <a:effectLst/>
                <a:latin typeface="+mn-lt"/>
                <a:ea typeface="+mn-ea"/>
                <a:cs typeface="+mn-cs"/>
              </a:rPr>
              <a:t>framework</a:t>
            </a:r>
            <a:r>
              <a:rPr lang="fr-FR" sz="1200" b="0" i="0" kern="1200" dirty="0" smtClean="0">
                <a:solidFill>
                  <a:schemeClr val="tx1"/>
                </a:solidFill>
                <a:effectLst/>
                <a:latin typeface="+mn-lt"/>
                <a:ea typeface="+mn-ea"/>
                <a:cs typeface="+mn-cs"/>
              </a:rPr>
              <a:t> web est un ensemble de composants qui vous aide à développer des sites web plus rapidement et plus facilement. Cela permet de ne</a:t>
            </a:r>
            <a:r>
              <a:rPr lang="fr-FR" sz="1200" b="0" i="0" kern="1200" baseline="0" dirty="0" smtClean="0">
                <a:solidFill>
                  <a:schemeClr val="tx1"/>
                </a:solidFill>
                <a:effectLst/>
                <a:latin typeface="+mn-lt"/>
                <a:ea typeface="+mn-ea"/>
                <a:cs typeface="+mn-cs"/>
              </a:rPr>
              <a:t> pas avoir à </a:t>
            </a:r>
            <a:r>
              <a:rPr lang="fr-FR" sz="1200" b="0" i="0" kern="1200" baseline="0" dirty="0" err="1" smtClean="0">
                <a:solidFill>
                  <a:schemeClr val="tx1"/>
                </a:solidFill>
                <a:effectLst/>
                <a:latin typeface="+mn-lt"/>
                <a:ea typeface="+mn-ea"/>
                <a:cs typeface="+mn-cs"/>
              </a:rPr>
              <a:t>re</a:t>
            </a:r>
            <a:r>
              <a:rPr lang="fr-FR" sz="1200" b="0" i="0" kern="1200" baseline="0" dirty="0" smtClean="0">
                <a:solidFill>
                  <a:schemeClr val="tx1"/>
                </a:solidFill>
                <a:effectLst/>
                <a:latin typeface="+mn-lt"/>
                <a:ea typeface="+mn-ea"/>
                <a:cs typeface="+mn-cs"/>
              </a:rPr>
              <a:t> coder la roue, mais d’utiliser les outils du </a:t>
            </a:r>
            <a:r>
              <a:rPr lang="fr-FR" sz="1200" b="0" i="0" kern="1200" baseline="0" dirty="0" err="1" smtClean="0">
                <a:solidFill>
                  <a:schemeClr val="tx1"/>
                </a:solidFill>
                <a:effectLst/>
                <a:latin typeface="+mn-lt"/>
                <a:ea typeface="+mn-ea"/>
                <a:cs typeface="+mn-cs"/>
              </a:rPr>
              <a:t>framework</a:t>
            </a:r>
            <a:r>
              <a:rPr lang="fr-FR" sz="1200" b="0" i="0" kern="1200" baseline="0" dirty="0" smtClean="0">
                <a:solidFill>
                  <a:schemeClr val="tx1"/>
                </a:solidFill>
                <a:effectLst/>
                <a:latin typeface="+mn-lt"/>
                <a:ea typeface="+mn-ea"/>
                <a:cs typeface="+mn-cs"/>
              </a:rPr>
              <a:t> pour le faire.</a:t>
            </a:r>
            <a:endParaRPr lang="fr-FR" dirty="0" smtClean="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2</a:t>
            </a:fld>
            <a:endParaRPr lang="fr-FR"/>
          </a:p>
        </p:txBody>
      </p:sp>
    </p:spTree>
    <p:extLst>
      <p:ext uri="{BB962C8B-B14F-4D97-AF65-F5344CB8AC3E}">
        <p14:creationId xmlns:p14="http://schemas.microsoft.com/office/powerpoint/2010/main" val="3654963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3</a:t>
            </a:fld>
            <a:endParaRPr lang="fr-FR"/>
          </a:p>
        </p:txBody>
      </p:sp>
    </p:spTree>
    <p:extLst>
      <p:ext uri="{BB962C8B-B14F-4D97-AF65-F5344CB8AC3E}">
        <p14:creationId xmlns:p14="http://schemas.microsoft.com/office/powerpoint/2010/main" val="1822077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4</a:t>
            </a:fld>
            <a:endParaRPr lang="fr-FR"/>
          </a:p>
        </p:txBody>
      </p:sp>
    </p:spTree>
    <p:extLst>
      <p:ext uri="{BB962C8B-B14F-4D97-AF65-F5344CB8AC3E}">
        <p14:creationId xmlns:p14="http://schemas.microsoft.com/office/powerpoint/2010/main" val="588287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5</a:t>
            </a:fld>
            <a:endParaRPr lang="fr-FR"/>
          </a:p>
        </p:txBody>
      </p:sp>
    </p:spTree>
    <p:extLst>
      <p:ext uri="{BB962C8B-B14F-4D97-AF65-F5344CB8AC3E}">
        <p14:creationId xmlns:p14="http://schemas.microsoft.com/office/powerpoint/2010/main" val="1617112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6</a:t>
            </a:fld>
            <a:endParaRPr lang="fr-FR"/>
          </a:p>
        </p:txBody>
      </p:sp>
    </p:spTree>
    <p:extLst>
      <p:ext uri="{BB962C8B-B14F-4D97-AF65-F5344CB8AC3E}">
        <p14:creationId xmlns:p14="http://schemas.microsoft.com/office/powerpoint/2010/main" val="2995586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7</a:t>
            </a:fld>
            <a:endParaRPr lang="fr-FR"/>
          </a:p>
        </p:txBody>
      </p:sp>
    </p:spTree>
    <p:extLst>
      <p:ext uri="{BB962C8B-B14F-4D97-AF65-F5344CB8AC3E}">
        <p14:creationId xmlns:p14="http://schemas.microsoft.com/office/powerpoint/2010/main" val="1897075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8</a:t>
            </a:fld>
            <a:endParaRPr lang="fr-FR"/>
          </a:p>
        </p:txBody>
      </p:sp>
    </p:spTree>
    <p:extLst>
      <p:ext uri="{BB962C8B-B14F-4D97-AF65-F5344CB8AC3E}">
        <p14:creationId xmlns:p14="http://schemas.microsoft.com/office/powerpoint/2010/main" val="2506533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9</a:t>
            </a:fld>
            <a:endParaRPr lang="fr-FR"/>
          </a:p>
        </p:txBody>
      </p:sp>
    </p:spTree>
    <p:extLst>
      <p:ext uri="{BB962C8B-B14F-4D97-AF65-F5344CB8AC3E}">
        <p14:creationId xmlns:p14="http://schemas.microsoft.com/office/powerpoint/2010/main" val="2021042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10</a:t>
            </a:fld>
            <a:endParaRPr lang="fr-FR"/>
          </a:p>
        </p:txBody>
      </p:sp>
    </p:spTree>
    <p:extLst>
      <p:ext uri="{BB962C8B-B14F-4D97-AF65-F5344CB8AC3E}">
        <p14:creationId xmlns:p14="http://schemas.microsoft.com/office/powerpoint/2010/main" val="3373213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11</a:t>
            </a:fld>
            <a:endParaRPr lang="fr-FR"/>
          </a:p>
        </p:txBody>
      </p:sp>
    </p:spTree>
    <p:extLst>
      <p:ext uri="{BB962C8B-B14F-4D97-AF65-F5344CB8AC3E}">
        <p14:creationId xmlns:p14="http://schemas.microsoft.com/office/powerpoint/2010/main" val="1623393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12</a:t>
            </a:fld>
            <a:endParaRPr lang="fr-FR"/>
          </a:p>
        </p:txBody>
      </p:sp>
    </p:spTree>
    <p:extLst>
      <p:ext uri="{BB962C8B-B14F-4D97-AF65-F5344CB8AC3E}">
        <p14:creationId xmlns:p14="http://schemas.microsoft.com/office/powerpoint/2010/main" val="23803911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0B64375-EE74-1B43-ADD9-C3016E9127A8}" type="slidenum">
              <a:rPr lang="fr-FR" smtClean="0"/>
              <a:t>13</a:t>
            </a:fld>
            <a:endParaRPr lang="fr-FR"/>
          </a:p>
        </p:txBody>
      </p:sp>
    </p:spTree>
    <p:extLst>
      <p:ext uri="{BB962C8B-B14F-4D97-AF65-F5344CB8AC3E}">
        <p14:creationId xmlns:p14="http://schemas.microsoft.com/office/powerpoint/2010/main" val="2107968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79645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42329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377981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16/03/2022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577741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59C091AA-3F0C-4182-9D7B-1EB634D8256B}" type="datetimeFigureOut">
              <a:rPr lang="fr-FR" smtClean="0"/>
              <a:t>16/03/2022</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459691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59C091AA-3F0C-4182-9D7B-1EB634D8256B}" type="datetimeFigureOut">
              <a:rPr lang="fr-FR" smtClean="0"/>
              <a:t>16/03/2022</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00249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59C091AA-3F0C-4182-9D7B-1EB634D8256B}" type="datetimeFigureOut">
              <a:rPr lang="fr-FR" smtClean="0"/>
              <a:t>16/03/2022</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10102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16/03/2022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968089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9C091AA-3F0C-4182-9D7B-1EB634D8256B}" type="datetimeFigureOut">
              <a:rPr lang="fr-FR" smtClean="0"/>
              <a:t>16/03/2022</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1841683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031157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A025B0E8-7D99-4688-B6D3-8DC5133195E9}" type="slidenum">
              <a:rPr lang="fr-FR" smtClean="0"/>
              <a:t>‹N°›</a:t>
            </a:fld>
            <a:endParaRPr lang="fr-FR"/>
          </a:p>
        </p:txBody>
      </p:sp>
    </p:spTree>
    <p:extLst>
      <p:ext uri="{BB962C8B-B14F-4D97-AF65-F5344CB8AC3E}">
        <p14:creationId xmlns:p14="http://schemas.microsoft.com/office/powerpoint/2010/main" val="2290548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85000"/>
              </a:schemeClr>
            </a:gs>
            <a:gs pos="100000">
              <a:schemeClr val="tx1">
                <a:lumMod val="65000"/>
                <a:lumOff val="35000"/>
              </a:schemeClr>
            </a:gs>
          </a:gsLst>
          <a:lin ang="2700000" scaled="1"/>
          <a:tileRect/>
        </a:gra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C091AA-3F0C-4182-9D7B-1EB634D8256B}" type="datetimeFigureOut">
              <a:rPr lang="fr-FR" smtClean="0"/>
              <a:t>16/03/2022</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25B0E8-7D99-4688-B6D3-8DC5133195E9}" type="slidenum">
              <a:rPr lang="fr-FR" smtClean="0"/>
              <a:t>‹N°›</a:t>
            </a:fld>
            <a:endParaRPr lang="fr-FR"/>
          </a:p>
        </p:txBody>
      </p:sp>
    </p:spTree>
    <p:extLst>
      <p:ext uri="{BB962C8B-B14F-4D97-AF65-F5344CB8AC3E}">
        <p14:creationId xmlns:p14="http://schemas.microsoft.com/office/powerpoint/2010/main" val="1355722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5.xml"/><Relationship Id="rId16"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6.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9.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9.xml"/><Relationship Id="rId16"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2.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5.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1.xml"/><Relationship Id="rId16"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27.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0.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png"/><Relationship Id="rId3" Type="http://schemas.openxmlformats.org/officeDocument/2006/relationships/image" Target="../media/image12.png"/><Relationship Id="rId7" Type="http://schemas.openxmlformats.org/officeDocument/2006/relationships/image" Target="../media/image5.jpeg"/><Relationship Id="rId12" Type="http://schemas.openxmlformats.org/officeDocument/2006/relationships/image" Target="../media/image10.png"/><Relationship Id="rId2" Type="http://schemas.openxmlformats.org/officeDocument/2006/relationships/notesSlide" Target="../notesSlides/notesSlide13.xml"/><Relationship Id="rId16"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4.jpe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31.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 Id="rId1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3">
            <a:extLst>
              <a:ext uri="{28A0092B-C50C-407E-A947-70E740481C1C}">
                <a14:useLocalDpi xmlns:a14="http://schemas.microsoft.com/office/drawing/2010/main" val="0"/>
              </a:ext>
            </a:extLst>
          </a:blip>
          <a:srcRect t="17344"/>
          <a:stretch/>
        </p:blipFill>
        <p:spPr>
          <a:xfrm>
            <a:off x="-1" y="1161751"/>
            <a:ext cx="12247963" cy="5696249"/>
          </a:xfrm>
          <a:prstGeom prst="rect">
            <a:avLst/>
          </a:prstGeom>
        </p:spPr>
      </p:pic>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p:cNvSpPr txBox="1"/>
          <p:nvPr/>
        </p:nvSpPr>
        <p:spPr>
          <a:xfrm>
            <a:off x="0" y="696885"/>
            <a:ext cx="12198786" cy="369332"/>
          </a:xfrm>
          <a:prstGeom prst="rect">
            <a:avLst/>
          </a:prstGeom>
          <a:noFill/>
        </p:spPr>
        <p:txBody>
          <a:bodyPr wrap="square" rtlCol="0">
            <a:spAutoFit/>
          </a:bodyPr>
          <a:lstStyle/>
          <a:p>
            <a:pPr algn="ctr"/>
            <a:r>
              <a:rPr lang="fr-FR" dirty="0" smtClean="0">
                <a:solidFill>
                  <a:schemeClr val="bg1"/>
                </a:solidFill>
              </a:rPr>
              <a:t>Présentation ADRAR Pôle Numérique</a:t>
            </a:r>
            <a:endParaRPr lang="fr-FR" dirty="0">
              <a:solidFill>
                <a:schemeClr val="bg1"/>
              </a:solidFill>
            </a:endParaRPr>
          </a:p>
        </p:txBody>
      </p:sp>
      <p:sp>
        <p:nvSpPr>
          <p:cNvPr id="40" name="ZoneTexte 39"/>
          <p:cNvSpPr txBox="1"/>
          <p:nvPr/>
        </p:nvSpPr>
        <p:spPr>
          <a:xfrm>
            <a:off x="6456211" y="1313092"/>
            <a:ext cx="4151883" cy="246221"/>
          </a:xfrm>
          <a:prstGeom prst="rect">
            <a:avLst/>
          </a:prstGeom>
          <a:noFill/>
        </p:spPr>
        <p:txBody>
          <a:bodyPr wrap="square" rtlCol="0">
            <a:spAutoFit/>
          </a:bodyPr>
          <a:lstStyle/>
          <a:p>
            <a:pPr algn="ctr"/>
            <a:r>
              <a:rPr lang="fr-FR" sz="1000" dirty="0">
                <a:solidFill>
                  <a:schemeClr val="bg1"/>
                </a:solidFill>
              </a:rPr>
              <a:t>Suivez-nous… </a:t>
            </a:r>
            <a:r>
              <a:rPr lang="fr-FR" sz="1000" dirty="0" smtClean="0">
                <a:solidFill>
                  <a:schemeClr val="bg1"/>
                </a:solidFill>
              </a:rPr>
              <a:t>LinkedIn            et Twitter           </a:t>
            </a:r>
            <a:r>
              <a:rPr lang="fr-FR" sz="1000" b="1" dirty="0" smtClean="0">
                <a:solidFill>
                  <a:schemeClr val="bg1">
                    <a:lumMod val="95000"/>
                  </a:schemeClr>
                </a:solidFill>
              </a:rPr>
              <a:t>@</a:t>
            </a:r>
            <a:r>
              <a:rPr lang="fr-FR" sz="1000" b="1" dirty="0" err="1">
                <a:solidFill>
                  <a:schemeClr val="bg1">
                    <a:lumMod val="95000"/>
                  </a:schemeClr>
                </a:solidFill>
              </a:rPr>
              <a:t>Adrar_Numerique</a:t>
            </a:r>
            <a:endParaRPr lang="fr-FR" sz="1000" b="1" dirty="0">
              <a:solidFill>
                <a:schemeClr val="bg1">
                  <a:lumMod val="95000"/>
                </a:schemeClr>
              </a:solidFill>
            </a:endParaRPr>
          </a:p>
        </p:txBody>
      </p:sp>
      <p:pic>
        <p:nvPicPr>
          <p:cNvPr id="41" name="Image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9541" y="1320857"/>
            <a:ext cx="228243" cy="217374"/>
          </a:xfrm>
          <a:prstGeom prst="rect">
            <a:avLst/>
          </a:prstGeom>
        </p:spPr>
      </p:pic>
      <p:pic>
        <p:nvPicPr>
          <p:cNvPr id="42" name="Image 41"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77911" y="1344858"/>
            <a:ext cx="169371" cy="169371"/>
          </a:xfrm>
          <a:prstGeom prst="rect">
            <a:avLst/>
          </a:prstGeom>
        </p:spPr>
      </p:pic>
      <p:grpSp>
        <p:nvGrpSpPr>
          <p:cNvPr id="5" name="Groupe 4"/>
          <p:cNvGrpSpPr/>
          <p:nvPr/>
        </p:nvGrpSpPr>
        <p:grpSpPr>
          <a:xfrm>
            <a:off x="70311" y="-41891"/>
            <a:ext cx="12056372" cy="746449"/>
            <a:chOff x="70311" y="-41891"/>
            <a:chExt cx="12056372" cy="746449"/>
          </a:xfrm>
        </p:grpSpPr>
        <p:grpSp>
          <p:nvGrpSpPr>
            <p:cNvPr id="16" name="Groupe 15"/>
            <p:cNvGrpSpPr/>
            <p:nvPr/>
          </p:nvGrpSpPr>
          <p:grpSpPr>
            <a:xfrm>
              <a:off x="70311" y="-41891"/>
              <a:ext cx="12056372" cy="746449"/>
              <a:chOff x="51808" y="-49564"/>
              <a:chExt cx="12056372" cy="746449"/>
            </a:xfrm>
          </p:grpSpPr>
          <p:pic>
            <p:nvPicPr>
              <p:cNvPr id="19" name="Image 18"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20" name="Image 19"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21" name="Image 20"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22" name="Image 21"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24" name="Image 23"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25" name="Image 24"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26" name="Image 25"/>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4" name="Image 3"/>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Tree>
    <p:extLst>
      <p:ext uri="{BB962C8B-B14F-4D97-AF65-F5344CB8AC3E}">
        <p14:creationId xmlns:p14="http://schemas.microsoft.com/office/powerpoint/2010/main" val="3823444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3" name="Image 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411697" y="1809724"/>
            <a:ext cx="7004292" cy="3922403"/>
          </a:xfrm>
          <a:prstGeom prst="rect">
            <a:avLst/>
          </a:prstGeom>
        </p:spPr>
      </p:pic>
    </p:spTree>
    <p:extLst>
      <p:ext uri="{BB962C8B-B14F-4D97-AF65-F5344CB8AC3E}">
        <p14:creationId xmlns:p14="http://schemas.microsoft.com/office/powerpoint/2010/main" val="5266954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2" name="ZoneTexte 1"/>
          <p:cNvSpPr txBox="1"/>
          <p:nvPr/>
        </p:nvSpPr>
        <p:spPr>
          <a:xfrm>
            <a:off x="2310544" y="2592897"/>
            <a:ext cx="7854860" cy="2554545"/>
          </a:xfrm>
          <a:prstGeom prst="rect">
            <a:avLst/>
          </a:prstGeom>
          <a:noFill/>
        </p:spPr>
        <p:txBody>
          <a:bodyPr wrap="square" rtlCol="0">
            <a:spAutoFit/>
          </a:bodyPr>
          <a:lstStyle/>
          <a:p>
            <a:pPr algn="ctr"/>
            <a:r>
              <a:rPr lang="fr-FR" sz="8000" b="1" u="sng" dirty="0" smtClean="0"/>
              <a:t>VUES, TEMPLATES ET GABARITS</a:t>
            </a:r>
            <a:endParaRPr lang="fr-FR" sz="8000" b="1" u="sng" dirty="0"/>
          </a:p>
        </p:txBody>
      </p:sp>
    </p:spTree>
    <p:extLst>
      <p:ext uri="{BB962C8B-B14F-4D97-AF65-F5344CB8AC3E}">
        <p14:creationId xmlns:p14="http://schemas.microsoft.com/office/powerpoint/2010/main" val="798114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4" name="ZoneTexte 3"/>
          <p:cNvSpPr txBox="1"/>
          <p:nvPr/>
        </p:nvSpPr>
        <p:spPr>
          <a:xfrm>
            <a:off x="155643" y="1400783"/>
            <a:ext cx="11488366" cy="923330"/>
          </a:xfrm>
          <a:prstGeom prst="rect">
            <a:avLst/>
          </a:prstGeom>
          <a:noFill/>
        </p:spPr>
        <p:txBody>
          <a:bodyPr wrap="square" rtlCol="0">
            <a:spAutoFit/>
          </a:bodyPr>
          <a:lstStyle/>
          <a:p>
            <a:r>
              <a:rPr lang="fr-FR" dirty="0" smtClean="0"/>
              <a:t>Nous allons maintenant rédiger quelques vues afin d’afficher de faire vire un peu notre projet. Une page pour afficher une question en particulier avec un formulaire de vote, une page affichant les votes d’une question, et une page permettant de gérer le vote. Rajoutons ces vues à notre fichier </a:t>
            </a:r>
            <a:r>
              <a:rPr lang="fr-FR" i="1" dirty="0" smtClean="0"/>
              <a:t>sondage/views.py</a:t>
            </a:r>
            <a:r>
              <a:rPr lang="fr-FR" dirty="0" smtClean="0"/>
              <a:t> :</a:t>
            </a:r>
            <a:endParaRPr lang="fr-FR" dirty="0"/>
          </a:p>
        </p:txBody>
      </p:sp>
      <p:pic>
        <p:nvPicPr>
          <p:cNvPr id="5" name="Image 4"/>
          <p:cNvPicPr>
            <a:picLocks noChangeAspect="1"/>
          </p:cNvPicPr>
          <p:nvPr/>
        </p:nvPicPr>
        <p:blipFill>
          <a:blip r:embed="rId14"/>
          <a:stretch>
            <a:fillRect/>
          </a:stretch>
        </p:blipFill>
        <p:spPr>
          <a:xfrm>
            <a:off x="418290" y="2570811"/>
            <a:ext cx="7048500" cy="2914650"/>
          </a:xfrm>
          <a:prstGeom prst="rect">
            <a:avLst/>
          </a:prstGeom>
        </p:spPr>
      </p:pic>
      <p:sp>
        <p:nvSpPr>
          <p:cNvPr id="24" name="ZoneTexte 23"/>
          <p:cNvSpPr txBox="1"/>
          <p:nvPr/>
        </p:nvSpPr>
        <p:spPr>
          <a:xfrm>
            <a:off x="155643" y="5576825"/>
            <a:ext cx="11488366" cy="923330"/>
          </a:xfrm>
          <a:prstGeom prst="rect">
            <a:avLst/>
          </a:prstGeom>
          <a:noFill/>
        </p:spPr>
        <p:txBody>
          <a:bodyPr wrap="square" rtlCol="0">
            <a:spAutoFit/>
          </a:bodyPr>
          <a:lstStyle/>
          <a:p>
            <a:r>
              <a:rPr lang="fr-FR" i="1" dirty="0" smtClean="0"/>
              <a:t>Ces vues sont déclarées avec comme paramètre </a:t>
            </a:r>
            <a:r>
              <a:rPr lang="fr-FR" i="1" dirty="0" err="1" smtClean="0"/>
              <a:t>question_id</a:t>
            </a:r>
            <a:r>
              <a:rPr lang="fr-FR" i="1" dirty="0" smtClean="0"/>
              <a:t> qui sera l’id de la question voulues. Le passage de ce paramètre se fera par l’objet </a:t>
            </a:r>
            <a:r>
              <a:rPr lang="fr-FR" i="1" dirty="0" err="1" smtClean="0"/>
              <a:t>request</a:t>
            </a:r>
            <a:r>
              <a:rPr lang="fr-FR" i="1" dirty="0" smtClean="0"/>
              <a:t> qui est généré en fonction de la </a:t>
            </a:r>
            <a:r>
              <a:rPr lang="fr-FR" i="1" dirty="0" err="1" smtClean="0"/>
              <a:t>requète</a:t>
            </a:r>
            <a:r>
              <a:rPr lang="fr-FR" i="1" dirty="0" smtClean="0"/>
              <a:t> HTTP. C’est donc dans l’url qu’il faudra passer cet ID en paramètre. Voyons maintenant le fichier sondage/urls.py.</a:t>
            </a:r>
            <a:endParaRPr lang="fr-FR" i="1" dirty="0"/>
          </a:p>
        </p:txBody>
      </p:sp>
    </p:spTree>
    <p:extLst>
      <p:ext uri="{BB962C8B-B14F-4D97-AF65-F5344CB8AC3E}">
        <p14:creationId xmlns:p14="http://schemas.microsoft.com/office/powerpoint/2010/main" val="19815007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pic>
        <p:nvPicPr>
          <p:cNvPr id="2" name="Image 1"/>
          <p:cNvPicPr>
            <a:picLocks noChangeAspect="1"/>
          </p:cNvPicPr>
          <p:nvPr/>
        </p:nvPicPr>
        <p:blipFill>
          <a:blip r:embed="rId14"/>
          <a:stretch>
            <a:fillRect/>
          </a:stretch>
        </p:blipFill>
        <p:spPr>
          <a:xfrm>
            <a:off x="293206" y="1345372"/>
            <a:ext cx="6105525" cy="1495425"/>
          </a:xfrm>
          <a:prstGeom prst="rect">
            <a:avLst/>
          </a:prstGeom>
        </p:spPr>
      </p:pic>
      <p:sp>
        <p:nvSpPr>
          <p:cNvPr id="19" name="ZoneTexte 18"/>
          <p:cNvSpPr txBox="1"/>
          <p:nvPr/>
        </p:nvSpPr>
        <p:spPr>
          <a:xfrm>
            <a:off x="70311" y="2931988"/>
            <a:ext cx="6328420" cy="2585323"/>
          </a:xfrm>
          <a:prstGeom prst="rect">
            <a:avLst/>
          </a:prstGeom>
          <a:noFill/>
        </p:spPr>
        <p:txBody>
          <a:bodyPr wrap="square" rtlCol="0">
            <a:spAutoFit/>
          </a:bodyPr>
          <a:lstStyle/>
          <a:p>
            <a:r>
              <a:rPr lang="fr-FR" dirty="0" smtClean="0"/>
              <a:t>Nous rajoutons une url par vue que nous avons créée qui auront toute comme chemin de départ la variable </a:t>
            </a:r>
            <a:r>
              <a:rPr lang="fr-FR" i="1" dirty="0" smtClean="0"/>
              <a:t>&lt;</a:t>
            </a:r>
            <a:r>
              <a:rPr lang="fr-FR" i="1" dirty="0" err="1" smtClean="0"/>
              <a:t>int:question_id</a:t>
            </a:r>
            <a:r>
              <a:rPr lang="fr-FR" i="1" dirty="0" smtClean="0"/>
              <a:t>&gt;</a:t>
            </a:r>
            <a:r>
              <a:rPr lang="fr-FR" dirty="0" smtClean="0"/>
              <a:t>. Quand nous accéderons à la page http://localhost/sondage/1 </a:t>
            </a:r>
            <a:r>
              <a:rPr lang="fr-FR" dirty="0" err="1" smtClean="0"/>
              <a:t>django</a:t>
            </a:r>
            <a:r>
              <a:rPr lang="fr-FR" dirty="0" smtClean="0"/>
              <a:t> appellera la vue nommé détail et mettra dans le paramètre </a:t>
            </a:r>
            <a:r>
              <a:rPr lang="fr-FR" dirty="0" err="1" smtClean="0"/>
              <a:t>question_id</a:t>
            </a:r>
            <a:r>
              <a:rPr lang="fr-FR" dirty="0" smtClean="0"/>
              <a:t> de la fonction la valeur 1 passé dans l’url et nous. </a:t>
            </a:r>
            <a:r>
              <a:rPr lang="fr-FR" i="1" dirty="0" err="1" smtClean="0"/>
              <a:t>question_id</a:t>
            </a:r>
            <a:r>
              <a:rPr lang="fr-FR" dirty="0" smtClean="0"/>
              <a:t> n’est qu’une variable et n’est en rien relié a notre base de donnée. C’est pour ca que vous pouvez accéder a la page http://localhost/sondage/34 alors qu’il n’existe pas de question 34 dans votre base de données</a:t>
            </a:r>
            <a:endParaRPr lang="fr-FR" i="1" dirty="0"/>
          </a:p>
        </p:txBody>
      </p:sp>
      <p:pic>
        <p:nvPicPr>
          <p:cNvPr id="3" name="Image 2"/>
          <p:cNvPicPr>
            <a:picLocks noChangeAspect="1"/>
          </p:cNvPicPr>
          <p:nvPr/>
        </p:nvPicPr>
        <p:blipFill>
          <a:blip r:embed="rId15"/>
          <a:stretch>
            <a:fillRect/>
          </a:stretch>
        </p:blipFill>
        <p:spPr>
          <a:xfrm>
            <a:off x="7141571" y="2931988"/>
            <a:ext cx="4219575" cy="1476375"/>
          </a:xfrm>
          <a:prstGeom prst="rect">
            <a:avLst/>
          </a:prstGeom>
        </p:spPr>
      </p:pic>
      <p:pic>
        <p:nvPicPr>
          <p:cNvPr id="4" name="Image 3"/>
          <p:cNvPicPr>
            <a:picLocks noChangeAspect="1"/>
          </p:cNvPicPr>
          <p:nvPr/>
        </p:nvPicPr>
        <p:blipFill>
          <a:blip r:embed="rId16"/>
          <a:stretch>
            <a:fillRect/>
          </a:stretch>
        </p:blipFill>
        <p:spPr>
          <a:xfrm>
            <a:off x="7141571" y="4634318"/>
            <a:ext cx="3524250" cy="1285875"/>
          </a:xfrm>
          <a:prstGeom prst="rect">
            <a:avLst/>
          </a:prstGeom>
        </p:spPr>
      </p:pic>
    </p:spTree>
    <p:extLst>
      <p:ext uri="{BB962C8B-B14F-4D97-AF65-F5344CB8AC3E}">
        <p14:creationId xmlns:p14="http://schemas.microsoft.com/office/powerpoint/2010/main" val="28837661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55643" y="1400783"/>
            <a:ext cx="11488366" cy="646331"/>
          </a:xfrm>
          <a:prstGeom prst="rect">
            <a:avLst/>
          </a:prstGeom>
          <a:noFill/>
        </p:spPr>
        <p:txBody>
          <a:bodyPr wrap="square" rtlCol="0">
            <a:spAutoFit/>
          </a:bodyPr>
          <a:lstStyle/>
          <a:p>
            <a:r>
              <a:rPr lang="fr-FR" dirty="0" smtClean="0"/>
              <a:t>Changeons maintenant nos vues pour qu’elle fasse vraiment quelque chose. Nous allons afficher sur l’index les 5 questions les plus récentes. Modifiez votre vue de cette manière :</a:t>
            </a:r>
            <a:endParaRPr lang="fr-FR" dirty="0"/>
          </a:p>
        </p:txBody>
      </p:sp>
      <p:sp>
        <p:nvSpPr>
          <p:cNvPr id="20" name="ZoneTexte 19"/>
          <p:cNvSpPr txBox="1"/>
          <p:nvPr/>
        </p:nvSpPr>
        <p:spPr>
          <a:xfrm>
            <a:off x="155643" y="3909235"/>
            <a:ext cx="11556126" cy="923330"/>
          </a:xfrm>
          <a:prstGeom prst="rect">
            <a:avLst/>
          </a:prstGeom>
          <a:noFill/>
        </p:spPr>
        <p:txBody>
          <a:bodyPr wrap="square" rtlCol="0">
            <a:spAutoFit/>
          </a:bodyPr>
          <a:lstStyle/>
          <a:p>
            <a:r>
              <a:rPr lang="fr-FR" dirty="0" smtClean="0"/>
              <a:t>Nous créons tout </a:t>
            </a:r>
            <a:r>
              <a:rPr lang="fr-FR" dirty="0" err="1" smtClean="0"/>
              <a:t>dabord</a:t>
            </a:r>
            <a:r>
              <a:rPr lang="fr-FR" dirty="0" smtClean="0"/>
              <a:t> un objet </a:t>
            </a:r>
            <a:r>
              <a:rPr lang="fr-FR" i="1" dirty="0" err="1" smtClean="0"/>
              <a:t>QuerySet</a:t>
            </a:r>
            <a:r>
              <a:rPr lang="fr-FR" dirty="0" smtClean="0"/>
              <a:t> de nos 5 premières questions triées par ordre décroissant de nos dates de publications. Nous créons ensuite une chaine de caractère des éléments de notre variables que nous affichons sur la page.</a:t>
            </a:r>
          </a:p>
          <a:p>
            <a:r>
              <a:rPr lang="fr-FR" dirty="0" smtClean="0"/>
              <a:t>N.B: vue que nous envoyons le résultat sur une page web nous générons le retour à la ligne par un &lt;</a:t>
            </a:r>
            <a:r>
              <a:rPr lang="fr-FR" dirty="0" err="1" smtClean="0"/>
              <a:t>br</a:t>
            </a:r>
            <a:r>
              <a:rPr lang="fr-FR" dirty="0" smtClean="0"/>
              <a:t>&gt; et non par un \n.</a:t>
            </a:r>
            <a:endParaRPr lang="fr-FR" dirty="0"/>
          </a:p>
        </p:txBody>
      </p:sp>
      <p:pic>
        <p:nvPicPr>
          <p:cNvPr id="4" name="Image 3"/>
          <p:cNvPicPr>
            <a:picLocks noChangeAspect="1"/>
          </p:cNvPicPr>
          <p:nvPr/>
        </p:nvPicPr>
        <p:blipFill>
          <a:blip r:embed="rId14"/>
          <a:stretch>
            <a:fillRect/>
          </a:stretch>
        </p:blipFill>
        <p:spPr>
          <a:xfrm>
            <a:off x="1047232" y="4947662"/>
            <a:ext cx="3990975" cy="1476375"/>
          </a:xfrm>
          <a:prstGeom prst="rect">
            <a:avLst/>
          </a:prstGeom>
        </p:spPr>
      </p:pic>
      <p:pic>
        <p:nvPicPr>
          <p:cNvPr id="5" name="Image 4"/>
          <p:cNvPicPr>
            <a:picLocks noChangeAspect="1"/>
          </p:cNvPicPr>
          <p:nvPr/>
        </p:nvPicPr>
        <p:blipFill>
          <a:blip r:embed="rId15"/>
          <a:stretch>
            <a:fillRect/>
          </a:stretch>
        </p:blipFill>
        <p:spPr>
          <a:xfrm>
            <a:off x="967090" y="2034476"/>
            <a:ext cx="6648450" cy="1838325"/>
          </a:xfrm>
          <a:prstGeom prst="rect">
            <a:avLst/>
          </a:prstGeom>
        </p:spPr>
      </p:pic>
    </p:spTree>
    <p:extLst>
      <p:ext uri="{BB962C8B-B14F-4D97-AF65-F5344CB8AC3E}">
        <p14:creationId xmlns:p14="http://schemas.microsoft.com/office/powerpoint/2010/main" val="13504809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55643" y="1400783"/>
            <a:ext cx="11488366" cy="1477328"/>
          </a:xfrm>
          <a:prstGeom prst="rect">
            <a:avLst/>
          </a:prstGeom>
          <a:noFill/>
        </p:spPr>
        <p:txBody>
          <a:bodyPr wrap="square" rtlCol="0">
            <a:spAutoFit/>
          </a:bodyPr>
          <a:lstStyle/>
          <a:p>
            <a:r>
              <a:rPr lang="fr-FR" dirty="0" smtClean="0"/>
              <a:t>Vous pourriez faire toutes vos pages avec le </a:t>
            </a:r>
            <a:r>
              <a:rPr lang="fr-FR" dirty="0" err="1" smtClean="0"/>
              <a:t>css</a:t>
            </a:r>
            <a:r>
              <a:rPr lang="fr-FR" dirty="0" smtClean="0"/>
              <a:t> inclus de cette manière mais ce n’est pas comme ca que </a:t>
            </a:r>
            <a:r>
              <a:rPr lang="fr-FR" dirty="0" err="1" smtClean="0"/>
              <a:t>django</a:t>
            </a:r>
            <a:r>
              <a:rPr lang="fr-FR" dirty="0" smtClean="0"/>
              <a:t> est prévu et surtout ca ne permettrait pas de modification faciles. </a:t>
            </a:r>
          </a:p>
          <a:p>
            <a:r>
              <a:rPr lang="fr-FR" dirty="0" smtClean="0"/>
              <a:t>Nous allons plutôt utiliser des </a:t>
            </a:r>
            <a:r>
              <a:rPr lang="fr-FR" dirty="0" err="1" smtClean="0"/>
              <a:t>templates</a:t>
            </a:r>
            <a:r>
              <a:rPr lang="fr-FR" dirty="0" smtClean="0"/>
              <a:t> HTML dans lesquels nous allons insérer les données voulus et que nous allons faire appeler par nos vues. Nous allons donc encore une fois modifier notre vue index pour cette fois envoyer la réponse http vers un </a:t>
            </a:r>
            <a:r>
              <a:rPr lang="fr-FR" dirty="0" err="1" smtClean="0"/>
              <a:t>template</a:t>
            </a:r>
            <a:r>
              <a:rPr lang="fr-FR" dirty="0" smtClean="0"/>
              <a:t> que nous écrirons après. Pour se faire vous aurez besoin d’importer </a:t>
            </a:r>
            <a:r>
              <a:rPr lang="fr-FR" i="1" dirty="0" smtClean="0"/>
              <a:t>loader</a:t>
            </a:r>
            <a:r>
              <a:rPr lang="fr-FR" dirty="0" smtClean="0"/>
              <a:t> de </a:t>
            </a:r>
            <a:r>
              <a:rPr lang="fr-FR" i="1" dirty="0" err="1" smtClean="0"/>
              <a:t>django.template</a:t>
            </a:r>
            <a:r>
              <a:rPr lang="fr-FR" dirty="0" smtClean="0"/>
              <a:t>.</a:t>
            </a:r>
            <a:endParaRPr lang="fr-FR" dirty="0"/>
          </a:p>
        </p:txBody>
      </p:sp>
      <p:pic>
        <p:nvPicPr>
          <p:cNvPr id="2" name="Image 1"/>
          <p:cNvPicPr>
            <a:picLocks noChangeAspect="1"/>
          </p:cNvPicPr>
          <p:nvPr/>
        </p:nvPicPr>
        <p:blipFill>
          <a:blip r:embed="rId14"/>
          <a:stretch>
            <a:fillRect/>
          </a:stretch>
        </p:blipFill>
        <p:spPr>
          <a:xfrm>
            <a:off x="283854" y="3000941"/>
            <a:ext cx="6353175" cy="2857500"/>
          </a:xfrm>
          <a:prstGeom prst="rect">
            <a:avLst/>
          </a:prstGeom>
        </p:spPr>
      </p:pic>
      <p:sp>
        <p:nvSpPr>
          <p:cNvPr id="3" name="ZoneTexte 2"/>
          <p:cNvSpPr txBox="1"/>
          <p:nvPr/>
        </p:nvSpPr>
        <p:spPr>
          <a:xfrm>
            <a:off x="6726650" y="2996119"/>
            <a:ext cx="4586618" cy="2862322"/>
          </a:xfrm>
          <a:prstGeom prst="rect">
            <a:avLst/>
          </a:prstGeom>
          <a:noFill/>
        </p:spPr>
        <p:txBody>
          <a:bodyPr wrap="square" rtlCol="0">
            <a:spAutoFit/>
          </a:bodyPr>
          <a:lstStyle/>
          <a:p>
            <a:r>
              <a:rPr lang="fr-FR" dirty="0" smtClean="0"/>
              <a:t>Ici nous chargeons dans notre variable </a:t>
            </a:r>
            <a:r>
              <a:rPr lang="fr-FR" i="1" dirty="0" err="1" smtClean="0"/>
              <a:t>template</a:t>
            </a:r>
            <a:r>
              <a:rPr lang="fr-FR" dirty="0" smtClean="0"/>
              <a:t> le </a:t>
            </a:r>
            <a:r>
              <a:rPr lang="fr-FR" dirty="0" err="1" smtClean="0"/>
              <a:t>template</a:t>
            </a:r>
            <a:r>
              <a:rPr lang="fr-FR" dirty="0" smtClean="0"/>
              <a:t> index.html qui sera situé dans le répertoire </a:t>
            </a:r>
            <a:r>
              <a:rPr lang="fr-FR" i="1" dirty="0" smtClean="0"/>
              <a:t>sondage</a:t>
            </a:r>
            <a:r>
              <a:rPr lang="fr-FR" dirty="0" smtClean="0"/>
              <a:t> du répertoire de </a:t>
            </a:r>
            <a:r>
              <a:rPr lang="fr-FR" dirty="0" err="1" smtClean="0"/>
              <a:t>template</a:t>
            </a:r>
            <a:r>
              <a:rPr lang="fr-FR" dirty="0" smtClean="0"/>
              <a:t> de notre application.</a:t>
            </a:r>
          </a:p>
          <a:p>
            <a:r>
              <a:rPr lang="fr-FR" dirty="0" smtClean="0"/>
              <a:t>Nous définissons ensuite un contexte afin de pouvoir utiliser notre variable dans notre code html.</a:t>
            </a:r>
          </a:p>
          <a:p>
            <a:r>
              <a:rPr lang="fr-FR" dirty="0" smtClean="0"/>
              <a:t>Nous envoyons la réponse http à notre </a:t>
            </a:r>
            <a:r>
              <a:rPr lang="fr-FR" dirty="0" err="1" smtClean="0"/>
              <a:t>template</a:t>
            </a:r>
            <a:r>
              <a:rPr lang="fr-FR" dirty="0" smtClean="0"/>
              <a:t> en lui indiquant la requête initiale ainsi que le contexte de variables à utiliser.</a:t>
            </a:r>
            <a:endParaRPr lang="fr-FR" dirty="0"/>
          </a:p>
        </p:txBody>
      </p:sp>
    </p:spTree>
    <p:extLst>
      <p:ext uri="{BB962C8B-B14F-4D97-AF65-F5344CB8AC3E}">
        <p14:creationId xmlns:p14="http://schemas.microsoft.com/office/powerpoint/2010/main" val="263232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55643" y="1400783"/>
            <a:ext cx="11488366" cy="1477328"/>
          </a:xfrm>
          <a:prstGeom prst="rect">
            <a:avLst/>
          </a:prstGeom>
          <a:noFill/>
        </p:spPr>
        <p:txBody>
          <a:bodyPr wrap="square" rtlCol="0">
            <a:spAutoFit/>
          </a:bodyPr>
          <a:lstStyle/>
          <a:p>
            <a:r>
              <a:rPr lang="fr-FR" dirty="0" smtClean="0"/>
              <a:t>Nous avons indiqués dans notre vues que le </a:t>
            </a:r>
            <a:r>
              <a:rPr lang="fr-FR" dirty="0" err="1" smtClean="0"/>
              <a:t>template</a:t>
            </a:r>
            <a:r>
              <a:rPr lang="fr-FR" dirty="0" smtClean="0"/>
              <a:t> </a:t>
            </a:r>
            <a:r>
              <a:rPr lang="fr-FR" i="1" dirty="0" smtClean="0"/>
              <a:t>index.html</a:t>
            </a:r>
            <a:r>
              <a:rPr lang="fr-FR" dirty="0" smtClean="0"/>
              <a:t> se situait dans le répertoire </a:t>
            </a:r>
            <a:r>
              <a:rPr lang="fr-FR" i="1" dirty="0" smtClean="0"/>
              <a:t>sondage</a:t>
            </a:r>
            <a:r>
              <a:rPr lang="fr-FR" dirty="0" smtClean="0"/>
              <a:t>. En l’occurrence </a:t>
            </a:r>
            <a:r>
              <a:rPr lang="fr-FR" dirty="0" err="1" smtClean="0"/>
              <a:t>django</a:t>
            </a:r>
            <a:r>
              <a:rPr lang="fr-FR" dirty="0" smtClean="0"/>
              <a:t> va chercher tous les </a:t>
            </a:r>
            <a:r>
              <a:rPr lang="fr-FR" dirty="0" err="1" smtClean="0"/>
              <a:t>templates</a:t>
            </a:r>
            <a:r>
              <a:rPr lang="fr-FR" dirty="0" smtClean="0"/>
              <a:t> dans un dossier </a:t>
            </a:r>
            <a:r>
              <a:rPr lang="fr-FR" dirty="0" err="1" smtClean="0"/>
              <a:t>templates</a:t>
            </a:r>
            <a:r>
              <a:rPr lang="fr-FR" dirty="0" smtClean="0"/>
              <a:t> de l’application. </a:t>
            </a:r>
            <a:r>
              <a:rPr lang="fr-FR" i="1" dirty="0" smtClean="0"/>
              <a:t>index.html </a:t>
            </a:r>
            <a:r>
              <a:rPr lang="fr-FR" dirty="0" smtClean="0"/>
              <a:t>se trouve donc en fait dans </a:t>
            </a:r>
            <a:r>
              <a:rPr lang="fr-FR" i="1" dirty="0" smtClean="0"/>
              <a:t>sondage/</a:t>
            </a:r>
            <a:r>
              <a:rPr lang="fr-FR" i="1" dirty="0" err="1" smtClean="0"/>
              <a:t>templates</a:t>
            </a:r>
            <a:r>
              <a:rPr lang="fr-FR" i="1" dirty="0" smtClean="0"/>
              <a:t>/sondage</a:t>
            </a:r>
            <a:r>
              <a:rPr lang="fr-FR" dirty="0" smtClean="0"/>
              <a:t>. Créez donc cette arborescence, </a:t>
            </a:r>
            <a:r>
              <a:rPr lang="fr-FR" i="1" dirty="0" err="1" smtClean="0"/>
              <a:t>templates</a:t>
            </a:r>
            <a:r>
              <a:rPr lang="fr-FR" i="1" dirty="0" smtClean="0"/>
              <a:t>/sondage</a:t>
            </a:r>
            <a:r>
              <a:rPr lang="fr-FR" dirty="0" smtClean="0"/>
              <a:t>, dans votre application et créez dedans le fichier </a:t>
            </a:r>
            <a:r>
              <a:rPr lang="fr-FR" i="1" dirty="0" smtClean="0"/>
              <a:t>index.html </a:t>
            </a:r>
            <a:r>
              <a:rPr lang="fr-FR" dirty="0" smtClean="0"/>
              <a:t>dans lequel vous y insérez le code suivant (en </a:t>
            </a:r>
            <a:r>
              <a:rPr lang="fr-FR" dirty="0" err="1" smtClean="0"/>
              <a:t>replacant</a:t>
            </a:r>
            <a:r>
              <a:rPr lang="fr-FR" dirty="0" smtClean="0"/>
              <a:t> le commentaire « HTML de base » par la base d’un fichier html):</a:t>
            </a:r>
            <a:endParaRPr lang="fr-FR" dirty="0"/>
          </a:p>
        </p:txBody>
      </p:sp>
      <p:sp>
        <p:nvSpPr>
          <p:cNvPr id="5" name="ZoneTexte 4"/>
          <p:cNvSpPr txBox="1"/>
          <p:nvPr/>
        </p:nvSpPr>
        <p:spPr>
          <a:xfrm>
            <a:off x="7864362" y="2886161"/>
            <a:ext cx="3779647" cy="3139321"/>
          </a:xfrm>
          <a:prstGeom prst="rect">
            <a:avLst/>
          </a:prstGeom>
          <a:noFill/>
        </p:spPr>
        <p:txBody>
          <a:bodyPr wrap="square" rtlCol="0">
            <a:spAutoFit/>
          </a:bodyPr>
          <a:lstStyle/>
          <a:p>
            <a:r>
              <a:rPr lang="fr-FR" dirty="0" smtClean="0"/>
              <a:t>Ce qu’il y a à l’intérieur des balises </a:t>
            </a:r>
            <a:br>
              <a:rPr lang="fr-FR" dirty="0" smtClean="0"/>
            </a:br>
            <a:r>
              <a:rPr lang="fr-FR" dirty="0" smtClean="0"/>
              <a:t>{% </a:t>
            </a:r>
            <a:r>
              <a:rPr lang="fr-FR" dirty="0" smtClean="0"/>
              <a:t>%}, appelés gabarits, </a:t>
            </a:r>
            <a:r>
              <a:rPr lang="fr-FR" dirty="0" smtClean="0"/>
              <a:t>sont des instructions de codes qui seront interprétées.</a:t>
            </a:r>
          </a:p>
          <a:p>
            <a:r>
              <a:rPr lang="fr-FR" dirty="0" smtClean="0"/>
              <a:t>Les balises {{ }} permettent d’utiliser des variables passées au préalable.</a:t>
            </a:r>
          </a:p>
          <a:p>
            <a:r>
              <a:rPr lang="fr-FR" dirty="0" smtClean="0"/>
              <a:t>En l’occurrence nous avons indiqué dans notre vue que la variable </a:t>
            </a:r>
            <a:r>
              <a:rPr lang="fr-FR" i="1" dirty="0" err="1" smtClean="0"/>
              <a:t>latest_question_list</a:t>
            </a:r>
            <a:r>
              <a:rPr lang="fr-FR" i="1" dirty="0" smtClean="0"/>
              <a:t> </a:t>
            </a:r>
            <a:r>
              <a:rPr lang="fr-FR" dirty="0" smtClean="0"/>
              <a:t>de la vue sera utilisable par le nom </a:t>
            </a:r>
            <a:r>
              <a:rPr lang="fr-FR" i="1" dirty="0" err="1" smtClean="0"/>
              <a:t>question_list</a:t>
            </a:r>
            <a:r>
              <a:rPr lang="fr-FR" dirty="0" smtClean="0"/>
              <a:t> dans notre </a:t>
            </a:r>
            <a:r>
              <a:rPr lang="fr-FR" dirty="0" err="1" smtClean="0"/>
              <a:t>template</a:t>
            </a:r>
            <a:r>
              <a:rPr lang="fr-FR" dirty="0" smtClean="0"/>
              <a:t>.</a:t>
            </a:r>
            <a:endParaRPr lang="fr-FR" dirty="0"/>
          </a:p>
        </p:txBody>
      </p:sp>
      <p:pic>
        <p:nvPicPr>
          <p:cNvPr id="7" name="Image 6"/>
          <p:cNvPicPr>
            <a:picLocks noChangeAspect="1"/>
          </p:cNvPicPr>
          <p:nvPr/>
        </p:nvPicPr>
        <p:blipFill>
          <a:blip r:embed="rId14"/>
          <a:stretch>
            <a:fillRect/>
          </a:stretch>
        </p:blipFill>
        <p:spPr>
          <a:xfrm>
            <a:off x="226616" y="2878111"/>
            <a:ext cx="7467600" cy="3467100"/>
          </a:xfrm>
          <a:prstGeom prst="rect">
            <a:avLst/>
          </a:prstGeom>
        </p:spPr>
      </p:pic>
    </p:spTree>
    <p:extLst>
      <p:ext uri="{BB962C8B-B14F-4D97-AF65-F5344CB8AC3E}">
        <p14:creationId xmlns:p14="http://schemas.microsoft.com/office/powerpoint/2010/main" val="15478685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55643" y="1400783"/>
            <a:ext cx="11488366" cy="369332"/>
          </a:xfrm>
          <a:prstGeom prst="rect">
            <a:avLst/>
          </a:prstGeom>
          <a:noFill/>
        </p:spPr>
        <p:txBody>
          <a:bodyPr wrap="square" rtlCol="0">
            <a:spAutoFit/>
          </a:bodyPr>
          <a:lstStyle/>
          <a:p>
            <a:r>
              <a:rPr lang="fr-FR" dirty="0" smtClean="0"/>
              <a:t>Django fournit une série de modules pour faciliter la syntaxe de beaucoup d’éléments. Revoyons notre vue index() :</a:t>
            </a:r>
            <a:endParaRPr lang="fr-FR" dirty="0"/>
          </a:p>
        </p:txBody>
      </p:sp>
      <p:pic>
        <p:nvPicPr>
          <p:cNvPr id="19" name="Image 18"/>
          <p:cNvPicPr>
            <a:picLocks noChangeAspect="1"/>
          </p:cNvPicPr>
          <p:nvPr/>
        </p:nvPicPr>
        <p:blipFill>
          <a:blip r:embed="rId14"/>
          <a:stretch>
            <a:fillRect/>
          </a:stretch>
        </p:blipFill>
        <p:spPr>
          <a:xfrm>
            <a:off x="236544" y="1871479"/>
            <a:ext cx="5421992" cy="2857500"/>
          </a:xfrm>
          <a:prstGeom prst="rect">
            <a:avLst/>
          </a:prstGeom>
        </p:spPr>
      </p:pic>
      <p:sp>
        <p:nvSpPr>
          <p:cNvPr id="21" name="ZoneTexte 20"/>
          <p:cNvSpPr txBox="1"/>
          <p:nvPr/>
        </p:nvSpPr>
        <p:spPr>
          <a:xfrm>
            <a:off x="5729830" y="3072253"/>
            <a:ext cx="6123490" cy="1200329"/>
          </a:xfrm>
          <a:prstGeom prst="rect">
            <a:avLst/>
          </a:prstGeom>
          <a:noFill/>
        </p:spPr>
        <p:txBody>
          <a:bodyPr wrap="square" rtlCol="0">
            <a:spAutoFit/>
          </a:bodyPr>
          <a:lstStyle/>
          <a:p>
            <a:r>
              <a:rPr lang="fr-FR" dirty="0" smtClean="0"/>
              <a:t>Nous avons remplacé </a:t>
            </a:r>
            <a:r>
              <a:rPr lang="fr-FR" i="1" dirty="0" err="1" smtClean="0"/>
              <a:t>HttpResponse</a:t>
            </a:r>
            <a:r>
              <a:rPr lang="fr-FR" dirty="0" smtClean="0"/>
              <a:t> par la fonction </a:t>
            </a:r>
            <a:r>
              <a:rPr lang="fr-FR" i="1" dirty="0" err="1" smtClean="0"/>
              <a:t>render</a:t>
            </a:r>
            <a:r>
              <a:rPr lang="fr-FR" dirty="0" smtClean="0"/>
              <a:t> qui prend en paramètres la </a:t>
            </a:r>
            <a:r>
              <a:rPr lang="fr-FR" dirty="0" err="1" smtClean="0"/>
              <a:t>requète</a:t>
            </a:r>
            <a:r>
              <a:rPr lang="fr-FR" dirty="0" smtClean="0"/>
              <a:t> initiale, le </a:t>
            </a:r>
            <a:r>
              <a:rPr lang="fr-FR" dirty="0" err="1" smtClean="0"/>
              <a:t>template</a:t>
            </a:r>
            <a:r>
              <a:rPr lang="fr-FR" dirty="0" smtClean="0"/>
              <a:t> et le contexte. N’oubliez pas d’importer </a:t>
            </a:r>
            <a:r>
              <a:rPr lang="fr-FR" i="1" dirty="0" err="1" smtClean="0"/>
              <a:t>render</a:t>
            </a:r>
            <a:r>
              <a:rPr lang="fr-FR" dirty="0" smtClean="0"/>
              <a:t> de </a:t>
            </a:r>
            <a:r>
              <a:rPr lang="fr-FR" i="1" dirty="0" err="1" smtClean="0"/>
              <a:t>django.shortcuts</a:t>
            </a:r>
            <a:r>
              <a:rPr lang="fr-FR" dirty="0" smtClean="0"/>
              <a:t> si il n’est pas déjà importé. Voici le rendue de notre vue index:</a:t>
            </a:r>
            <a:endParaRPr lang="fr-FR" dirty="0"/>
          </a:p>
        </p:txBody>
      </p:sp>
      <p:pic>
        <p:nvPicPr>
          <p:cNvPr id="3" name="Image 2"/>
          <p:cNvPicPr>
            <a:picLocks noChangeAspect="1"/>
          </p:cNvPicPr>
          <p:nvPr/>
        </p:nvPicPr>
        <p:blipFill>
          <a:blip r:embed="rId15"/>
          <a:stretch>
            <a:fillRect/>
          </a:stretch>
        </p:blipFill>
        <p:spPr>
          <a:xfrm>
            <a:off x="5800725" y="1871479"/>
            <a:ext cx="5981700" cy="1057275"/>
          </a:xfrm>
          <a:prstGeom prst="rect">
            <a:avLst/>
          </a:prstGeom>
        </p:spPr>
      </p:pic>
      <p:pic>
        <p:nvPicPr>
          <p:cNvPr id="4" name="Image 3"/>
          <p:cNvPicPr>
            <a:picLocks noChangeAspect="1"/>
          </p:cNvPicPr>
          <p:nvPr/>
        </p:nvPicPr>
        <p:blipFill>
          <a:blip r:embed="rId16"/>
          <a:stretch>
            <a:fillRect/>
          </a:stretch>
        </p:blipFill>
        <p:spPr>
          <a:xfrm>
            <a:off x="6169152" y="4416081"/>
            <a:ext cx="4610100" cy="1885950"/>
          </a:xfrm>
          <a:prstGeom prst="rect">
            <a:avLst/>
          </a:prstGeom>
        </p:spPr>
      </p:pic>
    </p:spTree>
    <p:extLst>
      <p:ext uri="{BB962C8B-B14F-4D97-AF65-F5344CB8AC3E}">
        <p14:creationId xmlns:p14="http://schemas.microsoft.com/office/powerpoint/2010/main" val="11047241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55643" y="1400783"/>
            <a:ext cx="11488366" cy="646331"/>
          </a:xfrm>
          <a:prstGeom prst="rect">
            <a:avLst/>
          </a:prstGeom>
          <a:noFill/>
        </p:spPr>
        <p:txBody>
          <a:bodyPr wrap="square" rtlCol="0">
            <a:spAutoFit/>
          </a:bodyPr>
          <a:lstStyle/>
          <a:p>
            <a:r>
              <a:rPr lang="fr-FR" dirty="0" smtClean="0"/>
              <a:t>Modifions maintenant notre vue détail pour qu’elle affiche le détail de la question sur laquelle nous aurons cliqué à l’index de notre projet en implémentant une gestion d’</a:t>
            </a:r>
            <a:r>
              <a:rPr lang="fr-FR" dirty="0"/>
              <a:t>e</a:t>
            </a:r>
            <a:r>
              <a:rPr lang="fr-FR" dirty="0" smtClean="0"/>
              <a:t>rreur. Créons également un </a:t>
            </a:r>
            <a:r>
              <a:rPr lang="fr-FR" dirty="0" err="1" smtClean="0"/>
              <a:t>template</a:t>
            </a:r>
            <a:r>
              <a:rPr lang="fr-FR" dirty="0" smtClean="0"/>
              <a:t> simple.</a:t>
            </a:r>
            <a:endParaRPr lang="fr-FR" dirty="0"/>
          </a:p>
        </p:txBody>
      </p:sp>
      <p:pic>
        <p:nvPicPr>
          <p:cNvPr id="3" name="Image 2"/>
          <p:cNvPicPr>
            <a:picLocks noChangeAspect="1"/>
          </p:cNvPicPr>
          <p:nvPr/>
        </p:nvPicPr>
        <p:blipFill>
          <a:blip r:embed="rId14"/>
          <a:stretch>
            <a:fillRect/>
          </a:stretch>
        </p:blipFill>
        <p:spPr>
          <a:xfrm>
            <a:off x="286441" y="4043356"/>
            <a:ext cx="3552825" cy="838200"/>
          </a:xfrm>
          <a:prstGeom prst="rect">
            <a:avLst/>
          </a:prstGeom>
        </p:spPr>
      </p:pic>
      <p:sp>
        <p:nvSpPr>
          <p:cNvPr id="21" name="ZoneTexte 20"/>
          <p:cNvSpPr txBox="1"/>
          <p:nvPr/>
        </p:nvSpPr>
        <p:spPr>
          <a:xfrm>
            <a:off x="286441" y="5189720"/>
            <a:ext cx="11488366" cy="923330"/>
          </a:xfrm>
          <a:prstGeom prst="rect">
            <a:avLst/>
          </a:prstGeom>
          <a:noFill/>
        </p:spPr>
        <p:txBody>
          <a:bodyPr wrap="square" rtlCol="0">
            <a:spAutoFit/>
          </a:bodyPr>
          <a:lstStyle/>
          <a:p>
            <a:r>
              <a:rPr lang="fr-FR" dirty="0" smtClean="0"/>
              <a:t>Encore une fois </a:t>
            </a:r>
            <a:r>
              <a:rPr lang="fr-FR" dirty="0" err="1" smtClean="0"/>
              <a:t>django</a:t>
            </a:r>
            <a:r>
              <a:rPr lang="fr-FR" dirty="0" smtClean="0"/>
              <a:t> nous facilite la tâche avec une Exception si on n’essaye d’accéder à un élément de notre base qui n’</a:t>
            </a:r>
            <a:r>
              <a:rPr lang="fr-FR" dirty="0"/>
              <a:t>e</a:t>
            </a:r>
            <a:r>
              <a:rPr lang="fr-FR" dirty="0" smtClean="0"/>
              <a:t>xiste pas et une Exception pour afficher une erreur de requête. Cette Exception, </a:t>
            </a:r>
            <a:r>
              <a:rPr lang="fr-FR" i="1" dirty="0" smtClean="0"/>
              <a:t>Http404</a:t>
            </a:r>
            <a:r>
              <a:rPr lang="fr-FR" dirty="0" smtClean="0"/>
              <a:t>, est à importer depuis </a:t>
            </a:r>
            <a:r>
              <a:rPr lang="fr-FR" i="1" dirty="0" err="1" smtClean="0"/>
              <a:t>django.http</a:t>
            </a:r>
            <a:r>
              <a:rPr lang="fr-FR" i="1" dirty="0" smtClean="0"/>
              <a:t>.</a:t>
            </a:r>
            <a:endParaRPr lang="fr-FR" dirty="0"/>
          </a:p>
        </p:txBody>
      </p:sp>
      <p:pic>
        <p:nvPicPr>
          <p:cNvPr id="6" name="Image 5"/>
          <p:cNvPicPr>
            <a:picLocks noChangeAspect="1"/>
          </p:cNvPicPr>
          <p:nvPr/>
        </p:nvPicPr>
        <p:blipFill>
          <a:blip r:embed="rId15"/>
          <a:stretch>
            <a:fillRect/>
          </a:stretch>
        </p:blipFill>
        <p:spPr>
          <a:xfrm>
            <a:off x="286441" y="2202265"/>
            <a:ext cx="6238875" cy="1590675"/>
          </a:xfrm>
          <a:prstGeom prst="rect">
            <a:avLst/>
          </a:prstGeom>
        </p:spPr>
      </p:pic>
    </p:spTree>
    <p:extLst>
      <p:ext uri="{BB962C8B-B14F-4D97-AF65-F5344CB8AC3E}">
        <p14:creationId xmlns:p14="http://schemas.microsoft.com/office/powerpoint/2010/main" val="2449072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55643" y="1400783"/>
            <a:ext cx="11488366" cy="646331"/>
          </a:xfrm>
          <a:prstGeom prst="rect">
            <a:avLst/>
          </a:prstGeom>
          <a:noFill/>
        </p:spPr>
        <p:txBody>
          <a:bodyPr wrap="square" rtlCol="0">
            <a:spAutoFit/>
          </a:bodyPr>
          <a:lstStyle/>
          <a:p>
            <a:r>
              <a:rPr lang="fr-FR" dirty="0" smtClean="0"/>
              <a:t>Une fois n’est pas coutume, </a:t>
            </a:r>
            <a:r>
              <a:rPr lang="fr-FR" dirty="0" err="1" smtClean="0"/>
              <a:t>django</a:t>
            </a:r>
            <a:r>
              <a:rPr lang="fr-FR" dirty="0" smtClean="0"/>
              <a:t> nous fournit encore un raccourci permettant de faciliter la gestion d’un code erreur 404 d’une requête </a:t>
            </a:r>
            <a:r>
              <a:rPr lang="fr-FR" dirty="0" err="1" smtClean="0"/>
              <a:t>get</a:t>
            </a:r>
            <a:r>
              <a:rPr lang="fr-FR" dirty="0" smtClean="0"/>
              <a:t>. Voici notre vue détail terminée en version courte : (pensez bien à importer la fonction)</a:t>
            </a:r>
            <a:endParaRPr lang="fr-FR" dirty="0"/>
          </a:p>
        </p:txBody>
      </p:sp>
      <p:pic>
        <p:nvPicPr>
          <p:cNvPr id="2" name="Image 1"/>
          <p:cNvPicPr>
            <a:picLocks noChangeAspect="1"/>
          </p:cNvPicPr>
          <p:nvPr/>
        </p:nvPicPr>
        <p:blipFill>
          <a:blip r:embed="rId14"/>
          <a:stretch>
            <a:fillRect/>
          </a:stretch>
        </p:blipFill>
        <p:spPr>
          <a:xfrm>
            <a:off x="271484" y="2293812"/>
            <a:ext cx="6276975" cy="866775"/>
          </a:xfrm>
          <a:prstGeom prst="rect">
            <a:avLst/>
          </a:prstGeom>
        </p:spPr>
      </p:pic>
      <p:pic>
        <p:nvPicPr>
          <p:cNvPr id="21" name="Image 20"/>
          <p:cNvPicPr>
            <a:picLocks noChangeAspect="1"/>
          </p:cNvPicPr>
          <p:nvPr/>
        </p:nvPicPr>
        <p:blipFill>
          <a:blip r:embed="rId15"/>
          <a:stretch>
            <a:fillRect/>
          </a:stretch>
        </p:blipFill>
        <p:spPr>
          <a:xfrm>
            <a:off x="286441" y="3850836"/>
            <a:ext cx="4029075" cy="1952625"/>
          </a:xfrm>
          <a:prstGeom prst="rect">
            <a:avLst/>
          </a:prstGeom>
        </p:spPr>
      </p:pic>
      <p:sp>
        <p:nvSpPr>
          <p:cNvPr id="25" name="ZoneTexte 24"/>
          <p:cNvSpPr txBox="1"/>
          <p:nvPr/>
        </p:nvSpPr>
        <p:spPr>
          <a:xfrm>
            <a:off x="155643" y="3352254"/>
            <a:ext cx="11488366" cy="369332"/>
          </a:xfrm>
          <a:prstGeom prst="rect">
            <a:avLst/>
          </a:prstGeom>
          <a:noFill/>
        </p:spPr>
        <p:txBody>
          <a:bodyPr wrap="square" rtlCol="0">
            <a:spAutoFit/>
          </a:bodyPr>
          <a:lstStyle/>
          <a:p>
            <a:r>
              <a:rPr lang="fr-FR" dirty="0" smtClean="0"/>
              <a:t>Et voici le résultat</a:t>
            </a:r>
            <a:endParaRPr lang="fr-FR" dirty="0"/>
          </a:p>
        </p:txBody>
      </p:sp>
      <p:pic>
        <p:nvPicPr>
          <p:cNvPr id="3" name="Image 2"/>
          <p:cNvPicPr>
            <a:picLocks noChangeAspect="1"/>
          </p:cNvPicPr>
          <p:nvPr/>
        </p:nvPicPr>
        <p:blipFill>
          <a:blip r:embed="rId16"/>
          <a:stretch>
            <a:fillRect/>
          </a:stretch>
        </p:blipFill>
        <p:spPr>
          <a:xfrm>
            <a:off x="5861773" y="3721586"/>
            <a:ext cx="4895850" cy="2581275"/>
          </a:xfrm>
          <a:prstGeom prst="rect">
            <a:avLst/>
          </a:prstGeom>
        </p:spPr>
      </p:pic>
    </p:spTree>
    <p:extLst>
      <p:ext uri="{BB962C8B-B14F-4D97-AF65-F5344CB8AC3E}">
        <p14:creationId xmlns:p14="http://schemas.microsoft.com/office/powerpoint/2010/main" val="42892158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55643" y="1400783"/>
            <a:ext cx="11488366" cy="923330"/>
          </a:xfrm>
          <a:prstGeom prst="rect">
            <a:avLst/>
          </a:prstGeom>
          <a:noFill/>
        </p:spPr>
        <p:txBody>
          <a:bodyPr wrap="square" rtlCol="0">
            <a:spAutoFit/>
          </a:bodyPr>
          <a:lstStyle/>
          <a:p>
            <a:r>
              <a:rPr lang="fr-FR" dirty="0" smtClean="0"/>
              <a:t>Personnalisons un peu plus notre </a:t>
            </a:r>
            <a:r>
              <a:rPr lang="fr-FR" dirty="0" err="1" smtClean="0"/>
              <a:t>template</a:t>
            </a:r>
            <a:r>
              <a:rPr lang="fr-FR" dirty="0" smtClean="0"/>
              <a:t> </a:t>
            </a:r>
            <a:r>
              <a:rPr lang="fr-FR" i="1" dirty="0" smtClean="0"/>
              <a:t>detail.html</a:t>
            </a:r>
            <a:r>
              <a:rPr lang="fr-FR" dirty="0" smtClean="0"/>
              <a:t> pour qu’il affiche également les choix possibles de notre question. Rappelez vous que nos question possèdent une méthode </a:t>
            </a:r>
            <a:r>
              <a:rPr lang="fr-FR" i="1" dirty="0" err="1" smtClean="0"/>
              <a:t>choice_set</a:t>
            </a:r>
            <a:r>
              <a:rPr lang="fr-FR" i="1" dirty="0" smtClean="0"/>
              <a:t> </a:t>
            </a:r>
            <a:r>
              <a:rPr lang="fr-FR" dirty="0" smtClean="0"/>
              <a:t>permettant de générer un </a:t>
            </a:r>
            <a:r>
              <a:rPr lang="fr-FR" i="1" dirty="0" err="1" smtClean="0"/>
              <a:t>QuerySet</a:t>
            </a:r>
            <a:r>
              <a:rPr lang="fr-FR" i="1" dirty="0" smtClean="0"/>
              <a:t> </a:t>
            </a:r>
            <a:r>
              <a:rPr lang="fr-FR" dirty="0" smtClean="0"/>
              <a:t>de nos clefs étrangères.</a:t>
            </a:r>
            <a:endParaRPr lang="fr-FR" dirty="0"/>
          </a:p>
        </p:txBody>
      </p:sp>
      <p:pic>
        <p:nvPicPr>
          <p:cNvPr id="2" name="Image 1"/>
          <p:cNvPicPr>
            <a:picLocks noChangeAspect="1"/>
          </p:cNvPicPr>
          <p:nvPr/>
        </p:nvPicPr>
        <p:blipFill>
          <a:blip r:embed="rId14"/>
          <a:stretch>
            <a:fillRect/>
          </a:stretch>
        </p:blipFill>
        <p:spPr>
          <a:xfrm>
            <a:off x="7381875" y="2570811"/>
            <a:ext cx="3962400" cy="2590800"/>
          </a:xfrm>
          <a:prstGeom prst="rect">
            <a:avLst/>
          </a:prstGeom>
        </p:spPr>
      </p:pic>
      <p:pic>
        <p:nvPicPr>
          <p:cNvPr id="3" name="Image 2"/>
          <p:cNvPicPr>
            <a:picLocks noChangeAspect="1"/>
          </p:cNvPicPr>
          <p:nvPr/>
        </p:nvPicPr>
        <p:blipFill>
          <a:blip r:embed="rId15"/>
          <a:stretch>
            <a:fillRect/>
          </a:stretch>
        </p:blipFill>
        <p:spPr>
          <a:xfrm>
            <a:off x="680899" y="2627039"/>
            <a:ext cx="4229100" cy="2028825"/>
          </a:xfrm>
          <a:prstGeom prst="rect">
            <a:avLst/>
          </a:prstGeom>
        </p:spPr>
      </p:pic>
    </p:spTree>
    <p:extLst>
      <p:ext uri="{BB962C8B-B14F-4D97-AF65-F5344CB8AC3E}">
        <p14:creationId xmlns:p14="http://schemas.microsoft.com/office/powerpoint/2010/main" val="37401732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675503"/>
            <a:ext cx="12198786" cy="478582"/>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2" name="Imag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2202" y="6540326"/>
            <a:ext cx="253968" cy="253968"/>
          </a:xfrm>
          <a:prstGeom prst="rect">
            <a:avLst/>
          </a:prstGeom>
        </p:spPr>
      </p:pic>
      <p:sp>
        <p:nvSpPr>
          <p:cNvPr id="23" name="ZoneTexte 22"/>
          <p:cNvSpPr txBox="1"/>
          <p:nvPr/>
        </p:nvSpPr>
        <p:spPr>
          <a:xfrm>
            <a:off x="5216109" y="6532276"/>
            <a:ext cx="2664700" cy="307777"/>
          </a:xfrm>
          <a:prstGeom prst="rect">
            <a:avLst/>
          </a:prstGeom>
          <a:noFill/>
        </p:spPr>
        <p:txBody>
          <a:bodyPr wrap="square" rtlCol="0">
            <a:spAutoFit/>
          </a:bodyPr>
          <a:lstStyle/>
          <a:p>
            <a:r>
              <a:rPr lang="fr-FR" sz="1400" dirty="0" smtClean="0">
                <a:solidFill>
                  <a:schemeClr val="tx1">
                    <a:lumMod val="65000"/>
                    <a:lumOff val="35000"/>
                  </a:schemeClr>
                </a:solidFill>
              </a:rPr>
              <a:t>ADRAR Pôle Numérique Occitanie</a:t>
            </a:r>
            <a:endParaRPr lang="fr-FR" sz="1400" dirty="0">
              <a:solidFill>
                <a:schemeClr val="tx1">
                  <a:lumMod val="65000"/>
                  <a:lumOff val="35000"/>
                </a:schemeClr>
              </a:solidFill>
            </a:endParaRPr>
          </a:p>
        </p:txBody>
      </p:sp>
      <p:sp>
        <p:nvSpPr>
          <p:cNvPr id="31" name="ZoneTexte 30"/>
          <p:cNvSpPr txBox="1"/>
          <p:nvPr/>
        </p:nvSpPr>
        <p:spPr>
          <a:xfrm>
            <a:off x="0" y="696885"/>
            <a:ext cx="12198786" cy="384721"/>
          </a:xfrm>
          <a:prstGeom prst="rect">
            <a:avLst/>
          </a:prstGeom>
          <a:noFill/>
        </p:spPr>
        <p:txBody>
          <a:bodyPr wrap="square" rtlCol="0">
            <a:spAutoFit/>
          </a:bodyPr>
          <a:lstStyle/>
          <a:p>
            <a:pPr algn="ctr"/>
            <a:r>
              <a:rPr lang="fr-FR" sz="1600" dirty="0">
                <a:solidFill>
                  <a:schemeClr val="bg1"/>
                </a:solidFill>
              </a:rPr>
              <a:t>Suivez-nous sur </a:t>
            </a:r>
            <a:r>
              <a:rPr lang="fr-FR" sz="1600" dirty="0" err="1">
                <a:solidFill>
                  <a:schemeClr val="bg1"/>
                </a:solidFill>
              </a:rPr>
              <a:t>LinkedIn</a:t>
            </a:r>
            <a:r>
              <a:rPr lang="fr-FR" sz="1600" dirty="0">
                <a:solidFill>
                  <a:schemeClr val="bg1"/>
                </a:solidFill>
              </a:rPr>
              <a:t>             </a:t>
            </a:r>
            <a:r>
              <a:rPr lang="fr-FR" sz="1600" dirty="0" err="1">
                <a:solidFill>
                  <a:schemeClr val="bg1"/>
                </a:solidFill>
              </a:rPr>
              <a:t>Twitter</a:t>
            </a:r>
            <a:r>
              <a:rPr lang="fr-FR" sz="1600" dirty="0">
                <a:solidFill>
                  <a:schemeClr val="bg1"/>
                </a:solidFill>
              </a:rPr>
              <a:t>       </a:t>
            </a:r>
            <a:r>
              <a:rPr lang="fr-FR" sz="1900" b="1" dirty="0">
                <a:solidFill>
                  <a:schemeClr val="bg1">
                    <a:lumMod val="95000"/>
                  </a:schemeClr>
                </a:solidFill>
              </a:rPr>
              <a:t>@</a:t>
            </a:r>
            <a:r>
              <a:rPr lang="fr-FR" sz="1900" b="1" dirty="0" err="1">
                <a:solidFill>
                  <a:schemeClr val="bg1">
                    <a:lumMod val="95000"/>
                  </a:schemeClr>
                </a:solidFill>
              </a:rPr>
              <a:t>Adrar_Numerique</a:t>
            </a:r>
            <a:r>
              <a:rPr lang="fr-FR" sz="1900" dirty="0">
                <a:solidFill>
                  <a:schemeClr val="bg1">
                    <a:lumMod val="95000"/>
                  </a:schemeClr>
                </a:solidFill>
              </a:rPr>
              <a:t>	… </a:t>
            </a:r>
            <a:r>
              <a:rPr lang="fr-FR" sz="1600" dirty="0">
                <a:solidFill>
                  <a:schemeClr val="bg1"/>
                </a:solidFill>
              </a:rPr>
              <a:t>et sur le web : </a:t>
            </a:r>
            <a:r>
              <a:rPr lang="fr-FR" sz="1900" b="1" dirty="0">
                <a:solidFill>
                  <a:schemeClr val="bg1">
                    <a:lumMod val="95000"/>
                  </a:schemeClr>
                </a:solidFill>
              </a:rPr>
              <a:t>www.adrar-numerique.com</a:t>
            </a:r>
          </a:p>
        </p:txBody>
      </p:sp>
      <p:pic>
        <p:nvPicPr>
          <p:cNvPr id="32" name="Image 3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4648" y="762261"/>
            <a:ext cx="266667" cy="253968"/>
          </a:xfrm>
          <a:prstGeom prst="rect">
            <a:avLst/>
          </a:prstGeom>
        </p:spPr>
      </p:pic>
      <p:pic>
        <p:nvPicPr>
          <p:cNvPr id="33" name="Image 32" descr="logo-linkedin.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99844" y="783165"/>
            <a:ext cx="285752" cy="285752"/>
          </a:xfrm>
          <a:prstGeom prst="rect">
            <a:avLst/>
          </a:prstGeom>
        </p:spPr>
      </p:pic>
      <p:grpSp>
        <p:nvGrpSpPr>
          <p:cNvPr id="34" name="Groupe 33"/>
          <p:cNvGrpSpPr/>
          <p:nvPr/>
        </p:nvGrpSpPr>
        <p:grpSpPr>
          <a:xfrm>
            <a:off x="70311" y="-41891"/>
            <a:ext cx="12056372" cy="746449"/>
            <a:chOff x="70311" y="-41891"/>
            <a:chExt cx="12056372" cy="746449"/>
          </a:xfrm>
        </p:grpSpPr>
        <p:grpSp>
          <p:nvGrpSpPr>
            <p:cNvPr id="35" name="Groupe 34"/>
            <p:cNvGrpSpPr/>
            <p:nvPr/>
          </p:nvGrpSpPr>
          <p:grpSpPr>
            <a:xfrm>
              <a:off x="70311" y="-41891"/>
              <a:ext cx="12056372" cy="746449"/>
              <a:chOff x="51808" y="-49564"/>
              <a:chExt cx="12056372" cy="746449"/>
            </a:xfrm>
          </p:grpSpPr>
          <p:pic>
            <p:nvPicPr>
              <p:cNvPr id="37" name="Image 36" descr="bien plus.jpg"/>
              <p:cNvPicPr>
                <a:picLocks noChangeAspect="1"/>
              </p:cNvPicPr>
              <p:nvPr/>
            </p:nvPicPr>
            <p:blipFill>
              <a:blip r:embed="rId6" cstate="print"/>
              <a:stretch>
                <a:fillRect/>
              </a:stretch>
            </p:blipFill>
            <p:spPr>
              <a:xfrm>
                <a:off x="4122599" y="228466"/>
                <a:ext cx="1289328" cy="364658"/>
              </a:xfrm>
              <a:prstGeom prst="rect">
                <a:avLst/>
              </a:prstGeom>
            </p:spPr>
          </p:pic>
          <p:pic>
            <p:nvPicPr>
              <p:cNvPr id="38" name="Image 37" descr="personnes-adrar-coul_1.jpg"/>
              <p:cNvPicPr>
                <a:picLocks noChangeAspect="1"/>
              </p:cNvPicPr>
              <p:nvPr/>
            </p:nvPicPr>
            <p:blipFill>
              <a:blip r:embed="rId7" cstate="print"/>
              <a:stretch>
                <a:fillRect/>
              </a:stretch>
            </p:blipFill>
            <p:spPr>
              <a:xfrm>
                <a:off x="5640032" y="95784"/>
                <a:ext cx="510617" cy="506565"/>
              </a:xfrm>
              <a:prstGeom prst="rect">
                <a:avLst/>
              </a:prstGeom>
            </p:spPr>
          </p:pic>
          <p:pic>
            <p:nvPicPr>
              <p:cNvPr id="39" name="Image 38" descr="personnes-adrar-coul_2.jpg"/>
              <p:cNvPicPr>
                <a:picLocks noChangeAspect="1"/>
              </p:cNvPicPr>
              <p:nvPr/>
            </p:nvPicPr>
            <p:blipFill>
              <a:blip r:embed="rId8" cstate="print"/>
              <a:stretch>
                <a:fillRect/>
              </a:stretch>
            </p:blipFill>
            <p:spPr>
              <a:xfrm>
                <a:off x="3441939" y="228467"/>
                <a:ext cx="346861" cy="352500"/>
              </a:xfrm>
              <a:prstGeom prst="rect">
                <a:avLst/>
              </a:prstGeom>
            </p:spPr>
          </p:pic>
          <p:pic>
            <p:nvPicPr>
              <p:cNvPr id="40" name="Image 39" descr="LOGO ADRAR 300dpi.jpg"/>
              <p:cNvPicPr>
                <a:picLocks noChangeAspect="1"/>
              </p:cNvPicPr>
              <p:nvPr/>
            </p:nvPicPr>
            <p:blipFill>
              <a:blip r:embed="rId9" cstate="print"/>
              <a:stretch>
                <a:fillRect/>
              </a:stretch>
            </p:blipFill>
            <p:spPr>
              <a:xfrm>
                <a:off x="51808" y="51259"/>
                <a:ext cx="432261" cy="574815"/>
              </a:xfrm>
              <a:prstGeom prst="rect">
                <a:avLst/>
              </a:prstGeom>
              <a:noFill/>
              <a:ln>
                <a:noFill/>
              </a:ln>
            </p:spPr>
          </p:pic>
          <p:pic>
            <p:nvPicPr>
              <p:cNvPr id="49" name="Image 48" descr="LOGO-ERN-GEN2017-1.png"/>
              <p:cNvPicPr>
                <a:picLocks noChangeAspect="1"/>
              </p:cNvPicPr>
              <p:nvPr/>
            </p:nvPicPr>
            <p:blipFill rotWithShape="1">
              <a:blip r:embed="rId10" cstate="print">
                <a:extLst>
                  <a:ext uri="{28A0092B-C50C-407E-A947-70E740481C1C}">
                    <a14:useLocalDpi xmlns:a14="http://schemas.microsoft.com/office/drawing/2010/main" val="0"/>
                  </a:ext>
                </a:extLst>
              </a:blip>
              <a:srcRect r="19245"/>
              <a:stretch/>
            </p:blipFill>
            <p:spPr>
              <a:xfrm>
                <a:off x="6708147" y="12191"/>
                <a:ext cx="2275425" cy="669355"/>
              </a:xfrm>
              <a:prstGeom prst="rect">
                <a:avLst/>
              </a:prstGeom>
            </p:spPr>
          </p:pic>
          <p:pic>
            <p:nvPicPr>
              <p:cNvPr id="50" name="Image 49" descr="redim-06.png"/>
              <p:cNvPicPr>
                <a:picLocks noChangeAspect="1"/>
              </p:cNvPicPr>
              <p:nvPr/>
            </p:nvPicPr>
            <p:blipFill rotWithShape="1">
              <a:blip r:embed="rId11" cstate="print">
                <a:extLst>
                  <a:ext uri="{28A0092B-C50C-407E-A947-70E740481C1C}">
                    <a14:useLocalDpi xmlns:a14="http://schemas.microsoft.com/office/drawing/2010/main" val="0"/>
                  </a:ext>
                </a:extLst>
              </a:blip>
              <a:srcRect t="28400" b="26267"/>
              <a:stretch/>
            </p:blipFill>
            <p:spPr>
              <a:xfrm>
                <a:off x="10739120" y="30480"/>
                <a:ext cx="1369060" cy="620641"/>
              </a:xfrm>
              <a:prstGeom prst="rect">
                <a:avLst/>
              </a:prstGeom>
            </p:spPr>
          </p:pic>
          <p:pic>
            <p:nvPicPr>
              <p:cNvPr id="51" name="Image 50"/>
              <p:cNvPicPr>
                <a:picLocks noChangeAspect="1"/>
              </p:cNvPicPr>
              <p:nvPr/>
            </p:nvPicPr>
            <p:blipFill rotWithShape="1">
              <a:blip r:embed="rId12" cstate="print">
                <a:extLst>
                  <a:ext uri="{28A0092B-C50C-407E-A947-70E740481C1C}">
                    <a14:useLocalDpi xmlns:a14="http://schemas.microsoft.com/office/drawing/2010/main" val="0"/>
                  </a:ext>
                </a:extLst>
              </a:blip>
              <a:srcRect l="16802" t="22888" r="16244" b="27236"/>
              <a:stretch/>
            </p:blipFill>
            <p:spPr>
              <a:xfrm>
                <a:off x="8974241" y="-49564"/>
                <a:ext cx="1502229" cy="746449"/>
              </a:xfrm>
              <a:prstGeom prst="rect">
                <a:avLst/>
              </a:prstGeom>
            </p:spPr>
          </p:pic>
        </p:grpSp>
        <p:pic>
          <p:nvPicPr>
            <p:cNvPr id="36" name="Image 35"/>
            <p:cNvPicPr>
              <a:picLocks noChangeAspect="1"/>
            </p:cNvPicPr>
            <p:nvPr/>
          </p:nvPicPr>
          <p:blipFill rotWithShape="1">
            <a:blip r:embed="rId13">
              <a:extLst>
                <a:ext uri="{28A0092B-C50C-407E-A947-70E740481C1C}">
                  <a14:useLocalDpi xmlns:a14="http://schemas.microsoft.com/office/drawing/2010/main" val="0"/>
                </a:ext>
              </a:extLst>
            </a:blip>
            <a:srcRect t="22863" b="24898"/>
            <a:stretch/>
          </p:blipFill>
          <p:spPr>
            <a:xfrm>
              <a:off x="680899" y="90649"/>
              <a:ext cx="2612643" cy="537329"/>
            </a:xfrm>
            <a:prstGeom prst="rect">
              <a:avLst/>
            </a:prstGeom>
          </p:spPr>
        </p:pic>
      </p:grpSp>
      <p:sp>
        <p:nvSpPr>
          <p:cNvPr id="18" name="ZoneTexte 17"/>
          <p:cNvSpPr txBox="1"/>
          <p:nvPr/>
        </p:nvSpPr>
        <p:spPr>
          <a:xfrm>
            <a:off x="155643" y="1400783"/>
            <a:ext cx="11488366" cy="646331"/>
          </a:xfrm>
          <a:prstGeom prst="rect">
            <a:avLst/>
          </a:prstGeom>
          <a:noFill/>
        </p:spPr>
        <p:txBody>
          <a:bodyPr wrap="square" rtlCol="0">
            <a:spAutoFit/>
          </a:bodyPr>
          <a:lstStyle/>
          <a:p>
            <a:r>
              <a:rPr lang="fr-FR" dirty="0" smtClean="0"/>
              <a:t>Nos vues et nos </a:t>
            </a:r>
            <a:r>
              <a:rPr lang="fr-FR" dirty="0" err="1" smtClean="0"/>
              <a:t>templates</a:t>
            </a:r>
            <a:r>
              <a:rPr lang="fr-FR" dirty="0" smtClean="0"/>
              <a:t> fonctionnent en l’état mais le fait d’avoir notre url en dur dans le code de nos pages html peut se retrouver fastidieux à modifier lorsqu’on se retrouve avec beaucoup de pages.</a:t>
            </a:r>
            <a:endParaRPr lang="fr-FR" dirty="0"/>
          </a:p>
        </p:txBody>
      </p:sp>
      <p:pic>
        <p:nvPicPr>
          <p:cNvPr id="19" name="Image 18"/>
          <p:cNvPicPr>
            <a:picLocks noChangeAspect="1"/>
          </p:cNvPicPr>
          <p:nvPr/>
        </p:nvPicPr>
        <p:blipFill rotWithShape="1">
          <a:blip r:embed="rId14"/>
          <a:srcRect l="18642" t="41837" r="-18642" b="49855"/>
          <a:stretch/>
        </p:blipFill>
        <p:spPr>
          <a:xfrm>
            <a:off x="241037" y="2149812"/>
            <a:ext cx="7467600" cy="288000"/>
          </a:xfrm>
          <a:prstGeom prst="rect">
            <a:avLst/>
          </a:prstGeom>
        </p:spPr>
      </p:pic>
      <p:sp>
        <p:nvSpPr>
          <p:cNvPr id="20" name="ZoneTexte 19"/>
          <p:cNvSpPr txBox="1"/>
          <p:nvPr/>
        </p:nvSpPr>
        <p:spPr>
          <a:xfrm>
            <a:off x="232406" y="2604517"/>
            <a:ext cx="11488366" cy="923330"/>
          </a:xfrm>
          <a:prstGeom prst="rect">
            <a:avLst/>
          </a:prstGeom>
          <a:noFill/>
        </p:spPr>
        <p:txBody>
          <a:bodyPr wrap="square" rtlCol="0">
            <a:spAutoFit/>
          </a:bodyPr>
          <a:lstStyle/>
          <a:p>
            <a:r>
              <a:rPr lang="fr-FR" dirty="0" smtClean="0"/>
              <a:t>Pour palier à ca </a:t>
            </a:r>
            <a:r>
              <a:rPr lang="fr-FR" dirty="0" err="1" smtClean="0"/>
              <a:t>django</a:t>
            </a:r>
            <a:r>
              <a:rPr lang="fr-FR" dirty="0" smtClean="0"/>
              <a:t> permet de modifier la syntaxe en faisant des références à notre page d’url en créant des espaces de noms pour nos applications. Voici a quoi cette modification ressemble dans notre script </a:t>
            </a:r>
            <a:r>
              <a:rPr lang="fr-FR" i="1" dirty="0" smtClean="0"/>
              <a:t>urls.py</a:t>
            </a:r>
            <a:r>
              <a:rPr lang="fr-FR" dirty="0" smtClean="0"/>
              <a:t> ainsi que dans notre code html.</a:t>
            </a:r>
            <a:endParaRPr lang="fr-FR" dirty="0"/>
          </a:p>
        </p:txBody>
      </p:sp>
      <p:pic>
        <p:nvPicPr>
          <p:cNvPr id="2" name="Image 1"/>
          <p:cNvPicPr>
            <a:picLocks noChangeAspect="1"/>
          </p:cNvPicPr>
          <p:nvPr/>
        </p:nvPicPr>
        <p:blipFill>
          <a:blip r:embed="rId15"/>
          <a:stretch>
            <a:fillRect/>
          </a:stretch>
        </p:blipFill>
        <p:spPr>
          <a:xfrm>
            <a:off x="241037" y="3895318"/>
            <a:ext cx="6124575" cy="1866900"/>
          </a:xfrm>
          <a:prstGeom prst="rect">
            <a:avLst/>
          </a:prstGeom>
        </p:spPr>
      </p:pic>
      <p:pic>
        <p:nvPicPr>
          <p:cNvPr id="3" name="Image 2"/>
          <p:cNvPicPr>
            <a:picLocks noChangeAspect="1"/>
          </p:cNvPicPr>
          <p:nvPr/>
        </p:nvPicPr>
        <p:blipFill>
          <a:blip r:embed="rId16"/>
          <a:stretch>
            <a:fillRect/>
          </a:stretch>
        </p:blipFill>
        <p:spPr>
          <a:xfrm>
            <a:off x="243120" y="3560968"/>
            <a:ext cx="7019925" cy="238125"/>
          </a:xfrm>
          <a:prstGeom prst="rect">
            <a:avLst/>
          </a:prstGeom>
        </p:spPr>
      </p:pic>
      <p:sp>
        <p:nvSpPr>
          <p:cNvPr id="24" name="ZoneTexte 23"/>
          <p:cNvSpPr txBox="1"/>
          <p:nvPr/>
        </p:nvSpPr>
        <p:spPr>
          <a:xfrm>
            <a:off x="7354110" y="3435757"/>
            <a:ext cx="4520314" cy="1200329"/>
          </a:xfrm>
          <a:prstGeom prst="rect">
            <a:avLst/>
          </a:prstGeom>
          <a:noFill/>
        </p:spPr>
        <p:txBody>
          <a:bodyPr wrap="square" rtlCol="0">
            <a:spAutoFit/>
          </a:bodyPr>
          <a:lstStyle/>
          <a:p>
            <a:r>
              <a:rPr lang="fr-FR" i="1" dirty="0" smtClean="0"/>
              <a:t>sondage</a:t>
            </a:r>
            <a:r>
              <a:rPr lang="fr-FR" dirty="0" smtClean="0"/>
              <a:t> ici fait référence à l’espace de nom définit dans la variable </a:t>
            </a:r>
            <a:r>
              <a:rPr lang="fr-FR" i="1" dirty="0" err="1" smtClean="0"/>
              <a:t>app_name</a:t>
            </a:r>
            <a:r>
              <a:rPr lang="fr-FR" dirty="0" smtClean="0"/>
              <a:t> de notre fichier </a:t>
            </a:r>
            <a:r>
              <a:rPr lang="fr-FR" i="1" dirty="0" smtClean="0"/>
              <a:t>urls.py</a:t>
            </a:r>
            <a:r>
              <a:rPr lang="fr-FR" dirty="0" smtClean="0"/>
              <a:t> et </a:t>
            </a:r>
            <a:r>
              <a:rPr lang="fr-FR" i="1" dirty="0" err="1" smtClean="0"/>
              <a:t>detail</a:t>
            </a:r>
            <a:r>
              <a:rPr lang="fr-FR" dirty="0" smtClean="0"/>
              <a:t> fais référence au paramètre </a:t>
            </a:r>
            <a:r>
              <a:rPr lang="fr-FR" i="1" dirty="0" err="1" smtClean="0"/>
              <a:t>name</a:t>
            </a:r>
            <a:r>
              <a:rPr lang="fr-FR" dirty="0" smtClean="0"/>
              <a:t> renseigné dans notre </a:t>
            </a:r>
            <a:r>
              <a:rPr lang="fr-FR" dirty="0" err="1" smtClean="0"/>
              <a:t>path</a:t>
            </a:r>
            <a:r>
              <a:rPr lang="fr-FR" dirty="0" smtClean="0"/>
              <a:t>.</a:t>
            </a:r>
            <a:endParaRPr lang="fr-FR" i="1" dirty="0"/>
          </a:p>
        </p:txBody>
      </p:sp>
    </p:spTree>
    <p:extLst>
      <p:ext uri="{BB962C8B-B14F-4D97-AF65-F5344CB8AC3E}">
        <p14:creationId xmlns:p14="http://schemas.microsoft.com/office/powerpoint/2010/main" val="2875072170"/>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4678</TotalTime>
  <Words>1086</Words>
  <Application>Microsoft Office PowerPoint</Application>
  <PresentationFormat>Grand écran</PresentationFormat>
  <Paragraphs>66</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chretienne jerome</dc:creator>
  <cp:lastModifiedBy>Maxime PRZYBYLO</cp:lastModifiedBy>
  <cp:revision>329</cp:revision>
  <dcterms:created xsi:type="dcterms:W3CDTF">2016-05-20T16:12:03Z</dcterms:created>
  <dcterms:modified xsi:type="dcterms:W3CDTF">2022-03-16T20:11:18Z</dcterms:modified>
</cp:coreProperties>
</file>