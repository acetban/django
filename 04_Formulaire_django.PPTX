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75" r:id="rId2"/>
    <p:sldId id="315" r:id="rId3"/>
    <p:sldId id="317" r:id="rId4"/>
    <p:sldId id="318" r:id="rId5"/>
    <p:sldId id="320" r:id="rId6"/>
    <p:sldId id="319" r:id="rId7"/>
    <p:sldId id="321" r:id="rId8"/>
    <p:sldId id="322" r:id="rId9"/>
  </p:sldIdLst>
  <p:sldSz cx="12192000" cy="6858000"/>
  <p:notesSz cx="6808788" cy="9940925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axime PRZYBYLO" initials="MP" lastIdx="2" clrIdx="0">
    <p:extLst>
      <p:ext uri="{19B8F6BF-5375-455C-9EA6-DF929625EA0E}">
        <p15:presenceInfo xmlns:p15="http://schemas.microsoft.com/office/powerpoint/2012/main" userId="Maxime PRZYBYLO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A2F1"/>
    <a:srgbClr val="D5D5D5"/>
    <a:srgbClr val="A162D0"/>
    <a:srgbClr val="FFFBF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66" autoAdjust="0"/>
    <p:restoredTop sz="90909" autoAdjust="0"/>
  </p:normalViewPr>
  <p:slideViewPr>
    <p:cSldViewPr snapToGrid="0">
      <p:cViewPr varScale="1">
        <p:scale>
          <a:sx n="80" d="100"/>
          <a:sy n="80" d="100"/>
        </p:scale>
        <p:origin x="739" y="4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50475" cy="49704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56737" y="0"/>
            <a:ext cx="2950475" cy="49704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C17683B-26D8-724E-89B0-02249384450D}" type="datetimeFigureOut">
              <a:rPr lang="fr-FR" smtClean="0"/>
              <a:t>13/03/2022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92075" y="746125"/>
            <a:ext cx="6624638" cy="3727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0879" y="4721940"/>
            <a:ext cx="5447030" cy="4473416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9442154"/>
            <a:ext cx="2950475" cy="49704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56737" y="9442154"/>
            <a:ext cx="2950475" cy="49704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0B64375-EE74-1B43-ADD9-C3016E9127A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813035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B64375-EE74-1B43-ADD9-C3016E9127A8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217122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 smtClean="0"/>
              <a:t>Django est un </a:t>
            </a:r>
            <a:r>
              <a:rPr lang="fr-FR" dirty="0" err="1" smtClean="0"/>
              <a:t>framework</a:t>
            </a:r>
            <a:r>
              <a:rPr lang="fr-FR" dirty="0" smtClean="0"/>
              <a:t> web gratuit et open source écrit</a:t>
            </a:r>
            <a:r>
              <a:rPr lang="fr-FR" baseline="0" dirty="0" smtClean="0"/>
              <a:t> en python. </a:t>
            </a:r>
            <a:r>
              <a:rPr lang="fr-FR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 </a:t>
            </a:r>
            <a:r>
              <a:rPr lang="fr-FR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framework</a:t>
            </a:r>
            <a:r>
              <a:rPr lang="fr-FR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web est un ensemble de composants qui vous aide à développer des sites web plus rapidement et plus facilement. Cela permet de ne</a:t>
            </a:r>
            <a:r>
              <a:rPr lang="fr-FR" sz="1200" b="0" i="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pas avoir à </a:t>
            </a:r>
            <a:r>
              <a:rPr lang="fr-FR" sz="1200" b="0" i="0" kern="1200" baseline="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</a:t>
            </a:r>
            <a:r>
              <a:rPr lang="fr-FR" sz="1200" b="0" i="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coder la roue, mais d’utiliser les outils du </a:t>
            </a:r>
            <a:r>
              <a:rPr lang="fr-FR" sz="1200" b="0" i="0" kern="1200" baseline="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framework</a:t>
            </a:r>
            <a:r>
              <a:rPr lang="fr-FR" sz="1200" b="0" i="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pour le faire.</a:t>
            </a:r>
            <a:endParaRPr lang="fr-FR" dirty="0" smtClean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B64375-EE74-1B43-ADD9-C3016E9127A8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5496379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B64375-EE74-1B43-ADD9-C3016E9127A8}" type="slidenum">
              <a:rPr lang="fr-FR" smtClean="0"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2207759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B64375-EE74-1B43-ADD9-C3016E9127A8}" type="slidenum">
              <a:rPr lang="fr-FR" smtClean="0"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8828749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B64375-EE74-1B43-ADD9-C3016E9127A8}" type="slidenum">
              <a:rPr lang="fr-FR" smtClean="0"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801272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B64375-EE74-1B43-ADD9-C3016E9127A8}" type="slidenum">
              <a:rPr lang="fr-FR" smtClean="0"/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1711265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B64375-EE74-1B43-ADD9-C3016E9127A8}" type="slidenum">
              <a:rPr lang="fr-FR" smtClean="0"/>
              <a:t>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5739766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B64375-EE74-1B43-ADD9-C3016E9127A8}" type="slidenum">
              <a:rPr lang="fr-FR" smtClean="0"/>
              <a:t>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266543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C091AA-3F0C-4182-9D7B-1EB634D8256B}" type="datetimeFigureOut">
              <a:rPr lang="fr-FR" smtClean="0"/>
              <a:t>13/03/2022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5B0E8-7D99-4688-B6D3-8DC5133195E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964555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C091AA-3F0C-4182-9D7B-1EB634D8256B}" type="datetimeFigureOut">
              <a:rPr lang="fr-FR" smtClean="0"/>
              <a:t>13/03/2022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5B0E8-7D99-4688-B6D3-8DC5133195E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423292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C091AA-3F0C-4182-9D7B-1EB634D8256B}" type="datetimeFigureOut">
              <a:rPr lang="fr-FR" smtClean="0"/>
              <a:t>13/03/2022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5B0E8-7D99-4688-B6D3-8DC5133195E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779811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C091AA-3F0C-4182-9D7B-1EB634D8256B}" type="datetimeFigureOut">
              <a:rPr lang="fr-FR" smtClean="0"/>
              <a:t>13/03/2022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5B0E8-7D99-4688-B6D3-8DC5133195E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777411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C091AA-3F0C-4182-9D7B-1EB634D8256B}" type="datetimeFigureOut">
              <a:rPr lang="fr-FR" smtClean="0"/>
              <a:t>13/03/2022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5B0E8-7D99-4688-B6D3-8DC5133195E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596918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C091AA-3F0C-4182-9D7B-1EB634D8256B}" type="datetimeFigureOut">
              <a:rPr lang="fr-FR" smtClean="0"/>
              <a:t>13/03/2022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5B0E8-7D99-4688-B6D3-8DC5133195E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024901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C091AA-3F0C-4182-9D7B-1EB634D8256B}" type="datetimeFigureOut">
              <a:rPr lang="fr-FR" smtClean="0"/>
              <a:t>13/03/2022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5B0E8-7D99-4688-B6D3-8DC5133195E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010269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C091AA-3F0C-4182-9D7B-1EB634D8256B}" type="datetimeFigureOut">
              <a:rPr lang="fr-FR" smtClean="0"/>
              <a:t>13/03/2022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5B0E8-7D99-4688-B6D3-8DC5133195E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680892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C091AA-3F0C-4182-9D7B-1EB634D8256B}" type="datetimeFigureOut">
              <a:rPr lang="fr-FR" smtClean="0"/>
              <a:t>13/03/2022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5B0E8-7D99-4688-B6D3-8DC5133195E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416837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C091AA-3F0C-4182-9D7B-1EB634D8256B}" type="datetimeFigureOut">
              <a:rPr lang="fr-FR" smtClean="0"/>
              <a:t>13/03/2022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5B0E8-7D99-4688-B6D3-8DC5133195E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311574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C091AA-3F0C-4182-9D7B-1EB634D8256B}" type="datetimeFigureOut">
              <a:rPr lang="fr-FR" smtClean="0"/>
              <a:t>13/03/2022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5B0E8-7D99-4688-B6D3-8DC5133195E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905484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1">
                <a:lumMod val="85000"/>
              </a:schemeClr>
            </a:gs>
            <a:gs pos="100000">
              <a:schemeClr val="tx1">
                <a:lumMod val="65000"/>
                <a:lumOff val="35000"/>
              </a:schemeClr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C091AA-3F0C-4182-9D7B-1EB634D8256B}" type="datetimeFigureOut">
              <a:rPr lang="fr-FR" smtClean="0"/>
              <a:t>13/03/2022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25B0E8-7D99-4688-B6D3-8DC5133195E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557229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eg"/><Relationship Id="rId13" Type="http://schemas.openxmlformats.org/officeDocument/2006/relationships/image" Target="../media/image11.png"/><Relationship Id="rId3" Type="http://schemas.openxmlformats.org/officeDocument/2006/relationships/image" Target="../media/image1.jpg"/><Relationship Id="rId7" Type="http://schemas.openxmlformats.org/officeDocument/2006/relationships/image" Target="../media/image5.jpe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e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jpe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eg"/><Relationship Id="rId13" Type="http://schemas.openxmlformats.org/officeDocument/2006/relationships/image" Target="../media/image11.png"/><Relationship Id="rId3" Type="http://schemas.openxmlformats.org/officeDocument/2006/relationships/image" Target="../media/image12.png"/><Relationship Id="rId7" Type="http://schemas.openxmlformats.org/officeDocument/2006/relationships/image" Target="../media/image5.jpe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e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jpeg"/><Relationship Id="rId14" Type="http://schemas.openxmlformats.org/officeDocument/2006/relationships/image" Target="../media/image1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eg"/><Relationship Id="rId13" Type="http://schemas.openxmlformats.org/officeDocument/2006/relationships/image" Target="../media/image11.png"/><Relationship Id="rId3" Type="http://schemas.openxmlformats.org/officeDocument/2006/relationships/image" Target="../media/image12.png"/><Relationship Id="rId7" Type="http://schemas.openxmlformats.org/officeDocument/2006/relationships/image" Target="../media/image5.jpe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e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jpe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eg"/><Relationship Id="rId13" Type="http://schemas.openxmlformats.org/officeDocument/2006/relationships/image" Target="../media/image11.png"/><Relationship Id="rId3" Type="http://schemas.openxmlformats.org/officeDocument/2006/relationships/image" Target="../media/image12.png"/><Relationship Id="rId7" Type="http://schemas.openxmlformats.org/officeDocument/2006/relationships/image" Target="../media/image5.jpe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e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jpeg"/><Relationship Id="rId1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eg"/><Relationship Id="rId13" Type="http://schemas.openxmlformats.org/officeDocument/2006/relationships/image" Target="../media/image11.png"/><Relationship Id="rId3" Type="http://schemas.openxmlformats.org/officeDocument/2006/relationships/image" Target="../media/image12.png"/><Relationship Id="rId7" Type="http://schemas.openxmlformats.org/officeDocument/2006/relationships/image" Target="../media/image5.jpe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e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5" Type="http://schemas.openxmlformats.org/officeDocument/2006/relationships/image" Target="../media/image16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jpeg"/><Relationship Id="rId1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eg"/><Relationship Id="rId13" Type="http://schemas.openxmlformats.org/officeDocument/2006/relationships/image" Target="../media/image11.png"/><Relationship Id="rId3" Type="http://schemas.openxmlformats.org/officeDocument/2006/relationships/image" Target="../media/image12.png"/><Relationship Id="rId7" Type="http://schemas.openxmlformats.org/officeDocument/2006/relationships/image" Target="../media/image5.jpe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e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5" Type="http://schemas.openxmlformats.org/officeDocument/2006/relationships/image" Target="../media/image18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jpeg"/><Relationship Id="rId1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eg"/><Relationship Id="rId13" Type="http://schemas.openxmlformats.org/officeDocument/2006/relationships/image" Target="../media/image11.png"/><Relationship Id="rId3" Type="http://schemas.openxmlformats.org/officeDocument/2006/relationships/image" Target="../media/image12.png"/><Relationship Id="rId7" Type="http://schemas.openxmlformats.org/officeDocument/2006/relationships/image" Target="../media/image5.jpe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e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5" Type="http://schemas.openxmlformats.org/officeDocument/2006/relationships/image" Target="../media/image20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jpeg"/><Relationship Id="rId1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eg"/><Relationship Id="rId13" Type="http://schemas.openxmlformats.org/officeDocument/2006/relationships/image" Target="../media/image11.png"/><Relationship Id="rId3" Type="http://schemas.openxmlformats.org/officeDocument/2006/relationships/image" Target="../media/image12.png"/><Relationship Id="rId7" Type="http://schemas.openxmlformats.org/officeDocument/2006/relationships/image" Target="../media/image5.jpe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e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jpeg"/><Relationship Id="rId14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344"/>
          <a:stretch/>
        </p:blipFill>
        <p:spPr>
          <a:xfrm>
            <a:off x="-1" y="1161751"/>
            <a:ext cx="12247963" cy="5696249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0" y="675503"/>
            <a:ext cx="12198786" cy="478582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" name="ZoneTexte 17"/>
          <p:cNvSpPr txBox="1"/>
          <p:nvPr/>
        </p:nvSpPr>
        <p:spPr>
          <a:xfrm>
            <a:off x="0" y="696885"/>
            <a:ext cx="121987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 smtClean="0">
                <a:solidFill>
                  <a:schemeClr val="bg1"/>
                </a:solidFill>
              </a:rPr>
              <a:t>Présentation ADRAR Pôle Numérique</a:t>
            </a:r>
            <a:endParaRPr lang="fr-FR" dirty="0">
              <a:solidFill>
                <a:schemeClr val="bg1"/>
              </a:solidFill>
            </a:endParaRPr>
          </a:p>
        </p:txBody>
      </p:sp>
      <p:sp>
        <p:nvSpPr>
          <p:cNvPr id="40" name="ZoneTexte 39"/>
          <p:cNvSpPr txBox="1"/>
          <p:nvPr/>
        </p:nvSpPr>
        <p:spPr>
          <a:xfrm>
            <a:off x="6456211" y="1313092"/>
            <a:ext cx="415188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solidFill>
                  <a:schemeClr val="bg1"/>
                </a:solidFill>
              </a:rPr>
              <a:t>Suivez-nous… </a:t>
            </a:r>
            <a:r>
              <a:rPr lang="fr-FR" sz="1000" dirty="0" smtClean="0">
                <a:solidFill>
                  <a:schemeClr val="bg1"/>
                </a:solidFill>
              </a:rPr>
              <a:t>LinkedIn            et Twitter           </a:t>
            </a:r>
            <a:r>
              <a:rPr lang="fr-FR" sz="1000" b="1" dirty="0" smtClean="0">
                <a:solidFill>
                  <a:schemeClr val="bg1">
                    <a:lumMod val="95000"/>
                  </a:schemeClr>
                </a:solidFill>
              </a:rPr>
              <a:t>@</a:t>
            </a:r>
            <a:r>
              <a:rPr lang="fr-FR" sz="1000" b="1" dirty="0" err="1">
                <a:solidFill>
                  <a:schemeClr val="bg1">
                    <a:lumMod val="95000"/>
                  </a:schemeClr>
                </a:solidFill>
              </a:rPr>
              <a:t>Adrar_Numerique</a:t>
            </a:r>
            <a:endParaRPr lang="fr-FR" sz="1000" b="1" dirty="0">
              <a:solidFill>
                <a:schemeClr val="bg1">
                  <a:lumMod val="95000"/>
                </a:schemeClr>
              </a:solidFill>
            </a:endParaRPr>
          </a:p>
        </p:txBody>
      </p:sp>
      <p:pic>
        <p:nvPicPr>
          <p:cNvPr id="41" name="Image 4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79541" y="1320857"/>
            <a:ext cx="228243" cy="217374"/>
          </a:xfrm>
          <a:prstGeom prst="rect">
            <a:avLst/>
          </a:prstGeom>
        </p:spPr>
      </p:pic>
      <p:pic>
        <p:nvPicPr>
          <p:cNvPr id="42" name="Image 41" descr="logo-linkedin.png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7911" y="1344858"/>
            <a:ext cx="169371" cy="169371"/>
          </a:xfrm>
          <a:prstGeom prst="rect">
            <a:avLst/>
          </a:prstGeom>
        </p:spPr>
      </p:pic>
      <p:grpSp>
        <p:nvGrpSpPr>
          <p:cNvPr id="5" name="Groupe 4"/>
          <p:cNvGrpSpPr/>
          <p:nvPr/>
        </p:nvGrpSpPr>
        <p:grpSpPr>
          <a:xfrm>
            <a:off x="70311" y="-41891"/>
            <a:ext cx="12056372" cy="746449"/>
            <a:chOff x="70311" y="-41891"/>
            <a:chExt cx="12056372" cy="746449"/>
          </a:xfrm>
        </p:grpSpPr>
        <p:grpSp>
          <p:nvGrpSpPr>
            <p:cNvPr id="16" name="Groupe 15"/>
            <p:cNvGrpSpPr/>
            <p:nvPr/>
          </p:nvGrpSpPr>
          <p:grpSpPr>
            <a:xfrm>
              <a:off x="70311" y="-41891"/>
              <a:ext cx="12056372" cy="746449"/>
              <a:chOff x="51808" y="-49564"/>
              <a:chExt cx="12056372" cy="746449"/>
            </a:xfrm>
          </p:grpSpPr>
          <p:pic>
            <p:nvPicPr>
              <p:cNvPr id="19" name="Image 18" descr="bien plus.jpg"/>
              <p:cNvPicPr>
                <a:picLocks noChangeAspect="1"/>
              </p:cNvPicPr>
              <p:nvPr/>
            </p:nvPicPr>
            <p:blipFill>
              <a:blip r:embed="rId6" cstate="print"/>
              <a:stretch>
                <a:fillRect/>
              </a:stretch>
            </p:blipFill>
            <p:spPr>
              <a:xfrm>
                <a:off x="4122599" y="228466"/>
                <a:ext cx="1289328" cy="364658"/>
              </a:xfrm>
              <a:prstGeom prst="rect">
                <a:avLst/>
              </a:prstGeom>
            </p:spPr>
          </p:pic>
          <p:pic>
            <p:nvPicPr>
              <p:cNvPr id="20" name="Image 19" descr="personnes-adrar-coul_1.jpg"/>
              <p:cNvPicPr>
                <a:picLocks noChangeAspect="1"/>
              </p:cNvPicPr>
              <p:nvPr/>
            </p:nvPicPr>
            <p:blipFill>
              <a:blip r:embed="rId7" cstate="print"/>
              <a:stretch>
                <a:fillRect/>
              </a:stretch>
            </p:blipFill>
            <p:spPr>
              <a:xfrm>
                <a:off x="5640032" y="95784"/>
                <a:ext cx="510617" cy="506565"/>
              </a:xfrm>
              <a:prstGeom prst="rect">
                <a:avLst/>
              </a:prstGeom>
            </p:spPr>
          </p:pic>
          <p:pic>
            <p:nvPicPr>
              <p:cNvPr id="21" name="Image 20" descr="personnes-adrar-coul_2.jpg"/>
              <p:cNvPicPr>
                <a:picLocks noChangeAspect="1"/>
              </p:cNvPicPr>
              <p:nvPr/>
            </p:nvPicPr>
            <p:blipFill>
              <a:blip r:embed="rId8" cstate="print"/>
              <a:stretch>
                <a:fillRect/>
              </a:stretch>
            </p:blipFill>
            <p:spPr>
              <a:xfrm>
                <a:off x="3441939" y="228467"/>
                <a:ext cx="346861" cy="352500"/>
              </a:xfrm>
              <a:prstGeom prst="rect">
                <a:avLst/>
              </a:prstGeom>
            </p:spPr>
          </p:pic>
          <p:pic>
            <p:nvPicPr>
              <p:cNvPr id="22" name="Image 21" descr="LOGO ADRAR 300dpi.jpg"/>
              <p:cNvPicPr>
                <a:picLocks noChangeAspect="1"/>
              </p:cNvPicPr>
              <p:nvPr/>
            </p:nvPicPr>
            <p:blipFill>
              <a:blip r:embed="rId9" cstate="print"/>
              <a:stretch>
                <a:fillRect/>
              </a:stretch>
            </p:blipFill>
            <p:spPr>
              <a:xfrm>
                <a:off x="51808" y="51259"/>
                <a:ext cx="432261" cy="57481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4" name="Image 23" descr="LOGO-ERN-GEN2017-1.png"/>
              <p:cNvPicPr>
                <a:picLocks noChangeAspect="1"/>
              </p:cNvPicPr>
              <p:nvPr/>
            </p:nvPicPr>
            <p:blipFill rotWithShape="1">
              <a:blip r:embed="rId10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r="19245"/>
              <a:stretch/>
            </p:blipFill>
            <p:spPr>
              <a:xfrm>
                <a:off x="6708147" y="12191"/>
                <a:ext cx="2275425" cy="669355"/>
              </a:xfrm>
              <a:prstGeom prst="rect">
                <a:avLst/>
              </a:prstGeom>
            </p:spPr>
          </p:pic>
          <p:pic>
            <p:nvPicPr>
              <p:cNvPr id="25" name="Image 24" descr="redim-06.png"/>
              <p:cNvPicPr>
                <a:picLocks noChangeAspect="1"/>
              </p:cNvPicPr>
              <p:nvPr/>
            </p:nvPicPr>
            <p:blipFill rotWithShape="1">
              <a:blip r:embed="rId11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28400" b="26267"/>
              <a:stretch/>
            </p:blipFill>
            <p:spPr>
              <a:xfrm>
                <a:off x="10739120" y="30480"/>
                <a:ext cx="1369060" cy="620641"/>
              </a:xfrm>
              <a:prstGeom prst="rect">
                <a:avLst/>
              </a:prstGeom>
            </p:spPr>
          </p:pic>
          <p:pic>
            <p:nvPicPr>
              <p:cNvPr id="26" name="Image 25"/>
              <p:cNvPicPr>
                <a:picLocks noChangeAspect="1"/>
              </p:cNvPicPr>
              <p:nvPr/>
            </p:nvPicPr>
            <p:blipFill rotWithShape="1">
              <a:blip r:embed="rId1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6802" t="22888" r="16244" b="27236"/>
              <a:stretch/>
            </p:blipFill>
            <p:spPr>
              <a:xfrm>
                <a:off x="8974241" y="-49564"/>
                <a:ext cx="1502229" cy="746449"/>
              </a:xfrm>
              <a:prstGeom prst="rect">
                <a:avLst/>
              </a:prstGeom>
            </p:spPr>
          </p:pic>
        </p:grpSp>
        <p:pic>
          <p:nvPicPr>
            <p:cNvPr id="4" name="Image 3"/>
            <p:cNvPicPr>
              <a:picLocks noChangeAspect="1"/>
            </p:cNvPicPr>
            <p:nvPr/>
          </p:nvPicPr>
          <p:blipFill rotWithShape="1"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2863" b="24898"/>
            <a:stretch/>
          </p:blipFill>
          <p:spPr>
            <a:xfrm>
              <a:off x="680899" y="90649"/>
              <a:ext cx="2612643" cy="53732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8234442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/>
          <p:nvPr/>
        </p:nvSpPr>
        <p:spPr>
          <a:xfrm>
            <a:off x="0" y="675503"/>
            <a:ext cx="12198786" cy="478582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22" name="Image 2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2202" y="6540326"/>
            <a:ext cx="253968" cy="253968"/>
          </a:xfrm>
          <a:prstGeom prst="rect">
            <a:avLst/>
          </a:prstGeom>
        </p:spPr>
      </p:pic>
      <p:sp>
        <p:nvSpPr>
          <p:cNvPr id="23" name="ZoneTexte 22"/>
          <p:cNvSpPr txBox="1"/>
          <p:nvPr/>
        </p:nvSpPr>
        <p:spPr>
          <a:xfrm>
            <a:off x="5216109" y="6532276"/>
            <a:ext cx="26647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ADRAR Pôle Numérique Occitanie</a:t>
            </a:r>
            <a:endParaRPr lang="fr-FR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1" name="ZoneTexte 30"/>
          <p:cNvSpPr txBox="1"/>
          <p:nvPr/>
        </p:nvSpPr>
        <p:spPr>
          <a:xfrm>
            <a:off x="0" y="696885"/>
            <a:ext cx="12198786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600" dirty="0">
                <a:solidFill>
                  <a:schemeClr val="bg1"/>
                </a:solidFill>
              </a:rPr>
              <a:t>Suivez-nous sur </a:t>
            </a:r>
            <a:r>
              <a:rPr lang="fr-FR" sz="1600" dirty="0" err="1">
                <a:solidFill>
                  <a:schemeClr val="bg1"/>
                </a:solidFill>
              </a:rPr>
              <a:t>LinkedIn</a:t>
            </a:r>
            <a:r>
              <a:rPr lang="fr-FR" sz="1600" dirty="0">
                <a:solidFill>
                  <a:schemeClr val="bg1"/>
                </a:solidFill>
              </a:rPr>
              <a:t>             </a:t>
            </a:r>
            <a:r>
              <a:rPr lang="fr-FR" sz="1600" dirty="0" err="1">
                <a:solidFill>
                  <a:schemeClr val="bg1"/>
                </a:solidFill>
              </a:rPr>
              <a:t>Twitter</a:t>
            </a:r>
            <a:r>
              <a:rPr lang="fr-FR" sz="1600" dirty="0">
                <a:solidFill>
                  <a:schemeClr val="bg1"/>
                </a:solidFill>
              </a:rPr>
              <a:t>       </a:t>
            </a:r>
            <a:r>
              <a:rPr lang="fr-FR" sz="1900" b="1" dirty="0">
                <a:solidFill>
                  <a:schemeClr val="bg1">
                    <a:lumMod val="95000"/>
                  </a:schemeClr>
                </a:solidFill>
              </a:rPr>
              <a:t>@</a:t>
            </a:r>
            <a:r>
              <a:rPr lang="fr-FR" sz="1900" b="1" dirty="0" err="1">
                <a:solidFill>
                  <a:schemeClr val="bg1">
                    <a:lumMod val="95000"/>
                  </a:schemeClr>
                </a:solidFill>
              </a:rPr>
              <a:t>Adrar_Numerique</a:t>
            </a:r>
            <a:r>
              <a:rPr lang="fr-FR" sz="1900" dirty="0">
                <a:solidFill>
                  <a:schemeClr val="bg1">
                    <a:lumMod val="95000"/>
                  </a:schemeClr>
                </a:solidFill>
              </a:rPr>
              <a:t>	… </a:t>
            </a:r>
            <a:r>
              <a:rPr lang="fr-FR" sz="1600" dirty="0">
                <a:solidFill>
                  <a:schemeClr val="bg1"/>
                </a:solidFill>
              </a:rPr>
              <a:t>et sur le web : </a:t>
            </a:r>
            <a:r>
              <a:rPr lang="fr-FR" sz="1900" b="1" dirty="0">
                <a:solidFill>
                  <a:schemeClr val="bg1">
                    <a:lumMod val="95000"/>
                  </a:schemeClr>
                </a:solidFill>
              </a:rPr>
              <a:t>www.adrar-numerique.com</a:t>
            </a:r>
          </a:p>
        </p:txBody>
      </p:sp>
      <p:pic>
        <p:nvPicPr>
          <p:cNvPr id="32" name="Image 3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24648" y="762261"/>
            <a:ext cx="266667" cy="253968"/>
          </a:xfrm>
          <a:prstGeom prst="rect">
            <a:avLst/>
          </a:prstGeom>
        </p:spPr>
      </p:pic>
      <p:pic>
        <p:nvPicPr>
          <p:cNvPr id="33" name="Image 32" descr="logo-linkedin.png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9844" y="783165"/>
            <a:ext cx="285752" cy="285752"/>
          </a:xfrm>
          <a:prstGeom prst="rect">
            <a:avLst/>
          </a:prstGeom>
        </p:spPr>
      </p:pic>
      <p:grpSp>
        <p:nvGrpSpPr>
          <p:cNvPr id="34" name="Groupe 33"/>
          <p:cNvGrpSpPr/>
          <p:nvPr/>
        </p:nvGrpSpPr>
        <p:grpSpPr>
          <a:xfrm>
            <a:off x="70311" y="-41891"/>
            <a:ext cx="12056372" cy="746449"/>
            <a:chOff x="70311" y="-41891"/>
            <a:chExt cx="12056372" cy="746449"/>
          </a:xfrm>
        </p:grpSpPr>
        <p:grpSp>
          <p:nvGrpSpPr>
            <p:cNvPr id="35" name="Groupe 34"/>
            <p:cNvGrpSpPr/>
            <p:nvPr/>
          </p:nvGrpSpPr>
          <p:grpSpPr>
            <a:xfrm>
              <a:off x="70311" y="-41891"/>
              <a:ext cx="12056372" cy="746449"/>
              <a:chOff x="51808" y="-49564"/>
              <a:chExt cx="12056372" cy="746449"/>
            </a:xfrm>
          </p:grpSpPr>
          <p:pic>
            <p:nvPicPr>
              <p:cNvPr id="37" name="Image 36" descr="bien plus.jpg"/>
              <p:cNvPicPr>
                <a:picLocks noChangeAspect="1"/>
              </p:cNvPicPr>
              <p:nvPr/>
            </p:nvPicPr>
            <p:blipFill>
              <a:blip r:embed="rId6" cstate="print"/>
              <a:stretch>
                <a:fillRect/>
              </a:stretch>
            </p:blipFill>
            <p:spPr>
              <a:xfrm>
                <a:off x="4122599" y="228466"/>
                <a:ext cx="1289328" cy="364658"/>
              </a:xfrm>
              <a:prstGeom prst="rect">
                <a:avLst/>
              </a:prstGeom>
            </p:spPr>
          </p:pic>
          <p:pic>
            <p:nvPicPr>
              <p:cNvPr id="38" name="Image 37" descr="personnes-adrar-coul_1.jpg"/>
              <p:cNvPicPr>
                <a:picLocks noChangeAspect="1"/>
              </p:cNvPicPr>
              <p:nvPr/>
            </p:nvPicPr>
            <p:blipFill>
              <a:blip r:embed="rId7" cstate="print"/>
              <a:stretch>
                <a:fillRect/>
              </a:stretch>
            </p:blipFill>
            <p:spPr>
              <a:xfrm>
                <a:off x="5640032" y="95784"/>
                <a:ext cx="510617" cy="506565"/>
              </a:xfrm>
              <a:prstGeom prst="rect">
                <a:avLst/>
              </a:prstGeom>
            </p:spPr>
          </p:pic>
          <p:pic>
            <p:nvPicPr>
              <p:cNvPr id="39" name="Image 38" descr="personnes-adrar-coul_2.jpg"/>
              <p:cNvPicPr>
                <a:picLocks noChangeAspect="1"/>
              </p:cNvPicPr>
              <p:nvPr/>
            </p:nvPicPr>
            <p:blipFill>
              <a:blip r:embed="rId8" cstate="print"/>
              <a:stretch>
                <a:fillRect/>
              </a:stretch>
            </p:blipFill>
            <p:spPr>
              <a:xfrm>
                <a:off x="3441939" y="228467"/>
                <a:ext cx="346861" cy="352500"/>
              </a:xfrm>
              <a:prstGeom prst="rect">
                <a:avLst/>
              </a:prstGeom>
            </p:spPr>
          </p:pic>
          <p:pic>
            <p:nvPicPr>
              <p:cNvPr id="40" name="Image 39" descr="LOGO ADRAR 300dpi.jpg"/>
              <p:cNvPicPr>
                <a:picLocks noChangeAspect="1"/>
              </p:cNvPicPr>
              <p:nvPr/>
            </p:nvPicPr>
            <p:blipFill>
              <a:blip r:embed="rId9" cstate="print"/>
              <a:stretch>
                <a:fillRect/>
              </a:stretch>
            </p:blipFill>
            <p:spPr>
              <a:xfrm>
                <a:off x="51808" y="51259"/>
                <a:ext cx="432261" cy="57481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49" name="Image 48" descr="LOGO-ERN-GEN2017-1.png"/>
              <p:cNvPicPr>
                <a:picLocks noChangeAspect="1"/>
              </p:cNvPicPr>
              <p:nvPr/>
            </p:nvPicPr>
            <p:blipFill rotWithShape="1">
              <a:blip r:embed="rId10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r="19245"/>
              <a:stretch/>
            </p:blipFill>
            <p:spPr>
              <a:xfrm>
                <a:off x="6708147" y="12191"/>
                <a:ext cx="2275425" cy="669355"/>
              </a:xfrm>
              <a:prstGeom prst="rect">
                <a:avLst/>
              </a:prstGeom>
            </p:spPr>
          </p:pic>
          <p:pic>
            <p:nvPicPr>
              <p:cNvPr id="50" name="Image 49" descr="redim-06.png"/>
              <p:cNvPicPr>
                <a:picLocks noChangeAspect="1"/>
              </p:cNvPicPr>
              <p:nvPr/>
            </p:nvPicPr>
            <p:blipFill rotWithShape="1">
              <a:blip r:embed="rId11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28400" b="26267"/>
              <a:stretch/>
            </p:blipFill>
            <p:spPr>
              <a:xfrm>
                <a:off x="10739120" y="30480"/>
                <a:ext cx="1369060" cy="620641"/>
              </a:xfrm>
              <a:prstGeom prst="rect">
                <a:avLst/>
              </a:prstGeom>
            </p:spPr>
          </p:pic>
          <p:pic>
            <p:nvPicPr>
              <p:cNvPr id="51" name="Image 50"/>
              <p:cNvPicPr>
                <a:picLocks noChangeAspect="1"/>
              </p:cNvPicPr>
              <p:nvPr/>
            </p:nvPicPr>
            <p:blipFill rotWithShape="1">
              <a:blip r:embed="rId1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6802" t="22888" r="16244" b="27236"/>
              <a:stretch/>
            </p:blipFill>
            <p:spPr>
              <a:xfrm>
                <a:off x="8974241" y="-49564"/>
                <a:ext cx="1502229" cy="746449"/>
              </a:xfrm>
              <a:prstGeom prst="rect">
                <a:avLst/>
              </a:prstGeom>
            </p:spPr>
          </p:pic>
        </p:grpSp>
        <p:pic>
          <p:nvPicPr>
            <p:cNvPr id="36" name="Image 35"/>
            <p:cNvPicPr>
              <a:picLocks noChangeAspect="1"/>
            </p:cNvPicPr>
            <p:nvPr/>
          </p:nvPicPr>
          <p:blipFill rotWithShape="1"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2863" b="24898"/>
            <a:stretch/>
          </p:blipFill>
          <p:spPr>
            <a:xfrm>
              <a:off x="680899" y="90649"/>
              <a:ext cx="2612643" cy="537329"/>
            </a:xfrm>
            <a:prstGeom prst="rect">
              <a:avLst/>
            </a:prstGeom>
          </p:spPr>
        </p:pic>
      </p:grpSp>
      <p:pic>
        <p:nvPicPr>
          <p:cNvPr id="3" name="Image 2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1697" y="1809724"/>
            <a:ext cx="7004292" cy="39224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66954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/>
          <p:nvPr/>
        </p:nvSpPr>
        <p:spPr>
          <a:xfrm>
            <a:off x="0" y="675503"/>
            <a:ext cx="12198786" cy="478582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22" name="Image 2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2202" y="6540326"/>
            <a:ext cx="253968" cy="253968"/>
          </a:xfrm>
          <a:prstGeom prst="rect">
            <a:avLst/>
          </a:prstGeom>
        </p:spPr>
      </p:pic>
      <p:sp>
        <p:nvSpPr>
          <p:cNvPr id="23" name="ZoneTexte 22"/>
          <p:cNvSpPr txBox="1"/>
          <p:nvPr/>
        </p:nvSpPr>
        <p:spPr>
          <a:xfrm>
            <a:off x="5216109" y="6532276"/>
            <a:ext cx="26647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ADRAR Pôle Numérique Occitanie</a:t>
            </a:r>
            <a:endParaRPr lang="fr-FR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1" name="ZoneTexte 30"/>
          <p:cNvSpPr txBox="1"/>
          <p:nvPr/>
        </p:nvSpPr>
        <p:spPr>
          <a:xfrm>
            <a:off x="0" y="696885"/>
            <a:ext cx="12198786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600" dirty="0">
                <a:solidFill>
                  <a:schemeClr val="bg1"/>
                </a:solidFill>
              </a:rPr>
              <a:t>Suivez-nous sur </a:t>
            </a:r>
            <a:r>
              <a:rPr lang="fr-FR" sz="1600" dirty="0" err="1">
                <a:solidFill>
                  <a:schemeClr val="bg1"/>
                </a:solidFill>
              </a:rPr>
              <a:t>LinkedIn</a:t>
            </a:r>
            <a:r>
              <a:rPr lang="fr-FR" sz="1600" dirty="0">
                <a:solidFill>
                  <a:schemeClr val="bg1"/>
                </a:solidFill>
              </a:rPr>
              <a:t>             </a:t>
            </a:r>
            <a:r>
              <a:rPr lang="fr-FR" sz="1600" dirty="0" err="1">
                <a:solidFill>
                  <a:schemeClr val="bg1"/>
                </a:solidFill>
              </a:rPr>
              <a:t>Twitter</a:t>
            </a:r>
            <a:r>
              <a:rPr lang="fr-FR" sz="1600" dirty="0">
                <a:solidFill>
                  <a:schemeClr val="bg1"/>
                </a:solidFill>
              </a:rPr>
              <a:t>       </a:t>
            </a:r>
            <a:r>
              <a:rPr lang="fr-FR" sz="1900" b="1" dirty="0">
                <a:solidFill>
                  <a:schemeClr val="bg1">
                    <a:lumMod val="95000"/>
                  </a:schemeClr>
                </a:solidFill>
              </a:rPr>
              <a:t>@</a:t>
            </a:r>
            <a:r>
              <a:rPr lang="fr-FR" sz="1900" b="1" dirty="0" err="1">
                <a:solidFill>
                  <a:schemeClr val="bg1">
                    <a:lumMod val="95000"/>
                  </a:schemeClr>
                </a:solidFill>
              </a:rPr>
              <a:t>Adrar_Numerique</a:t>
            </a:r>
            <a:r>
              <a:rPr lang="fr-FR" sz="1900" dirty="0">
                <a:solidFill>
                  <a:schemeClr val="bg1">
                    <a:lumMod val="95000"/>
                  </a:schemeClr>
                </a:solidFill>
              </a:rPr>
              <a:t>	… </a:t>
            </a:r>
            <a:r>
              <a:rPr lang="fr-FR" sz="1600" dirty="0">
                <a:solidFill>
                  <a:schemeClr val="bg1"/>
                </a:solidFill>
              </a:rPr>
              <a:t>et sur le web : </a:t>
            </a:r>
            <a:r>
              <a:rPr lang="fr-FR" sz="1900" b="1" dirty="0">
                <a:solidFill>
                  <a:schemeClr val="bg1">
                    <a:lumMod val="95000"/>
                  </a:schemeClr>
                </a:solidFill>
              </a:rPr>
              <a:t>www.adrar-numerique.com</a:t>
            </a:r>
          </a:p>
        </p:txBody>
      </p:sp>
      <p:pic>
        <p:nvPicPr>
          <p:cNvPr id="32" name="Image 3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24648" y="762261"/>
            <a:ext cx="266667" cy="253968"/>
          </a:xfrm>
          <a:prstGeom prst="rect">
            <a:avLst/>
          </a:prstGeom>
        </p:spPr>
      </p:pic>
      <p:pic>
        <p:nvPicPr>
          <p:cNvPr id="33" name="Image 32" descr="logo-linkedin.png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9844" y="783165"/>
            <a:ext cx="285752" cy="285752"/>
          </a:xfrm>
          <a:prstGeom prst="rect">
            <a:avLst/>
          </a:prstGeom>
        </p:spPr>
      </p:pic>
      <p:grpSp>
        <p:nvGrpSpPr>
          <p:cNvPr id="34" name="Groupe 33"/>
          <p:cNvGrpSpPr/>
          <p:nvPr/>
        </p:nvGrpSpPr>
        <p:grpSpPr>
          <a:xfrm>
            <a:off x="70311" y="-41891"/>
            <a:ext cx="12056372" cy="746449"/>
            <a:chOff x="70311" y="-41891"/>
            <a:chExt cx="12056372" cy="746449"/>
          </a:xfrm>
        </p:grpSpPr>
        <p:grpSp>
          <p:nvGrpSpPr>
            <p:cNvPr id="35" name="Groupe 34"/>
            <p:cNvGrpSpPr/>
            <p:nvPr/>
          </p:nvGrpSpPr>
          <p:grpSpPr>
            <a:xfrm>
              <a:off x="70311" y="-41891"/>
              <a:ext cx="12056372" cy="746449"/>
              <a:chOff x="51808" y="-49564"/>
              <a:chExt cx="12056372" cy="746449"/>
            </a:xfrm>
          </p:grpSpPr>
          <p:pic>
            <p:nvPicPr>
              <p:cNvPr id="37" name="Image 36" descr="bien plus.jpg"/>
              <p:cNvPicPr>
                <a:picLocks noChangeAspect="1"/>
              </p:cNvPicPr>
              <p:nvPr/>
            </p:nvPicPr>
            <p:blipFill>
              <a:blip r:embed="rId6" cstate="print"/>
              <a:stretch>
                <a:fillRect/>
              </a:stretch>
            </p:blipFill>
            <p:spPr>
              <a:xfrm>
                <a:off x="4122599" y="228466"/>
                <a:ext cx="1289328" cy="364658"/>
              </a:xfrm>
              <a:prstGeom prst="rect">
                <a:avLst/>
              </a:prstGeom>
            </p:spPr>
          </p:pic>
          <p:pic>
            <p:nvPicPr>
              <p:cNvPr id="38" name="Image 37" descr="personnes-adrar-coul_1.jpg"/>
              <p:cNvPicPr>
                <a:picLocks noChangeAspect="1"/>
              </p:cNvPicPr>
              <p:nvPr/>
            </p:nvPicPr>
            <p:blipFill>
              <a:blip r:embed="rId7" cstate="print"/>
              <a:stretch>
                <a:fillRect/>
              </a:stretch>
            </p:blipFill>
            <p:spPr>
              <a:xfrm>
                <a:off x="5640032" y="95784"/>
                <a:ext cx="510617" cy="506565"/>
              </a:xfrm>
              <a:prstGeom prst="rect">
                <a:avLst/>
              </a:prstGeom>
            </p:spPr>
          </p:pic>
          <p:pic>
            <p:nvPicPr>
              <p:cNvPr id="39" name="Image 38" descr="personnes-adrar-coul_2.jpg"/>
              <p:cNvPicPr>
                <a:picLocks noChangeAspect="1"/>
              </p:cNvPicPr>
              <p:nvPr/>
            </p:nvPicPr>
            <p:blipFill>
              <a:blip r:embed="rId8" cstate="print"/>
              <a:stretch>
                <a:fillRect/>
              </a:stretch>
            </p:blipFill>
            <p:spPr>
              <a:xfrm>
                <a:off x="3441939" y="228467"/>
                <a:ext cx="346861" cy="352500"/>
              </a:xfrm>
              <a:prstGeom prst="rect">
                <a:avLst/>
              </a:prstGeom>
            </p:spPr>
          </p:pic>
          <p:pic>
            <p:nvPicPr>
              <p:cNvPr id="40" name="Image 39" descr="LOGO ADRAR 300dpi.jpg"/>
              <p:cNvPicPr>
                <a:picLocks noChangeAspect="1"/>
              </p:cNvPicPr>
              <p:nvPr/>
            </p:nvPicPr>
            <p:blipFill>
              <a:blip r:embed="rId9" cstate="print"/>
              <a:stretch>
                <a:fillRect/>
              </a:stretch>
            </p:blipFill>
            <p:spPr>
              <a:xfrm>
                <a:off x="51808" y="51259"/>
                <a:ext cx="432261" cy="57481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49" name="Image 48" descr="LOGO-ERN-GEN2017-1.png"/>
              <p:cNvPicPr>
                <a:picLocks noChangeAspect="1"/>
              </p:cNvPicPr>
              <p:nvPr/>
            </p:nvPicPr>
            <p:blipFill rotWithShape="1">
              <a:blip r:embed="rId10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r="19245"/>
              <a:stretch/>
            </p:blipFill>
            <p:spPr>
              <a:xfrm>
                <a:off x="6708147" y="12191"/>
                <a:ext cx="2275425" cy="669355"/>
              </a:xfrm>
              <a:prstGeom prst="rect">
                <a:avLst/>
              </a:prstGeom>
            </p:spPr>
          </p:pic>
          <p:pic>
            <p:nvPicPr>
              <p:cNvPr id="50" name="Image 49" descr="redim-06.png"/>
              <p:cNvPicPr>
                <a:picLocks noChangeAspect="1"/>
              </p:cNvPicPr>
              <p:nvPr/>
            </p:nvPicPr>
            <p:blipFill rotWithShape="1">
              <a:blip r:embed="rId11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28400" b="26267"/>
              <a:stretch/>
            </p:blipFill>
            <p:spPr>
              <a:xfrm>
                <a:off x="10739120" y="30480"/>
                <a:ext cx="1369060" cy="620641"/>
              </a:xfrm>
              <a:prstGeom prst="rect">
                <a:avLst/>
              </a:prstGeom>
            </p:spPr>
          </p:pic>
          <p:pic>
            <p:nvPicPr>
              <p:cNvPr id="51" name="Image 50"/>
              <p:cNvPicPr>
                <a:picLocks noChangeAspect="1"/>
              </p:cNvPicPr>
              <p:nvPr/>
            </p:nvPicPr>
            <p:blipFill rotWithShape="1">
              <a:blip r:embed="rId1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6802" t="22888" r="16244" b="27236"/>
              <a:stretch/>
            </p:blipFill>
            <p:spPr>
              <a:xfrm>
                <a:off x="8974241" y="-49564"/>
                <a:ext cx="1502229" cy="746449"/>
              </a:xfrm>
              <a:prstGeom prst="rect">
                <a:avLst/>
              </a:prstGeom>
            </p:spPr>
          </p:pic>
        </p:grpSp>
        <p:pic>
          <p:nvPicPr>
            <p:cNvPr id="36" name="Image 35"/>
            <p:cNvPicPr>
              <a:picLocks noChangeAspect="1"/>
            </p:cNvPicPr>
            <p:nvPr/>
          </p:nvPicPr>
          <p:blipFill rotWithShape="1"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2863" b="24898"/>
            <a:stretch/>
          </p:blipFill>
          <p:spPr>
            <a:xfrm>
              <a:off x="680899" y="90649"/>
              <a:ext cx="2612643" cy="537329"/>
            </a:xfrm>
            <a:prstGeom prst="rect">
              <a:avLst/>
            </a:prstGeom>
          </p:spPr>
        </p:pic>
      </p:grpSp>
      <p:sp>
        <p:nvSpPr>
          <p:cNvPr id="2" name="ZoneTexte 1"/>
          <p:cNvSpPr txBox="1"/>
          <p:nvPr/>
        </p:nvSpPr>
        <p:spPr>
          <a:xfrm>
            <a:off x="2171963" y="3185486"/>
            <a:ext cx="785486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8000" b="1" u="sng" dirty="0" smtClean="0"/>
              <a:t>FORMULAIRES</a:t>
            </a:r>
            <a:endParaRPr lang="fr-FR" sz="8000" b="1" u="sng" dirty="0"/>
          </a:p>
        </p:txBody>
      </p:sp>
    </p:spTree>
    <p:extLst>
      <p:ext uri="{BB962C8B-B14F-4D97-AF65-F5344CB8AC3E}">
        <p14:creationId xmlns:p14="http://schemas.microsoft.com/office/powerpoint/2010/main" val="7981147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/>
          <p:nvPr/>
        </p:nvSpPr>
        <p:spPr>
          <a:xfrm>
            <a:off x="0" y="675503"/>
            <a:ext cx="12198786" cy="478582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22" name="Image 2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2202" y="6540326"/>
            <a:ext cx="253968" cy="253968"/>
          </a:xfrm>
          <a:prstGeom prst="rect">
            <a:avLst/>
          </a:prstGeom>
        </p:spPr>
      </p:pic>
      <p:sp>
        <p:nvSpPr>
          <p:cNvPr id="23" name="ZoneTexte 22"/>
          <p:cNvSpPr txBox="1"/>
          <p:nvPr/>
        </p:nvSpPr>
        <p:spPr>
          <a:xfrm>
            <a:off x="5216109" y="6532276"/>
            <a:ext cx="26647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ADRAR Pôle Numérique Occitanie</a:t>
            </a:r>
            <a:endParaRPr lang="fr-FR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1" name="ZoneTexte 30"/>
          <p:cNvSpPr txBox="1"/>
          <p:nvPr/>
        </p:nvSpPr>
        <p:spPr>
          <a:xfrm>
            <a:off x="0" y="696885"/>
            <a:ext cx="12198786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600" dirty="0">
                <a:solidFill>
                  <a:schemeClr val="bg1"/>
                </a:solidFill>
              </a:rPr>
              <a:t>Suivez-nous sur </a:t>
            </a:r>
            <a:r>
              <a:rPr lang="fr-FR" sz="1600" dirty="0" err="1">
                <a:solidFill>
                  <a:schemeClr val="bg1"/>
                </a:solidFill>
              </a:rPr>
              <a:t>LinkedIn</a:t>
            </a:r>
            <a:r>
              <a:rPr lang="fr-FR" sz="1600" dirty="0">
                <a:solidFill>
                  <a:schemeClr val="bg1"/>
                </a:solidFill>
              </a:rPr>
              <a:t>             </a:t>
            </a:r>
            <a:r>
              <a:rPr lang="fr-FR" sz="1600" dirty="0" err="1">
                <a:solidFill>
                  <a:schemeClr val="bg1"/>
                </a:solidFill>
              </a:rPr>
              <a:t>Twitter</a:t>
            </a:r>
            <a:r>
              <a:rPr lang="fr-FR" sz="1600" dirty="0">
                <a:solidFill>
                  <a:schemeClr val="bg1"/>
                </a:solidFill>
              </a:rPr>
              <a:t>       </a:t>
            </a:r>
            <a:r>
              <a:rPr lang="fr-FR" sz="1900" b="1" dirty="0">
                <a:solidFill>
                  <a:schemeClr val="bg1">
                    <a:lumMod val="95000"/>
                  </a:schemeClr>
                </a:solidFill>
              </a:rPr>
              <a:t>@</a:t>
            </a:r>
            <a:r>
              <a:rPr lang="fr-FR" sz="1900" b="1" dirty="0" err="1">
                <a:solidFill>
                  <a:schemeClr val="bg1">
                    <a:lumMod val="95000"/>
                  </a:schemeClr>
                </a:solidFill>
              </a:rPr>
              <a:t>Adrar_Numerique</a:t>
            </a:r>
            <a:r>
              <a:rPr lang="fr-FR" sz="1900" dirty="0">
                <a:solidFill>
                  <a:schemeClr val="bg1">
                    <a:lumMod val="95000"/>
                  </a:schemeClr>
                </a:solidFill>
              </a:rPr>
              <a:t>	… </a:t>
            </a:r>
            <a:r>
              <a:rPr lang="fr-FR" sz="1600" dirty="0">
                <a:solidFill>
                  <a:schemeClr val="bg1"/>
                </a:solidFill>
              </a:rPr>
              <a:t>et sur le web : </a:t>
            </a:r>
            <a:r>
              <a:rPr lang="fr-FR" sz="1900" b="1" dirty="0">
                <a:solidFill>
                  <a:schemeClr val="bg1">
                    <a:lumMod val="95000"/>
                  </a:schemeClr>
                </a:solidFill>
              </a:rPr>
              <a:t>www.adrar-numerique.com</a:t>
            </a:r>
          </a:p>
        </p:txBody>
      </p:sp>
      <p:pic>
        <p:nvPicPr>
          <p:cNvPr id="32" name="Image 3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24648" y="762261"/>
            <a:ext cx="266667" cy="253968"/>
          </a:xfrm>
          <a:prstGeom prst="rect">
            <a:avLst/>
          </a:prstGeom>
        </p:spPr>
      </p:pic>
      <p:pic>
        <p:nvPicPr>
          <p:cNvPr id="33" name="Image 32" descr="logo-linkedin.png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9844" y="783165"/>
            <a:ext cx="285752" cy="285752"/>
          </a:xfrm>
          <a:prstGeom prst="rect">
            <a:avLst/>
          </a:prstGeom>
        </p:spPr>
      </p:pic>
      <p:grpSp>
        <p:nvGrpSpPr>
          <p:cNvPr id="34" name="Groupe 33"/>
          <p:cNvGrpSpPr/>
          <p:nvPr/>
        </p:nvGrpSpPr>
        <p:grpSpPr>
          <a:xfrm>
            <a:off x="70311" y="-41891"/>
            <a:ext cx="12056372" cy="746449"/>
            <a:chOff x="70311" y="-41891"/>
            <a:chExt cx="12056372" cy="746449"/>
          </a:xfrm>
        </p:grpSpPr>
        <p:grpSp>
          <p:nvGrpSpPr>
            <p:cNvPr id="35" name="Groupe 34"/>
            <p:cNvGrpSpPr/>
            <p:nvPr/>
          </p:nvGrpSpPr>
          <p:grpSpPr>
            <a:xfrm>
              <a:off x="70311" y="-41891"/>
              <a:ext cx="12056372" cy="746449"/>
              <a:chOff x="51808" y="-49564"/>
              <a:chExt cx="12056372" cy="746449"/>
            </a:xfrm>
          </p:grpSpPr>
          <p:pic>
            <p:nvPicPr>
              <p:cNvPr id="37" name="Image 36" descr="bien plus.jpg"/>
              <p:cNvPicPr>
                <a:picLocks noChangeAspect="1"/>
              </p:cNvPicPr>
              <p:nvPr/>
            </p:nvPicPr>
            <p:blipFill>
              <a:blip r:embed="rId6" cstate="print"/>
              <a:stretch>
                <a:fillRect/>
              </a:stretch>
            </p:blipFill>
            <p:spPr>
              <a:xfrm>
                <a:off x="4122599" y="228466"/>
                <a:ext cx="1289328" cy="364658"/>
              </a:xfrm>
              <a:prstGeom prst="rect">
                <a:avLst/>
              </a:prstGeom>
            </p:spPr>
          </p:pic>
          <p:pic>
            <p:nvPicPr>
              <p:cNvPr id="38" name="Image 37" descr="personnes-adrar-coul_1.jpg"/>
              <p:cNvPicPr>
                <a:picLocks noChangeAspect="1"/>
              </p:cNvPicPr>
              <p:nvPr/>
            </p:nvPicPr>
            <p:blipFill>
              <a:blip r:embed="rId7" cstate="print"/>
              <a:stretch>
                <a:fillRect/>
              </a:stretch>
            </p:blipFill>
            <p:spPr>
              <a:xfrm>
                <a:off x="5640032" y="95784"/>
                <a:ext cx="510617" cy="506565"/>
              </a:xfrm>
              <a:prstGeom prst="rect">
                <a:avLst/>
              </a:prstGeom>
            </p:spPr>
          </p:pic>
          <p:pic>
            <p:nvPicPr>
              <p:cNvPr id="39" name="Image 38" descr="personnes-adrar-coul_2.jpg"/>
              <p:cNvPicPr>
                <a:picLocks noChangeAspect="1"/>
              </p:cNvPicPr>
              <p:nvPr/>
            </p:nvPicPr>
            <p:blipFill>
              <a:blip r:embed="rId8" cstate="print"/>
              <a:stretch>
                <a:fillRect/>
              </a:stretch>
            </p:blipFill>
            <p:spPr>
              <a:xfrm>
                <a:off x="3441939" y="228467"/>
                <a:ext cx="346861" cy="352500"/>
              </a:xfrm>
              <a:prstGeom prst="rect">
                <a:avLst/>
              </a:prstGeom>
            </p:spPr>
          </p:pic>
          <p:pic>
            <p:nvPicPr>
              <p:cNvPr id="40" name="Image 39" descr="LOGO ADRAR 300dpi.jpg"/>
              <p:cNvPicPr>
                <a:picLocks noChangeAspect="1"/>
              </p:cNvPicPr>
              <p:nvPr/>
            </p:nvPicPr>
            <p:blipFill>
              <a:blip r:embed="rId9" cstate="print"/>
              <a:stretch>
                <a:fillRect/>
              </a:stretch>
            </p:blipFill>
            <p:spPr>
              <a:xfrm>
                <a:off x="51808" y="51259"/>
                <a:ext cx="432261" cy="57481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49" name="Image 48" descr="LOGO-ERN-GEN2017-1.png"/>
              <p:cNvPicPr>
                <a:picLocks noChangeAspect="1"/>
              </p:cNvPicPr>
              <p:nvPr/>
            </p:nvPicPr>
            <p:blipFill rotWithShape="1">
              <a:blip r:embed="rId10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r="19245"/>
              <a:stretch/>
            </p:blipFill>
            <p:spPr>
              <a:xfrm>
                <a:off x="6708147" y="12191"/>
                <a:ext cx="2275425" cy="669355"/>
              </a:xfrm>
              <a:prstGeom prst="rect">
                <a:avLst/>
              </a:prstGeom>
            </p:spPr>
          </p:pic>
          <p:pic>
            <p:nvPicPr>
              <p:cNvPr id="50" name="Image 49" descr="redim-06.png"/>
              <p:cNvPicPr>
                <a:picLocks noChangeAspect="1"/>
              </p:cNvPicPr>
              <p:nvPr/>
            </p:nvPicPr>
            <p:blipFill rotWithShape="1">
              <a:blip r:embed="rId11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28400" b="26267"/>
              <a:stretch/>
            </p:blipFill>
            <p:spPr>
              <a:xfrm>
                <a:off x="10739120" y="30480"/>
                <a:ext cx="1369060" cy="620641"/>
              </a:xfrm>
              <a:prstGeom prst="rect">
                <a:avLst/>
              </a:prstGeom>
            </p:spPr>
          </p:pic>
          <p:pic>
            <p:nvPicPr>
              <p:cNvPr id="51" name="Image 50"/>
              <p:cNvPicPr>
                <a:picLocks noChangeAspect="1"/>
              </p:cNvPicPr>
              <p:nvPr/>
            </p:nvPicPr>
            <p:blipFill rotWithShape="1">
              <a:blip r:embed="rId1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6802" t="22888" r="16244" b="27236"/>
              <a:stretch/>
            </p:blipFill>
            <p:spPr>
              <a:xfrm>
                <a:off x="8974241" y="-49564"/>
                <a:ext cx="1502229" cy="746449"/>
              </a:xfrm>
              <a:prstGeom prst="rect">
                <a:avLst/>
              </a:prstGeom>
            </p:spPr>
          </p:pic>
        </p:grpSp>
        <p:pic>
          <p:nvPicPr>
            <p:cNvPr id="36" name="Image 35"/>
            <p:cNvPicPr>
              <a:picLocks noChangeAspect="1"/>
            </p:cNvPicPr>
            <p:nvPr/>
          </p:nvPicPr>
          <p:blipFill rotWithShape="1"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2863" b="24898"/>
            <a:stretch/>
          </p:blipFill>
          <p:spPr>
            <a:xfrm>
              <a:off x="680899" y="90649"/>
              <a:ext cx="2612643" cy="537329"/>
            </a:xfrm>
            <a:prstGeom prst="rect">
              <a:avLst/>
            </a:prstGeom>
          </p:spPr>
        </p:pic>
      </p:grpSp>
      <p:sp>
        <p:nvSpPr>
          <p:cNvPr id="4" name="ZoneTexte 3"/>
          <p:cNvSpPr txBox="1"/>
          <p:nvPr/>
        </p:nvSpPr>
        <p:spPr>
          <a:xfrm>
            <a:off x="155643" y="1400783"/>
            <a:ext cx="114883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Mettons maintenant en place un formulaire pour que les utilisateurs puissent voter pour les sondages. Nous allons faire ca en modifiant notre </a:t>
            </a:r>
            <a:r>
              <a:rPr lang="fr-FR" dirty="0" err="1" smtClean="0"/>
              <a:t>template</a:t>
            </a:r>
            <a:r>
              <a:rPr lang="fr-FR" dirty="0" smtClean="0"/>
              <a:t> </a:t>
            </a:r>
            <a:r>
              <a:rPr lang="fr-FR" i="1" dirty="0" smtClean="0"/>
              <a:t>detail.html</a:t>
            </a:r>
            <a:r>
              <a:rPr lang="fr-FR" dirty="0" smtClean="0"/>
              <a:t>.</a:t>
            </a:r>
            <a:endParaRPr lang="fr-FR" dirty="0"/>
          </a:p>
        </p:txBody>
      </p:sp>
      <p:pic>
        <p:nvPicPr>
          <p:cNvPr id="2" name="Image 1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45293" y="2055164"/>
            <a:ext cx="8648700" cy="3248025"/>
          </a:xfrm>
          <a:prstGeom prst="rect">
            <a:avLst/>
          </a:prstGeom>
        </p:spPr>
      </p:pic>
      <p:sp>
        <p:nvSpPr>
          <p:cNvPr id="25" name="ZoneTexte 24"/>
          <p:cNvSpPr txBox="1"/>
          <p:nvPr/>
        </p:nvSpPr>
        <p:spPr>
          <a:xfrm>
            <a:off x="155643" y="5311239"/>
            <a:ext cx="1148836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Quelques précisions : le gabarit </a:t>
            </a:r>
            <a:r>
              <a:rPr lang="fr-FR" i="1" dirty="0" smtClean="0"/>
              <a:t>{% </a:t>
            </a:r>
            <a:r>
              <a:rPr lang="fr-FR" i="1" dirty="0" err="1" smtClean="0"/>
              <a:t>csrf_token</a:t>
            </a:r>
            <a:r>
              <a:rPr lang="fr-FR" i="1" dirty="0" smtClean="0"/>
              <a:t> %} </a:t>
            </a:r>
            <a:r>
              <a:rPr lang="fr-FR" dirty="0" smtClean="0"/>
              <a:t>est à utiliser dès lors que vous mettez en place un formulaire de type post.  La variable </a:t>
            </a:r>
            <a:r>
              <a:rPr lang="fr-FR" i="1" dirty="0" smtClean="0"/>
              <a:t>{{</a:t>
            </a:r>
            <a:r>
              <a:rPr lang="fr-FR" i="1" dirty="0" err="1" smtClean="0"/>
              <a:t>forloop.counter</a:t>
            </a:r>
            <a:r>
              <a:rPr lang="fr-FR" i="1" dirty="0" smtClean="0"/>
              <a:t>}}</a:t>
            </a:r>
            <a:r>
              <a:rPr lang="fr-FR" dirty="0" smtClean="0"/>
              <a:t> permet de récupérer le numéro de tour de boucle, on s’en sers ici pour générer des id différents pour nos boutons radios. La variable </a:t>
            </a:r>
            <a:r>
              <a:rPr lang="fr-FR" i="1" dirty="0" smtClean="0"/>
              <a:t>{{</a:t>
            </a:r>
            <a:r>
              <a:rPr lang="fr-FR" i="1" dirty="0" err="1" smtClean="0"/>
              <a:t>error_message</a:t>
            </a:r>
            <a:r>
              <a:rPr lang="fr-FR" i="1" dirty="0" smtClean="0"/>
              <a:t>}} </a:t>
            </a:r>
            <a:r>
              <a:rPr lang="fr-FR" dirty="0" smtClean="0"/>
              <a:t> est une variable que nous allons créer dans notre vue si l’utilisateur clique sur </a:t>
            </a:r>
            <a:r>
              <a:rPr lang="fr-FR" i="1" dirty="0" smtClean="0"/>
              <a:t>Vote</a:t>
            </a:r>
            <a:r>
              <a:rPr lang="fr-FR" dirty="0" smtClean="0"/>
              <a:t> sans avoir sélectionné de choix. Voyons maintenant notre vue</a:t>
            </a:r>
            <a:endParaRPr lang="fr-FR" i="1" dirty="0"/>
          </a:p>
        </p:txBody>
      </p:sp>
    </p:spTree>
    <p:extLst>
      <p:ext uri="{BB962C8B-B14F-4D97-AF65-F5344CB8AC3E}">
        <p14:creationId xmlns:p14="http://schemas.microsoft.com/office/powerpoint/2010/main" val="19815007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/>
          <p:nvPr/>
        </p:nvSpPr>
        <p:spPr>
          <a:xfrm>
            <a:off x="0" y="675503"/>
            <a:ext cx="12198786" cy="478582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22" name="Image 2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2202" y="6540326"/>
            <a:ext cx="253968" cy="253968"/>
          </a:xfrm>
          <a:prstGeom prst="rect">
            <a:avLst/>
          </a:prstGeom>
        </p:spPr>
      </p:pic>
      <p:sp>
        <p:nvSpPr>
          <p:cNvPr id="23" name="ZoneTexte 22"/>
          <p:cNvSpPr txBox="1"/>
          <p:nvPr/>
        </p:nvSpPr>
        <p:spPr>
          <a:xfrm>
            <a:off x="5216109" y="6532276"/>
            <a:ext cx="26647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ADRAR Pôle Numérique Occitanie</a:t>
            </a:r>
            <a:endParaRPr lang="fr-FR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1" name="ZoneTexte 30"/>
          <p:cNvSpPr txBox="1"/>
          <p:nvPr/>
        </p:nvSpPr>
        <p:spPr>
          <a:xfrm>
            <a:off x="0" y="696885"/>
            <a:ext cx="12198786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600" dirty="0">
                <a:solidFill>
                  <a:schemeClr val="bg1"/>
                </a:solidFill>
              </a:rPr>
              <a:t>Suivez-nous sur </a:t>
            </a:r>
            <a:r>
              <a:rPr lang="fr-FR" sz="1600" dirty="0" err="1">
                <a:solidFill>
                  <a:schemeClr val="bg1"/>
                </a:solidFill>
              </a:rPr>
              <a:t>LinkedIn</a:t>
            </a:r>
            <a:r>
              <a:rPr lang="fr-FR" sz="1600" dirty="0">
                <a:solidFill>
                  <a:schemeClr val="bg1"/>
                </a:solidFill>
              </a:rPr>
              <a:t>             </a:t>
            </a:r>
            <a:r>
              <a:rPr lang="fr-FR" sz="1600" dirty="0" err="1">
                <a:solidFill>
                  <a:schemeClr val="bg1"/>
                </a:solidFill>
              </a:rPr>
              <a:t>Twitter</a:t>
            </a:r>
            <a:r>
              <a:rPr lang="fr-FR" sz="1600" dirty="0">
                <a:solidFill>
                  <a:schemeClr val="bg1"/>
                </a:solidFill>
              </a:rPr>
              <a:t>       </a:t>
            </a:r>
            <a:r>
              <a:rPr lang="fr-FR" sz="1900" b="1" dirty="0">
                <a:solidFill>
                  <a:schemeClr val="bg1">
                    <a:lumMod val="95000"/>
                  </a:schemeClr>
                </a:solidFill>
              </a:rPr>
              <a:t>@</a:t>
            </a:r>
            <a:r>
              <a:rPr lang="fr-FR" sz="1900" b="1" dirty="0" err="1">
                <a:solidFill>
                  <a:schemeClr val="bg1">
                    <a:lumMod val="95000"/>
                  </a:schemeClr>
                </a:solidFill>
              </a:rPr>
              <a:t>Adrar_Numerique</a:t>
            </a:r>
            <a:r>
              <a:rPr lang="fr-FR" sz="1900" dirty="0">
                <a:solidFill>
                  <a:schemeClr val="bg1">
                    <a:lumMod val="95000"/>
                  </a:schemeClr>
                </a:solidFill>
              </a:rPr>
              <a:t>	… </a:t>
            </a:r>
            <a:r>
              <a:rPr lang="fr-FR" sz="1600" dirty="0">
                <a:solidFill>
                  <a:schemeClr val="bg1"/>
                </a:solidFill>
              </a:rPr>
              <a:t>et sur le web : </a:t>
            </a:r>
            <a:r>
              <a:rPr lang="fr-FR" sz="1900" b="1" dirty="0">
                <a:solidFill>
                  <a:schemeClr val="bg1">
                    <a:lumMod val="95000"/>
                  </a:schemeClr>
                </a:solidFill>
              </a:rPr>
              <a:t>www.adrar-numerique.com</a:t>
            </a:r>
          </a:p>
        </p:txBody>
      </p:sp>
      <p:pic>
        <p:nvPicPr>
          <p:cNvPr id="32" name="Image 3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24648" y="762261"/>
            <a:ext cx="266667" cy="253968"/>
          </a:xfrm>
          <a:prstGeom prst="rect">
            <a:avLst/>
          </a:prstGeom>
        </p:spPr>
      </p:pic>
      <p:pic>
        <p:nvPicPr>
          <p:cNvPr id="33" name="Image 32" descr="logo-linkedin.png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9844" y="783165"/>
            <a:ext cx="285752" cy="285752"/>
          </a:xfrm>
          <a:prstGeom prst="rect">
            <a:avLst/>
          </a:prstGeom>
        </p:spPr>
      </p:pic>
      <p:grpSp>
        <p:nvGrpSpPr>
          <p:cNvPr id="34" name="Groupe 33"/>
          <p:cNvGrpSpPr/>
          <p:nvPr/>
        </p:nvGrpSpPr>
        <p:grpSpPr>
          <a:xfrm>
            <a:off x="70311" y="-41891"/>
            <a:ext cx="12056372" cy="746449"/>
            <a:chOff x="70311" y="-41891"/>
            <a:chExt cx="12056372" cy="746449"/>
          </a:xfrm>
        </p:grpSpPr>
        <p:grpSp>
          <p:nvGrpSpPr>
            <p:cNvPr id="35" name="Groupe 34"/>
            <p:cNvGrpSpPr/>
            <p:nvPr/>
          </p:nvGrpSpPr>
          <p:grpSpPr>
            <a:xfrm>
              <a:off x="70311" y="-41891"/>
              <a:ext cx="12056372" cy="746449"/>
              <a:chOff x="51808" y="-49564"/>
              <a:chExt cx="12056372" cy="746449"/>
            </a:xfrm>
          </p:grpSpPr>
          <p:pic>
            <p:nvPicPr>
              <p:cNvPr id="37" name="Image 36" descr="bien plus.jpg"/>
              <p:cNvPicPr>
                <a:picLocks noChangeAspect="1"/>
              </p:cNvPicPr>
              <p:nvPr/>
            </p:nvPicPr>
            <p:blipFill>
              <a:blip r:embed="rId6" cstate="print"/>
              <a:stretch>
                <a:fillRect/>
              </a:stretch>
            </p:blipFill>
            <p:spPr>
              <a:xfrm>
                <a:off x="4122599" y="228466"/>
                <a:ext cx="1289328" cy="364658"/>
              </a:xfrm>
              <a:prstGeom prst="rect">
                <a:avLst/>
              </a:prstGeom>
            </p:spPr>
          </p:pic>
          <p:pic>
            <p:nvPicPr>
              <p:cNvPr id="38" name="Image 37" descr="personnes-adrar-coul_1.jpg"/>
              <p:cNvPicPr>
                <a:picLocks noChangeAspect="1"/>
              </p:cNvPicPr>
              <p:nvPr/>
            </p:nvPicPr>
            <p:blipFill>
              <a:blip r:embed="rId7" cstate="print"/>
              <a:stretch>
                <a:fillRect/>
              </a:stretch>
            </p:blipFill>
            <p:spPr>
              <a:xfrm>
                <a:off x="5640032" y="95784"/>
                <a:ext cx="510617" cy="506565"/>
              </a:xfrm>
              <a:prstGeom prst="rect">
                <a:avLst/>
              </a:prstGeom>
            </p:spPr>
          </p:pic>
          <p:pic>
            <p:nvPicPr>
              <p:cNvPr id="39" name="Image 38" descr="personnes-adrar-coul_2.jpg"/>
              <p:cNvPicPr>
                <a:picLocks noChangeAspect="1"/>
              </p:cNvPicPr>
              <p:nvPr/>
            </p:nvPicPr>
            <p:blipFill>
              <a:blip r:embed="rId8" cstate="print"/>
              <a:stretch>
                <a:fillRect/>
              </a:stretch>
            </p:blipFill>
            <p:spPr>
              <a:xfrm>
                <a:off x="3441939" y="228467"/>
                <a:ext cx="346861" cy="352500"/>
              </a:xfrm>
              <a:prstGeom prst="rect">
                <a:avLst/>
              </a:prstGeom>
            </p:spPr>
          </p:pic>
          <p:pic>
            <p:nvPicPr>
              <p:cNvPr id="40" name="Image 39" descr="LOGO ADRAR 300dpi.jpg"/>
              <p:cNvPicPr>
                <a:picLocks noChangeAspect="1"/>
              </p:cNvPicPr>
              <p:nvPr/>
            </p:nvPicPr>
            <p:blipFill>
              <a:blip r:embed="rId9" cstate="print"/>
              <a:stretch>
                <a:fillRect/>
              </a:stretch>
            </p:blipFill>
            <p:spPr>
              <a:xfrm>
                <a:off x="51808" y="51259"/>
                <a:ext cx="432261" cy="57481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49" name="Image 48" descr="LOGO-ERN-GEN2017-1.png"/>
              <p:cNvPicPr>
                <a:picLocks noChangeAspect="1"/>
              </p:cNvPicPr>
              <p:nvPr/>
            </p:nvPicPr>
            <p:blipFill rotWithShape="1">
              <a:blip r:embed="rId10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r="19245"/>
              <a:stretch/>
            </p:blipFill>
            <p:spPr>
              <a:xfrm>
                <a:off x="6708147" y="12191"/>
                <a:ext cx="2275425" cy="669355"/>
              </a:xfrm>
              <a:prstGeom prst="rect">
                <a:avLst/>
              </a:prstGeom>
            </p:spPr>
          </p:pic>
          <p:pic>
            <p:nvPicPr>
              <p:cNvPr id="50" name="Image 49" descr="redim-06.png"/>
              <p:cNvPicPr>
                <a:picLocks noChangeAspect="1"/>
              </p:cNvPicPr>
              <p:nvPr/>
            </p:nvPicPr>
            <p:blipFill rotWithShape="1">
              <a:blip r:embed="rId11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28400" b="26267"/>
              <a:stretch/>
            </p:blipFill>
            <p:spPr>
              <a:xfrm>
                <a:off x="10739120" y="30480"/>
                <a:ext cx="1369060" cy="620641"/>
              </a:xfrm>
              <a:prstGeom prst="rect">
                <a:avLst/>
              </a:prstGeom>
            </p:spPr>
          </p:pic>
          <p:pic>
            <p:nvPicPr>
              <p:cNvPr id="51" name="Image 50"/>
              <p:cNvPicPr>
                <a:picLocks noChangeAspect="1"/>
              </p:cNvPicPr>
              <p:nvPr/>
            </p:nvPicPr>
            <p:blipFill rotWithShape="1">
              <a:blip r:embed="rId1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6802" t="22888" r="16244" b="27236"/>
              <a:stretch/>
            </p:blipFill>
            <p:spPr>
              <a:xfrm>
                <a:off x="8974241" y="-49564"/>
                <a:ext cx="1502229" cy="746449"/>
              </a:xfrm>
              <a:prstGeom prst="rect">
                <a:avLst/>
              </a:prstGeom>
            </p:spPr>
          </p:pic>
        </p:grpSp>
        <p:pic>
          <p:nvPicPr>
            <p:cNvPr id="36" name="Image 35"/>
            <p:cNvPicPr>
              <a:picLocks noChangeAspect="1"/>
            </p:cNvPicPr>
            <p:nvPr/>
          </p:nvPicPr>
          <p:blipFill rotWithShape="1"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2863" b="24898"/>
            <a:stretch/>
          </p:blipFill>
          <p:spPr>
            <a:xfrm>
              <a:off x="680899" y="90649"/>
              <a:ext cx="2612643" cy="537329"/>
            </a:xfrm>
            <a:prstGeom prst="rect">
              <a:avLst/>
            </a:prstGeom>
          </p:spPr>
        </p:pic>
      </p:grpSp>
      <p:sp>
        <p:nvSpPr>
          <p:cNvPr id="19" name="ZoneTexte 18"/>
          <p:cNvSpPr txBox="1"/>
          <p:nvPr/>
        </p:nvSpPr>
        <p:spPr>
          <a:xfrm>
            <a:off x="155643" y="1400783"/>
            <a:ext cx="114883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Voici donc notre vue est les imports nécessaire dans notre fichier jusqu’à maintenant :</a:t>
            </a:r>
            <a:endParaRPr lang="fr-FR" dirty="0"/>
          </a:p>
        </p:txBody>
      </p:sp>
      <p:pic>
        <p:nvPicPr>
          <p:cNvPr id="3" name="Image 2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62227" y="2043090"/>
            <a:ext cx="5095875" cy="1047750"/>
          </a:xfrm>
          <a:prstGeom prst="rect">
            <a:avLst/>
          </a:prstGeom>
        </p:spPr>
      </p:pic>
      <p:sp>
        <p:nvSpPr>
          <p:cNvPr id="21" name="ZoneTexte 20"/>
          <p:cNvSpPr txBox="1"/>
          <p:nvPr/>
        </p:nvSpPr>
        <p:spPr>
          <a:xfrm>
            <a:off x="5256170" y="1898519"/>
            <a:ext cx="655948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i="1" dirty="0" err="1" smtClean="0"/>
              <a:t>render</a:t>
            </a:r>
            <a:r>
              <a:rPr lang="fr-FR" i="1" dirty="0" smtClean="0"/>
              <a:t> </a:t>
            </a:r>
            <a:r>
              <a:rPr lang="fr-FR" dirty="0" smtClean="0"/>
              <a:t>et </a:t>
            </a:r>
            <a:r>
              <a:rPr lang="fr-FR" i="1" dirty="0" smtClean="0"/>
              <a:t>get_object_or_404</a:t>
            </a:r>
            <a:r>
              <a:rPr lang="fr-FR" dirty="0" smtClean="0"/>
              <a:t> sont nos raccourci de syntaxe</a:t>
            </a:r>
          </a:p>
          <a:p>
            <a:r>
              <a:rPr lang="fr-FR" i="1" dirty="0" err="1" smtClean="0"/>
              <a:t>HttpRespons</a:t>
            </a:r>
            <a:r>
              <a:rPr lang="fr-FR" dirty="0" smtClean="0"/>
              <a:t> est notre ancienne méthode utilisé sur la vue </a:t>
            </a:r>
            <a:r>
              <a:rPr lang="fr-FR" i="1" dirty="0" err="1" smtClean="0"/>
              <a:t>results</a:t>
            </a:r>
            <a:endParaRPr lang="fr-FR" dirty="0" smtClean="0"/>
          </a:p>
          <a:p>
            <a:r>
              <a:rPr lang="fr-FR" i="1" dirty="0" err="1" smtClean="0"/>
              <a:t>HttpResponseRedirect</a:t>
            </a:r>
            <a:r>
              <a:rPr lang="fr-FR" i="1" dirty="0" smtClean="0"/>
              <a:t> </a:t>
            </a:r>
            <a:r>
              <a:rPr lang="fr-FR" dirty="0" smtClean="0"/>
              <a:t>est la méthode à utiliser lors d’une redirection d’une méthode post et </a:t>
            </a:r>
            <a:r>
              <a:rPr lang="fr-FR" i="1" dirty="0" smtClean="0"/>
              <a:t>reverse</a:t>
            </a:r>
            <a:r>
              <a:rPr lang="fr-FR" dirty="0" smtClean="0"/>
              <a:t> permet de rediriger vers une page nécessitant une partie variable. </a:t>
            </a:r>
            <a:endParaRPr lang="fr-FR" i="1" dirty="0"/>
          </a:p>
        </p:txBody>
      </p:sp>
      <p:sp>
        <p:nvSpPr>
          <p:cNvPr id="24" name="ZoneTexte 23"/>
          <p:cNvSpPr txBox="1"/>
          <p:nvPr/>
        </p:nvSpPr>
        <p:spPr>
          <a:xfrm>
            <a:off x="8420402" y="3455499"/>
            <a:ext cx="3706281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Ici nous voyons l’utilisation de </a:t>
            </a:r>
            <a:r>
              <a:rPr lang="fr-FR" i="1" dirty="0" err="1" smtClean="0"/>
              <a:t>request.POST</a:t>
            </a:r>
            <a:r>
              <a:rPr lang="fr-FR" dirty="0" smtClean="0"/>
              <a:t> permettant de récupérer la valeur passé via un formulaire de type POST.</a:t>
            </a:r>
            <a:endParaRPr lang="fr-FR" dirty="0"/>
          </a:p>
          <a:p>
            <a:r>
              <a:rPr lang="fr-FR" dirty="0" smtClean="0"/>
              <a:t>Nous gérons ensuite dans le </a:t>
            </a:r>
            <a:r>
              <a:rPr lang="fr-FR" dirty="0" err="1" smtClean="0"/>
              <a:t>try</a:t>
            </a:r>
            <a:r>
              <a:rPr lang="fr-FR" dirty="0" smtClean="0"/>
              <a:t>/</a:t>
            </a:r>
            <a:r>
              <a:rPr lang="fr-FR" dirty="0" err="1" smtClean="0"/>
              <a:t>except</a:t>
            </a:r>
            <a:r>
              <a:rPr lang="fr-FR" dirty="0" smtClean="0"/>
              <a:t> le cas où l’utilisateur ne clique pas sur un choix avant de valider.</a:t>
            </a:r>
            <a:endParaRPr lang="fr-FR" dirty="0"/>
          </a:p>
          <a:p>
            <a:r>
              <a:rPr lang="fr-FR" dirty="0" smtClean="0"/>
              <a:t>Nous incrémentons la valeur du choix choisi et redirigeons l’utilisateur.</a:t>
            </a:r>
            <a:endParaRPr lang="fr-FR" dirty="0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38170" y="3517471"/>
            <a:ext cx="8239125" cy="2800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77789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/>
          <p:nvPr/>
        </p:nvSpPr>
        <p:spPr>
          <a:xfrm>
            <a:off x="0" y="675503"/>
            <a:ext cx="12198786" cy="478582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22" name="Image 2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2202" y="6540326"/>
            <a:ext cx="253968" cy="253968"/>
          </a:xfrm>
          <a:prstGeom prst="rect">
            <a:avLst/>
          </a:prstGeom>
        </p:spPr>
      </p:pic>
      <p:sp>
        <p:nvSpPr>
          <p:cNvPr id="23" name="ZoneTexte 22"/>
          <p:cNvSpPr txBox="1"/>
          <p:nvPr/>
        </p:nvSpPr>
        <p:spPr>
          <a:xfrm>
            <a:off x="5216109" y="6532276"/>
            <a:ext cx="26647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ADRAR Pôle Numérique Occitanie</a:t>
            </a:r>
            <a:endParaRPr lang="fr-FR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1" name="ZoneTexte 30"/>
          <p:cNvSpPr txBox="1"/>
          <p:nvPr/>
        </p:nvSpPr>
        <p:spPr>
          <a:xfrm>
            <a:off x="0" y="696885"/>
            <a:ext cx="12198786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600" dirty="0">
                <a:solidFill>
                  <a:schemeClr val="bg1"/>
                </a:solidFill>
              </a:rPr>
              <a:t>Suivez-nous sur </a:t>
            </a:r>
            <a:r>
              <a:rPr lang="fr-FR" sz="1600" dirty="0" err="1">
                <a:solidFill>
                  <a:schemeClr val="bg1"/>
                </a:solidFill>
              </a:rPr>
              <a:t>LinkedIn</a:t>
            </a:r>
            <a:r>
              <a:rPr lang="fr-FR" sz="1600" dirty="0">
                <a:solidFill>
                  <a:schemeClr val="bg1"/>
                </a:solidFill>
              </a:rPr>
              <a:t>             </a:t>
            </a:r>
            <a:r>
              <a:rPr lang="fr-FR" sz="1600" dirty="0" err="1">
                <a:solidFill>
                  <a:schemeClr val="bg1"/>
                </a:solidFill>
              </a:rPr>
              <a:t>Twitter</a:t>
            </a:r>
            <a:r>
              <a:rPr lang="fr-FR" sz="1600" dirty="0">
                <a:solidFill>
                  <a:schemeClr val="bg1"/>
                </a:solidFill>
              </a:rPr>
              <a:t>       </a:t>
            </a:r>
            <a:r>
              <a:rPr lang="fr-FR" sz="1900" b="1" dirty="0">
                <a:solidFill>
                  <a:schemeClr val="bg1">
                    <a:lumMod val="95000"/>
                  </a:schemeClr>
                </a:solidFill>
              </a:rPr>
              <a:t>@</a:t>
            </a:r>
            <a:r>
              <a:rPr lang="fr-FR" sz="1900" b="1" dirty="0" err="1">
                <a:solidFill>
                  <a:schemeClr val="bg1">
                    <a:lumMod val="95000"/>
                  </a:schemeClr>
                </a:solidFill>
              </a:rPr>
              <a:t>Adrar_Numerique</a:t>
            </a:r>
            <a:r>
              <a:rPr lang="fr-FR" sz="1900" dirty="0">
                <a:solidFill>
                  <a:schemeClr val="bg1">
                    <a:lumMod val="95000"/>
                  </a:schemeClr>
                </a:solidFill>
              </a:rPr>
              <a:t>	… </a:t>
            </a:r>
            <a:r>
              <a:rPr lang="fr-FR" sz="1600" dirty="0">
                <a:solidFill>
                  <a:schemeClr val="bg1"/>
                </a:solidFill>
              </a:rPr>
              <a:t>et sur le web : </a:t>
            </a:r>
            <a:r>
              <a:rPr lang="fr-FR" sz="1900" b="1" dirty="0">
                <a:solidFill>
                  <a:schemeClr val="bg1">
                    <a:lumMod val="95000"/>
                  </a:schemeClr>
                </a:solidFill>
              </a:rPr>
              <a:t>www.adrar-numerique.com</a:t>
            </a:r>
          </a:p>
        </p:txBody>
      </p:sp>
      <p:pic>
        <p:nvPicPr>
          <p:cNvPr id="32" name="Image 3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24648" y="762261"/>
            <a:ext cx="266667" cy="253968"/>
          </a:xfrm>
          <a:prstGeom prst="rect">
            <a:avLst/>
          </a:prstGeom>
        </p:spPr>
      </p:pic>
      <p:pic>
        <p:nvPicPr>
          <p:cNvPr id="33" name="Image 32" descr="logo-linkedin.png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9844" y="783165"/>
            <a:ext cx="285752" cy="285752"/>
          </a:xfrm>
          <a:prstGeom prst="rect">
            <a:avLst/>
          </a:prstGeom>
        </p:spPr>
      </p:pic>
      <p:grpSp>
        <p:nvGrpSpPr>
          <p:cNvPr id="34" name="Groupe 33"/>
          <p:cNvGrpSpPr/>
          <p:nvPr/>
        </p:nvGrpSpPr>
        <p:grpSpPr>
          <a:xfrm>
            <a:off x="70311" y="-41891"/>
            <a:ext cx="12056372" cy="746449"/>
            <a:chOff x="70311" y="-41891"/>
            <a:chExt cx="12056372" cy="746449"/>
          </a:xfrm>
        </p:grpSpPr>
        <p:grpSp>
          <p:nvGrpSpPr>
            <p:cNvPr id="35" name="Groupe 34"/>
            <p:cNvGrpSpPr/>
            <p:nvPr/>
          </p:nvGrpSpPr>
          <p:grpSpPr>
            <a:xfrm>
              <a:off x="70311" y="-41891"/>
              <a:ext cx="12056372" cy="746449"/>
              <a:chOff x="51808" y="-49564"/>
              <a:chExt cx="12056372" cy="746449"/>
            </a:xfrm>
          </p:grpSpPr>
          <p:pic>
            <p:nvPicPr>
              <p:cNvPr id="37" name="Image 36" descr="bien plus.jpg"/>
              <p:cNvPicPr>
                <a:picLocks noChangeAspect="1"/>
              </p:cNvPicPr>
              <p:nvPr/>
            </p:nvPicPr>
            <p:blipFill>
              <a:blip r:embed="rId6" cstate="print"/>
              <a:stretch>
                <a:fillRect/>
              </a:stretch>
            </p:blipFill>
            <p:spPr>
              <a:xfrm>
                <a:off x="4122599" y="228466"/>
                <a:ext cx="1289328" cy="364658"/>
              </a:xfrm>
              <a:prstGeom prst="rect">
                <a:avLst/>
              </a:prstGeom>
            </p:spPr>
          </p:pic>
          <p:pic>
            <p:nvPicPr>
              <p:cNvPr id="38" name="Image 37" descr="personnes-adrar-coul_1.jpg"/>
              <p:cNvPicPr>
                <a:picLocks noChangeAspect="1"/>
              </p:cNvPicPr>
              <p:nvPr/>
            </p:nvPicPr>
            <p:blipFill>
              <a:blip r:embed="rId7" cstate="print"/>
              <a:stretch>
                <a:fillRect/>
              </a:stretch>
            </p:blipFill>
            <p:spPr>
              <a:xfrm>
                <a:off x="5640032" y="95784"/>
                <a:ext cx="510617" cy="506565"/>
              </a:xfrm>
              <a:prstGeom prst="rect">
                <a:avLst/>
              </a:prstGeom>
            </p:spPr>
          </p:pic>
          <p:pic>
            <p:nvPicPr>
              <p:cNvPr id="39" name="Image 38" descr="personnes-adrar-coul_2.jpg"/>
              <p:cNvPicPr>
                <a:picLocks noChangeAspect="1"/>
              </p:cNvPicPr>
              <p:nvPr/>
            </p:nvPicPr>
            <p:blipFill>
              <a:blip r:embed="rId8" cstate="print"/>
              <a:stretch>
                <a:fillRect/>
              </a:stretch>
            </p:blipFill>
            <p:spPr>
              <a:xfrm>
                <a:off x="3441939" y="228467"/>
                <a:ext cx="346861" cy="352500"/>
              </a:xfrm>
              <a:prstGeom prst="rect">
                <a:avLst/>
              </a:prstGeom>
            </p:spPr>
          </p:pic>
          <p:pic>
            <p:nvPicPr>
              <p:cNvPr id="40" name="Image 39" descr="LOGO ADRAR 300dpi.jpg"/>
              <p:cNvPicPr>
                <a:picLocks noChangeAspect="1"/>
              </p:cNvPicPr>
              <p:nvPr/>
            </p:nvPicPr>
            <p:blipFill>
              <a:blip r:embed="rId9" cstate="print"/>
              <a:stretch>
                <a:fillRect/>
              </a:stretch>
            </p:blipFill>
            <p:spPr>
              <a:xfrm>
                <a:off x="51808" y="51259"/>
                <a:ext cx="432261" cy="57481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49" name="Image 48" descr="LOGO-ERN-GEN2017-1.png"/>
              <p:cNvPicPr>
                <a:picLocks noChangeAspect="1"/>
              </p:cNvPicPr>
              <p:nvPr/>
            </p:nvPicPr>
            <p:blipFill rotWithShape="1">
              <a:blip r:embed="rId10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r="19245"/>
              <a:stretch/>
            </p:blipFill>
            <p:spPr>
              <a:xfrm>
                <a:off x="6708147" y="12191"/>
                <a:ext cx="2275425" cy="669355"/>
              </a:xfrm>
              <a:prstGeom prst="rect">
                <a:avLst/>
              </a:prstGeom>
            </p:spPr>
          </p:pic>
          <p:pic>
            <p:nvPicPr>
              <p:cNvPr id="50" name="Image 49" descr="redim-06.png"/>
              <p:cNvPicPr>
                <a:picLocks noChangeAspect="1"/>
              </p:cNvPicPr>
              <p:nvPr/>
            </p:nvPicPr>
            <p:blipFill rotWithShape="1">
              <a:blip r:embed="rId11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28400" b="26267"/>
              <a:stretch/>
            </p:blipFill>
            <p:spPr>
              <a:xfrm>
                <a:off x="10739120" y="30480"/>
                <a:ext cx="1369060" cy="620641"/>
              </a:xfrm>
              <a:prstGeom prst="rect">
                <a:avLst/>
              </a:prstGeom>
            </p:spPr>
          </p:pic>
          <p:pic>
            <p:nvPicPr>
              <p:cNvPr id="51" name="Image 50"/>
              <p:cNvPicPr>
                <a:picLocks noChangeAspect="1"/>
              </p:cNvPicPr>
              <p:nvPr/>
            </p:nvPicPr>
            <p:blipFill rotWithShape="1">
              <a:blip r:embed="rId1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6802" t="22888" r="16244" b="27236"/>
              <a:stretch/>
            </p:blipFill>
            <p:spPr>
              <a:xfrm>
                <a:off x="8974241" y="-49564"/>
                <a:ext cx="1502229" cy="746449"/>
              </a:xfrm>
              <a:prstGeom prst="rect">
                <a:avLst/>
              </a:prstGeom>
            </p:spPr>
          </p:pic>
        </p:grpSp>
        <p:pic>
          <p:nvPicPr>
            <p:cNvPr id="36" name="Image 35"/>
            <p:cNvPicPr>
              <a:picLocks noChangeAspect="1"/>
            </p:cNvPicPr>
            <p:nvPr/>
          </p:nvPicPr>
          <p:blipFill rotWithShape="1"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2863" b="24898"/>
            <a:stretch/>
          </p:blipFill>
          <p:spPr>
            <a:xfrm>
              <a:off x="680899" y="90649"/>
              <a:ext cx="2612643" cy="537329"/>
            </a:xfrm>
            <a:prstGeom prst="rect">
              <a:avLst/>
            </a:prstGeom>
          </p:spPr>
        </p:pic>
      </p:grpSp>
      <p:sp>
        <p:nvSpPr>
          <p:cNvPr id="24" name="ZoneTexte 23"/>
          <p:cNvSpPr txBox="1"/>
          <p:nvPr/>
        </p:nvSpPr>
        <p:spPr>
          <a:xfrm>
            <a:off x="155643" y="1400783"/>
            <a:ext cx="114883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Voici à quoi ressemble donc notre formulaire :</a:t>
            </a:r>
            <a:endParaRPr lang="fr-FR" dirty="0"/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55643" y="1871479"/>
            <a:ext cx="8991600" cy="1657350"/>
          </a:xfrm>
          <a:prstGeom prst="rect">
            <a:avLst/>
          </a:prstGeom>
        </p:spPr>
      </p:pic>
      <p:pic>
        <p:nvPicPr>
          <p:cNvPr id="7" name="Image 6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55643" y="3897815"/>
            <a:ext cx="9001125" cy="2257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37661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/>
          <p:nvPr/>
        </p:nvSpPr>
        <p:spPr>
          <a:xfrm>
            <a:off x="0" y="675503"/>
            <a:ext cx="12198786" cy="478582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22" name="Image 2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2202" y="6540326"/>
            <a:ext cx="253968" cy="253968"/>
          </a:xfrm>
          <a:prstGeom prst="rect">
            <a:avLst/>
          </a:prstGeom>
        </p:spPr>
      </p:pic>
      <p:sp>
        <p:nvSpPr>
          <p:cNvPr id="23" name="ZoneTexte 22"/>
          <p:cNvSpPr txBox="1"/>
          <p:nvPr/>
        </p:nvSpPr>
        <p:spPr>
          <a:xfrm>
            <a:off x="5216109" y="6532276"/>
            <a:ext cx="26647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ADRAR Pôle Numérique Occitanie</a:t>
            </a:r>
            <a:endParaRPr lang="fr-FR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1" name="ZoneTexte 30"/>
          <p:cNvSpPr txBox="1"/>
          <p:nvPr/>
        </p:nvSpPr>
        <p:spPr>
          <a:xfrm>
            <a:off x="0" y="696885"/>
            <a:ext cx="12198786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600" dirty="0">
                <a:solidFill>
                  <a:schemeClr val="bg1"/>
                </a:solidFill>
              </a:rPr>
              <a:t>Suivez-nous sur </a:t>
            </a:r>
            <a:r>
              <a:rPr lang="fr-FR" sz="1600" dirty="0" err="1">
                <a:solidFill>
                  <a:schemeClr val="bg1"/>
                </a:solidFill>
              </a:rPr>
              <a:t>LinkedIn</a:t>
            </a:r>
            <a:r>
              <a:rPr lang="fr-FR" sz="1600" dirty="0">
                <a:solidFill>
                  <a:schemeClr val="bg1"/>
                </a:solidFill>
              </a:rPr>
              <a:t>             </a:t>
            </a:r>
            <a:r>
              <a:rPr lang="fr-FR" sz="1600" dirty="0" err="1">
                <a:solidFill>
                  <a:schemeClr val="bg1"/>
                </a:solidFill>
              </a:rPr>
              <a:t>Twitter</a:t>
            </a:r>
            <a:r>
              <a:rPr lang="fr-FR" sz="1600" dirty="0">
                <a:solidFill>
                  <a:schemeClr val="bg1"/>
                </a:solidFill>
              </a:rPr>
              <a:t>       </a:t>
            </a:r>
            <a:r>
              <a:rPr lang="fr-FR" sz="1900" b="1" dirty="0">
                <a:solidFill>
                  <a:schemeClr val="bg1">
                    <a:lumMod val="95000"/>
                  </a:schemeClr>
                </a:solidFill>
              </a:rPr>
              <a:t>@</a:t>
            </a:r>
            <a:r>
              <a:rPr lang="fr-FR" sz="1900" b="1" dirty="0" err="1">
                <a:solidFill>
                  <a:schemeClr val="bg1">
                    <a:lumMod val="95000"/>
                  </a:schemeClr>
                </a:solidFill>
              </a:rPr>
              <a:t>Adrar_Numerique</a:t>
            </a:r>
            <a:r>
              <a:rPr lang="fr-FR" sz="1900" dirty="0">
                <a:solidFill>
                  <a:schemeClr val="bg1">
                    <a:lumMod val="95000"/>
                  </a:schemeClr>
                </a:solidFill>
              </a:rPr>
              <a:t>	… </a:t>
            </a:r>
            <a:r>
              <a:rPr lang="fr-FR" sz="1600" dirty="0">
                <a:solidFill>
                  <a:schemeClr val="bg1"/>
                </a:solidFill>
              </a:rPr>
              <a:t>et sur le web : </a:t>
            </a:r>
            <a:r>
              <a:rPr lang="fr-FR" sz="1900" b="1" dirty="0">
                <a:solidFill>
                  <a:schemeClr val="bg1">
                    <a:lumMod val="95000"/>
                  </a:schemeClr>
                </a:solidFill>
              </a:rPr>
              <a:t>www.adrar-numerique.com</a:t>
            </a:r>
          </a:p>
        </p:txBody>
      </p:sp>
      <p:pic>
        <p:nvPicPr>
          <p:cNvPr id="32" name="Image 3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24648" y="762261"/>
            <a:ext cx="266667" cy="253968"/>
          </a:xfrm>
          <a:prstGeom prst="rect">
            <a:avLst/>
          </a:prstGeom>
        </p:spPr>
      </p:pic>
      <p:pic>
        <p:nvPicPr>
          <p:cNvPr id="33" name="Image 32" descr="logo-linkedin.png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9844" y="783165"/>
            <a:ext cx="285752" cy="285752"/>
          </a:xfrm>
          <a:prstGeom prst="rect">
            <a:avLst/>
          </a:prstGeom>
        </p:spPr>
      </p:pic>
      <p:grpSp>
        <p:nvGrpSpPr>
          <p:cNvPr id="34" name="Groupe 33"/>
          <p:cNvGrpSpPr/>
          <p:nvPr/>
        </p:nvGrpSpPr>
        <p:grpSpPr>
          <a:xfrm>
            <a:off x="70311" y="-41891"/>
            <a:ext cx="12056372" cy="746449"/>
            <a:chOff x="70311" y="-41891"/>
            <a:chExt cx="12056372" cy="746449"/>
          </a:xfrm>
        </p:grpSpPr>
        <p:grpSp>
          <p:nvGrpSpPr>
            <p:cNvPr id="35" name="Groupe 34"/>
            <p:cNvGrpSpPr/>
            <p:nvPr/>
          </p:nvGrpSpPr>
          <p:grpSpPr>
            <a:xfrm>
              <a:off x="70311" y="-41891"/>
              <a:ext cx="12056372" cy="746449"/>
              <a:chOff x="51808" y="-49564"/>
              <a:chExt cx="12056372" cy="746449"/>
            </a:xfrm>
          </p:grpSpPr>
          <p:pic>
            <p:nvPicPr>
              <p:cNvPr id="37" name="Image 36" descr="bien plus.jpg"/>
              <p:cNvPicPr>
                <a:picLocks noChangeAspect="1"/>
              </p:cNvPicPr>
              <p:nvPr/>
            </p:nvPicPr>
            <p:blipFill>
              <a:blip r:embed="rId6" cstate="print"/>
              <a:stretch>
                <a:fillRect/>
              </a:stretch>
            </p:blipFill>
            <p:spPr>
              <a:xfrm>
                <a:off x="4122599" y="228466"/>
                <a:ext cx="1289328" cy="364658"/>
              </a:xfrm>
              <a:prstGeom prst="rect">
                <a:avLst/>
              </a:prstGeom>
            </p:spPr>
          </p:pic>
          <p:pic>
            <p:nvPicPr>
              <p:cNvPr id="38" name="Image 37" descr="personnes-adrar-coul_1.jpg"/>
              <p:cNvPicPr>
                <a:picLocks noChangeAspect="1"/>
              </p:cNvPicPr>
              <p:nvPr/>
            </p:nvPicPr>
            <p:blipFill>
              <a:blip r:embed="rId7" cstate="print"/>
              <a:stretch>
                <a:fillRect/>
              </a:stretch>
            </p:blipFill>
            <p:spPr>
              <a:xfrm>
                <a:off x="5640032" y="95784"/>
                <a:ext cx="510617" cy="506565"/>
              </a:xfrm>
              <a:prstGeom prst="rect">
                <a:avLst/>
              </a:prstGeom>
            </p:spPr>
          </p:pic>
          <p:pic>
            <p:nvPicPr>
              <p:cNvPr id="39" name="Image 38" descr="personnes-adrar-coul_2.jpg"/>
              <p:cNvPicPr>
                <a:picLocks noChangeAspect="1"/>
              </p:cNvPicPr>
              <p:nvPr/>
            </p:nvPicPr>
            <p:blipFill>
              <a:blip r:embed="rId8" cstate="print"/>
              <a:stretch>
                <a:fillRect/>
              </a:stretch>
            </p:blipFill>
            <p:spPr>
              <a:xfrm>
                <a:off x="3441939" y="228467"/>
                <a:ext cx="346861" cy="352500"/>
              </a:xfrm>
              <a:prstGeom prst="rect">
                <a:avLst/>
              </a:prstGeom>
            </p:spPr>
          </p:pic>
          <p:pic>
            <p:nvPicPr>
              <p:cNvPr id="40" name="Image 39" descr="LOGO ADRAR 300dpi.jpg"/>
              <p:cNvPicPr>
                <a:picLocks noChangeAspect="1"/>
              </p:cNvPicPr>
              <p:nvPr/>
            </p:nvPicPr>
            <p:blipFill>
              <a:blip r:embed="rId9" cstate="print"/>
              <a:stretch>
                <a:fillRect/>
              </a:stretch>
            </p:blipFill>
            <p:spPr>
              <a:xfrm>
                <a:off x="51808" y="51259"/>
                <a:ext cx="432261" cy="57481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49" name="Image 48" descr="LOGO-ERN-GEN2017-1.png"/>
              <p:cNvPicPr>
                <a:picLocks noChangeAspect="1"/>
              </p:cNvPicPr>
              <p:nvPr/>
            </p:nvPicPr>
            <p:blipFill rotWithShape="1">
              <a:blip r:embed="rId10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r="19245"/>
              <a:stretch/>
            </p:blipFill>
            <p:spPr>
              <a:xfrm>
                <a:off x="6708147" y="12191"/>
                <a:ext cx="2275425" cy="669355"/>
              </a:xfrm>
              <a:prstGeom prst="rect">
                <a:avLst/>
              </a:prstGeom>
            </p:spPr>
          </p:pic>
          <p:pic>
            <p:nvPicPr>
              <p:cNvPr id="50" name="Image 49" descr="redim-06.png"/>
              <p:cNvPicPr>
                <a:picLocks noChangeAspect="1"/>
              </p:cNvPicPr>
              <p:nvPr/>
            </p:nvPicPr>
            <p:blipFill rotWithShape="1">
              <a:blip r:embed="rId11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28400" b="26267"/>
              <a:stretch/>
            </p:blipFill>
            <p:spPr>
              <a:xfrm>
                <a:off x="10739120" y="30480"/>
                <a:ext cx="1369060" cy="620641"/>
              </a:xfrm>
              <a:prstGeom prst="rect">
                <a:avLst/>
              </a:prstGeom>
            </p:spPr>
          </p:pic>
          <p:pic>
            <p:nvPicPr>
              <p:cNvPr id="51" name="Image 50"/>
              <p:cNvPicPr>
                <a:picLocks noChangeAspect="1"/>
              </p:cNvPicPr>
              <p:nvPr/>
            </p:nvPicPr>
            <p:blipFill rotWithShape="1">
              <a:blip r:embed="rId1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6802" t="22888" r="16244" b="27236"/>
              <a:stretch/>
            </p:blipFill>
            <p:spPr>
              <a:xfrm>
                <a:off x="8974241" y="-49564"/>
                <a:ext cx="1502229" cy="746449"/>
              </a:xfrm>
              <a:prstGeom prst="rect">
                <a:avLst/>
              </a:prstGeom>
            </p:spPr>
          </p:pic>
        </p:grpSp>
        <p:pic>
          <p:nvPicPr>
            <p:cNvPr id="36" name="Image 35"/>
            <p:cNvPicPr>
              <a:picLocks noChangeAspect="1"/>
            </p:cNvPicPr>
            <p:nvPr/>
          </p:nvPicPr>
          <p:blipFill rotWithShape="1"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2863" b="24898"/>
            <a:stretch/>
          </p:blipFill>
          <p:spPr>
            <a:xfrm>
              <a:off x="680899" y="90649"/>
              <a:ext cx="2612643" cy="537329"/>
            </a:xfrm>
            <a:prstGeom prst="rect">
              <a:avLst/>
            </a:prstGeom>
          </p:spPr>
        </p:pic>
      </p:grpSp>
      <p:sp>
        <p:nvSpPr>
          <p:cNvPr id="18" name="ZoneTexte 17"/>
          <p:cNvSpPr txBox="1"/>
          <p:nvPr/>
        </p:nvSpPr>
        <p:spPr>
          <a:xfrm>
            <a:off x="155643" y="1400783"/>
            <a:ext cx="114883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Gérons maintenant la page d’affichage des votes de nos sondages en redéfinissant sa vue et en créant son </a:t>
            </a:r>
            <a:r>
              <a:rPr lang="fr-FR" dirty="0" err="1" smtClean="0"/>
              <a:t>template</a:t>
            </a:r>
            <a:r>
              <a:rPr lang="fr-FR" dirty="0" smtClean="0"/>
              <a:t>:</a:t>
            </a:r>
            <a:endParaRPr lang="fr-FR" dirty="0"/>
          </a:p>
        </p:txBody>
      </p:sp>
      <p:pic>
        <p:nvPicPr>
          <p:cNvPr id="2" name="Image 1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55643" y="1947862"/>
            <a:ext cx="6296025" cy="771525"/>
          </a:xfrm>
          <a:prstGeom prst="rect">
            <a:avLst/>
          </a:prstGeom>
        </p:spPr>
      </p:pic>
      <p:pic>
        <p:nvPicPr>
          <p:cNvPr id="3" name="Image 2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55643" y="3129941"/>
            <a:ext cx="8039100" cy="2543175"/>
          </a:xfrm>
          <a:prstGeom prst="rect">
            <a:avLst/>
          </a:prstGeom>
        </p:spPr>
      </p:pic>
      <p:sp>
        <p:nvSpPr>
          <p:cNvPr id="21" name="ZoneTexte 20"/>
          <p:cNvSpPr txBox="1"/>
          <p:nvPr/>
        </p:nvSpPr>
        <p:spPr>
          <a:xfrm>
            <a:off x="8440293" y="2908205"/>
            <a:ext cx="3203716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Ici nous pouvons voir quelques chose d’intéressant : la variable </a:t>
            </a:r>
            <a:r>
              <a:rPr lang="fr-FR" i="1" dirty="0" smtClean="0"/>
              <a:t>{{ </a:t>
            </a:r>
            <a:r>
              <a:rPr lang="fr-FR" i="1" dirty="0" err="1" smtClean="0"/>
              <a:t>choice.votes|pluralize</a:t>
            </a:r>
            <a:r>
              <a:rPr lang="fr-FR" i="1" dirty="0" smtClean="0"/>
              <a:t> }}</a:t>
            </a:r>
            <a:r>
              <a:rPr lang="fr-FR" dirty="0" smtClean="0"/>
              <a:t> permettant de rajouter un ‘s’ si il y a plusieurs votes pour ce choix.</a:t>
            </a:r>
          </a:p>
          <a:p>
            <a:endParaRPr lang="fr-FR" dirty="0"/>
          </a:p>
          <a:p>
            <a:r>
              <a:rPr lang="fr-FR" dirty="0" smtClean="0"/>
              <a:t>Et nous rajoutons un liens vers la page de détail de la question pour voter à nouveau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8400322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/>
          <p:nvPr/>
        </p:nvSpPr>
        <p:spPr>
          <a:xfrm>
            <a:off x="0" y="675503"/>
            <a:ext cx="12198786" cy="478582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22" name="Image 2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2202" y="6540326"/>
            <a:ext cx="253968" cy="253968"/>
          </a:xfrm>
          <a:prstGeom prst="rect">
            <a:avLst/>
          </a:prstGeom>
        </p:spPr>
      </p:pic>
      <p:sp>
        <p:nvSpPr>
          <p:cNvPr id="23" name="ZoneTexte 22"/>
          <p:cNvSpPr txBox="1"/>
          <p:nvPr/>
        </p:nvSpPr>
        <p:spPr>
          <a:xfrm>
            <a:off x="5216109" y="6532276"/>
            <a:ext cx="26647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ADRAR Pôle Numérique Occitanie</a:t>
            </a:r>
            <a:endParaRPr lang="fr-FR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1" name="ZoneTexte 30"/>
          <p:cNvSpPr txBox="1"/>
          <p:nvPr/>
        </p:nvSpPr>
        <p:spPr>
          <a:xfrm>
            <a:off x="0" y="696885"/>
            <a:ext cx="12198786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600" dirty="0">
                <a:solidFill>
                  <a:schemeClr val="bg1"/>
                </a:solidFill>
              </a:rPr>
              <a:t>Suivez-nous sur </a:t>
            </a:r>
            <a:r>
              <a:rPr lang="fr-FR" sz="1600" dirty="0" err="1">
                <a:solidFill>
                  <a:schemeClr val="bg1"/>
                </a:solidFill>
              </a:rPr>
              <a:t>LinkedIn</a:t>
            </a:r>
            <a:r>
              <a:rPr lang="fr-FR" sz="1600" dirty="0">
                <a:solidFill>
                  <a:schemeClr val="bg1"/>
                </a:solidFill>
              </a:rPr>
              <a:t>             </a:t>
            </a:r>
            <a:r>
              <a:rPr lang="fr-FR" sz="1600" dirty="0" err="1">
                <a:solidFill>
                  <a:schemeClr val="bg1"/>
                </a:solidFill>
              </a:rPr>
              <a:t>Twitter</a:t>
            </a:r>
            <a:r>
              <a:rPr lang="fr-FR" sz="1600" dirty="0">
                <a:solidFill>
                  <a:schemeClr val="bg1"/>
                </a:solidFill>
              </a:rPr>
              <a:t>       </a:t>
            </a:r>
            <a:r>
              <a:rPr lang="fr-FR" sz="1900" b="1" dirty="0">
                <a:solidFill>
                  <a:schemeClr val="bg1">
                    <a:lumMod val="95000"/>
                  </a:schemeClr>
                </a:solidFill>
              </a:rPr>
              <a:t>@</a:t>
            </a:r>
            <a:r>
              <a:rPr lang="fr-FR" sz="1900" b="1" dirty="0" err="1">
                <a:solidFill>
                  <a:schemeClr val="bg1">
                    <a:lumMod val="95000"/>
                  </a:schemeClr>
                </a:solidFill>
              </a:rPr>
              <a:t>Adrar_Numerique</a:t>
            </a:r>
            <a:r>
              <a:rPr lang="fr-FR" sz="1900" dirty="0">
                <a:solidFill>
                  <a:schemeClr val="bg1">
                    <a:lumMod val="95000"/>
                  </a:schemeClr>
                </a:solidFill>
              </a:rPr>
              <a:t>	… </a:t>
            </a:r>
            <a:r>
              <a:rPr lang="fr-FR" sz="1600" dirty="0">
                <a:solidFill>
                  <a:schemeClr val="bg1"/>
                </a:solidFill>
              </a:rPr>
              <a:t>et sur le web : </a:t>
            </a:r>
            <a:r>
              <a:rPr lang="fr-FR" sz="1900" b="1" dirty="0">
                <a:solidFill>
                  <a:schemeClr val="bg1">
                    <a:lumMod val="95000"/>
                  </a:schemeClr>
                </a:solidFill>
              </a:rPr>
              <a:t>www.adrar-numerique.com</a:t>
            </a:r>
          </a:p>
        </p:txBody>
      </p:sp>
      <p:pic>
        <p:nvPicPr>
          <p:cNvPr id="32" name="Image 3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24648" y="762261"/>
            <a:ext cx="266667" cy="253968"/>
          </a:xfrm>
          <a:prstGeom prst="rect">
            <a:avLst/>
          </a:prstGeom>
        </p:spPr>
      </p:pic>
      <p:pic>
        <p:nvPicPr>
          <p:cNvPr id="33" name="Image 32" descr="logo-linkedin.png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9844" y="783165"/>
            <a:ext cx="285752" cy="285752"/>
          </a:xfrm>
          <a:prstGeom prst="rect">
            <a:avLst/>
          </a:prstGeom>
        </p:spPr>
      </p:pic>
      <p:grpSp>
        <p:nvGrpSpPr>
          <p:cNvPr id="34" name="Groupe 33"/>
          <p:cNvGrpSpPr/>
          <p:nvPr/>
        </p:nvGrpSpPr>
        <p:grpSpPr>
          <a:xfrm>
            <a:off x="70311" y="-41891"/>
            <a:ext cx="12056372" cy="746449"/>
            <a:chOff x="70311" y="-41891"/>
            <a:chExt cx="12056372" cy="746449"/>
          </a:xfrm>
        </p:grpSpPr>
        <p:grpSp>
          <p:nvGrpSpPr>
            <p:cNvPr id="35" name="Groupe 34"/>
            <p:cNvGrpSpPr/>
            <p:nvPr/>
          </p:nvGrpSpPr>
          <p:grpSpPr>
            <a:xfrm>
              <a:off x="70311" y="-41891"/>
              <a:ext cx="12056372" cy="746449"/>
              <a:chOff x="51808" y="-49564"/>
              <a:chExt cx="12056372" cy="746449"/>
            </a:xfrm>
          </p:grpSpPr>
          <p:pic>
            <p:nvPicPr>
              <p:cNvPr id="37" name="Image 36" descr="bien plus.jpg"/>
              <p:cNvPicPr>
                <a:picLocks noChangeAspect="1"/>
              </p:cNvPicPr>
              <p:nvPr/>
            </p:nvPicPr>
            <p:blipFill>
              <a:blip r:embed="rId6" cstate="print"/>
              <a:stretch>
                <a:fillRect/>
              </a:stretch>
            </p:blipFill>
            <p:spPr>
              <a:xfrm>
                <a:off x="4122599" y="228466"/>
                <a:ext cx="1289328" cy="364658"/>
              </a:xfrm>
              <a:prstGeom prst="rect">
                <a:avLst/>
              </a:prstGeom>
            </p:spPr>
          </p:pic>
          <p:pic>
            <p:nvPicPr>
              <p:cNvPr id="38" name="Image 37" descr="personnes-adrar-coul_1.jpg"/>
              <p:cNvPicPr>
                <a:picLocks noChangeAspect="1"/>
              </p:cNvPicPr>
              <p:nvPr/>
            </p:nvPicPr>
            <p:blipFill>
              <a:blip r:embed="rId7" cstate="print"/>
              <a:stretch>
                <a:fillRect/>
              </a:stretch>
            </p:blipFill>
            <p:spPr>
              <a:xfrm>
                <a:off x="5640032" y="95784"/>
                <a:ext cx="510617" cy="506565"/>
              </a:xfrm>
              <a:prstGeom prst="rect">
                <a:avLst/>
              </a:prstGeom>
            </p:spPr>
          </p:pic>
          <p:pic>
            <p:nvPicPr>
              <p:cNvPr id="39" name="Image 38" descr="personnes-adrar-coul_2.jpg"/>
              <p:cNvPicPr>
                <a:picLocks noChangeAspect="1"/>
              </p:cNvPicPr>
              <p:nvPr/>
            </p:nvPicPr>
            <p:blipFill>
              <a:blip r:embed="rId8" cstate="print"/>
              <a:stretch>
                <a:fillRect/>
              </a:stretch>
            </p:blipFill>
            <p:spPr>
              <a:xfrm>
                <a:off x="3441939" y="228467"/>
                <a:ext cx="346861" cy="352500"/>
              </a:xfrm>
              <a:prstGeom prst="rect">
                <a:avLst/>
              </a:prstGeom>
            </p:spPr>
          </p:pic>
          <p:pic>
            <p:nvPicPr>
              <p:cNvPr id="40" name="Image 39" descr="LOGO ADRAR 300dpi.jpg"/>
              <p:cNvPicPr>
                <a:picLocks noChangeAspect="1"/>
              </p:cNvPicPr>
              <p:nvPr/>
            </p:nvPicPr>
            <p:blipFill>
              <a:blip r:embed="rId9" cstate="print"/>
              <a:stretch>
                <a:fillRect/>
              </a:stretch>
            </p:blipFill>
            <p:spPr>
              <a:xfrm>
                <a:off x="51808" y="51259"/>
                <a:ext cx="432261" cy="57481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49" name="Image 48" descr="LOGO-ERN-GEN2017-1.png"/>
              <p:cNvPicPr>
                <a:picLocks noChangeAspect="1"/>
              </p:cNvPicPr>
              <p:nvPr/>
            </p:nvPicPr>
            <p:blipFill rotWithShape="1">
              <a:blip r:embed="rId10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r="19245"/>
              <a:stretch/>
            </p:blipFill>
            <p:spPr>
              <a:xfrm>
                <a:off x="6708147" y="12191"/>
                <a:ext cx="2275425" cy="669355"/>
              </a:xfrm>
              <a:prstGeom prst="rect">
                <a:avLst/>
              </a:prstGeom>
            </p:spPr>
          </p:pic>
          <p:pic>
            <p:nvPicPr>
              <p:cNvPr id="50" name="Image 49" descr="redim-06.png"/>
              <p:cNvPicPr>
                <a:picLocks noChangeAspect="1"/>
              </p:cNvPicPr>
              <p:nvPr/>
            </p:nvPicPr>
            <p:blipFill rotWithShape="1">
              <a:blip r:embed="rId11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28400" b="26267"/>
              <a:stretch/>
            </p:blipFill>
            <p:spPr>
              <a:xfrm>
                <a:off x="10739120" y="30480"/>
                <a:ext cx="1369060" cy="620641"/>
              </a:xfrm>
              <a:prstGeom prst="rect">
                <a:avLst/>
              </a:prstGeom>
            </p:spPr>
          </p:pic>
          <p:pic>
            <p:nvPicPr>
              <p:cNvPr id="51" name="Image 50"/>
              <p:cNvPicPr>
                <a:picLocks noChangeAspect="1"/>
              </p:cNvPicPr>
              <p:nvPr/>
            </p:nvPicPr>
            <p:blipFill rotWithShape="1">
              <a:blip r:embed="rId1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6802" t="22888" r="16244" b="27236"/>
              <a:stretch/>
            </p:blipFill>
            <p:spPr>
              <a:xfrm>
                <a:off x="8974241" y="-49564"/>
                <a:ext cx="1502229" cy="746449"/>
              </a:xfrm>
              <a:prstGeom prst="rect">
                <a:avLst/>
              </a:prstGeom>
            </p:spPr>
          </p:pic>
        </p:grpSp>
        <p:pic>
          <p:nvPicPr>
            <p:cNvPr id="36" name="Image 35"/>
            <p:cNvPicPr>
              <a:picLocks noChangeAspect="1"/>
            </p:cNvPicPr>
            <p:nvPr/>
          </p:nvPicPr>
          <p:blipFill rotWithShape="1"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2863" b="24898"/>
            <a:stretch/>
          </p:blipFill>
          <p:spPr>
            <a:xfrm>
              <a:off x="680899" y="90649"/>
              <a:ext cx="2612643" cy="537329"/>
            </a:xfrm>
            <a:prstGeom prst="rect">
              <a:avLst/>
            </a:prstGeom>
          </p:spPr>
        </p:pic>
      </p:grpSp>
      <p:sp>
        <p:nvSpPr>
          <p:cNvPr id="18" name="ZoneTexte 17"/>
          <p:cNvSpPr txBox="1"/>
          <p:nvPr/>
        </p:nvSpPr>
        <p:spPr>
          <a:xfrm>
            <a:off x="3057964" y="1983962"/>
            <a:ext cx="57117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Et voila à quoi ressemble notre pages de résultats de votes</a:t>
            </a:r>
            <a:endParaRPr lang="fr-FR" dirty="0"/>
          </a:p>
        </p:txBody>
      </p:sp>
      <p:pic>
        <p:nvPicPr>
          <p:cNvPr id="2" name="Image 1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846668" y="2818160"/>
            <a:ext cx="8134350" cy="1590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27784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4813</TotalTime>
  <Words>449</Words>
  <Application>Microsoft Office PowerPoint</Application>
  <PresentationFormat>Grand écran</PresentationFormat>
  <Paragraphs>41</Paragraphs>
  <Slides>8</Slides>
  <Notes>8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chretienne jerome</dc:creator>
  <cp:lastModifiedBy>Maxime PRZYBYLO</cp:lastModifiedBy>
  <cp:revision>335</cp:revision>
  <dcterms:created xsi:type="dcterms:W3CDTF">2016-05-20T16:12:03Z</dcterms:created>
  <dcterms:modified xsi:type="dcterms:W3CDTF">2022-03-13T16:54:14Z</dcterms:modified>
</cp:coreProperties>
</file>